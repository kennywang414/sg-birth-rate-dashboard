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rchivo Black" charset="1" panose="020B0A03020202020B04"/>
      <p:regular r:id="rId31"/>
    </p:embeddedFont>
    <p:embeddedFont>
      <p:font typeface="Garet Bold" charset="1" panose="00000000000000000000"/>
      <p:regular r:id="rId32"/>
    </p:embeddedFont>
    <p:embeddedFont>
      <p:font typeface="IBM Plex Sans Bold" charset="1" panose="020B0803050203000203"/>
      <p:regular r:id="rId36"/>
    </p:embeddedFont>
    <p:embeddedFont>
      <p:font typeface="IBM Plex Sans" charset="1" panose="020B0503050203000203"/>
      <p:regular r:id="rId37"/>
    </p:embeddedFont>
    <p:embeddedFont>
      <p:font typeface="Source Serif Pro Bold" charset="1" panose="02040803050405020204"/>
      <p:regular r:id="rId39"/>
    </p:embeddedFont>
    <p:embeddedFont>
      <p:font typeface="Arial Bold" charset="1" panose="020B0704020202020204"/>
      <p:regular r:id="rId41"/>
    </p:embeddedFont>
    <p:embeddedFont>
      <p:font typeface="Arial" charset="1" panose="020B0604020202020204"/>
      <p:regular r:id="rId42"/>
    </p:embeddedFont>
    <p:embeddedFont>
      <p:font typeface="Aptos Bold" charset="1" panose="020B0004020202020204"/>
      <p:regular r:id="rId47"/>
    </p:embeddedFont>
    <p:embeddedFont>
      <p:font typeface="Aptos" charset="1" panose="020B0004020202020204"/>
      <p:regular r:id="rId48"/>
    </p:embeddedFont>
    <p:embeddedFont>
      <p:font typeface="DejaVu Sans Bold" charset="1" panose="020B0803030604020204"/>
      <p:regular r:id="rId49"/>
    </p:embeddedFont>
    <p:embeddedFont>
      <p:font typeface="DejaVu Serif Bold" charset="1" panose="02060803050605020204"/>
      <p:regular r:id="rId52"/>
    </p:embeddedFont>
    <p:embeddedFont>
      <p:font typeface="DejaVu Sans Light" charset="1" panose="020B0603030804020204"/>
      <p:regular r:id="rId53"/>
    </p:embeddedFont>
    <p:embeddedFont>
      <p:font typeface="Georgia Bold" charset="1" panose="02040802050405020203"/>
      <p:regular r:id="rId55"/>
    </p:embeddedFont>
    <p:embeddedFont>
      <p:font typeface="Aptos Italics" charset="1" panose="020B0004020202090204"/>
      <p:regular r:id="rId58"/>
    </p:embeddedFont>
    <p:embeddedFont>
      <p:font typeface="Georgia" charset="1" panose="02040502050405020303"/>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8.xml" Type="http://schemas.openxmlformats.org/officeDocument/2006/relationships/notesSlide"/><Relationship Id="rId51" Target="notesSlides/notesSlide9.xml" Type="http://schemas.openxmlformats.org/officeDocument/2006/relationships/notesSlide"/><Relationship Id="rId52" Target="fonts/font52.fntdata" Type="http://schemas.openxmlformats.org/officeDocument/2006/relationships/font"/><Relationship Id="rId53" Target="fonts/font53.fntdata" Type="http://schemas.openxmlformats.org/officeDocument/2006/relationships/font"/><Relationship Id="rId54" Target="notesSlides/notesSlide10.xml" Type="http://schemas.openxmlformats.org/officeDocument/2006/relationships/notesSlide"/><Relationship Id="rId55" Target="fonts/font55.fntdata" Type="http://schemas.openxmlformats.org/officeDocument/2006/relationships/font"/><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fonts/font58.fntdata" Type="http://schemas.openxmlformats.org/officeDocument/2006/relationships/font"/><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Overall, we show that Singapore’s fertility rate declined while several costs increased. We will introduce 5 factors.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have a question:</a:t>
            </a:r>
          </a:p>
          <a:p>
            <a:r>
              <a:rPr lang="en-US"/>
              <a:t>To answer this question, let me move to the next 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healthcare price increases were different across categories. Inpatient and other health services rose most over time, while medicines changed less.</a:t>
            </a:r>
          </a:p>
          <a:p>
            <a:r>
              <a:rPr lang="en-US"/>
              <a:t>The boxplot adds another insight: insurance had a sharp annual increase, while outpatient prices sometimes fell. Families may face uncertainty about future medical expenses as well as higher costs.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spending charts show that healthcare took up a larger share of household budgets. Government healthcare spending per person also increased. But the willing of helping is limited.So,we think this spending can not addresses the costs of having children.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higher healthcare prices were associated with lower fertility. But the relationship almost disappeared when we compared annual changes.My  main point is that rising medical costs may increase the expense of having children.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 rising housing prices help explain Singapore’s falling fertility rate?</a:t>
            </a:r>
          </a:p>
          <a:p>
            <a:r>
              <a:rPr lang="en-US"/>
              <a:t/>
            </a:r>
          </a:p>
          <a:p>
            <a:r>
              <a:rPr lang="en-US"/>
              <a:t>I’ll be comparing HDB resale and private housing prices with total fertility, using data from 2010 to 2025.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From 2010 to 2025, HDB resale prices increased by about 71%, condo prices by 59%, and landed prices by 72%.</a:t>
            </a:r>
          </a:p>
          <a:p>
            <a:r>
              <a:rPr lang="en-US"/>
              <a:t/>
            </a:r>
          </a:p>
          <a:p>
            <a:r>
              <a:rPr lang="en-US"/>
              <a:t>Across all three housing types, higher-price years generally coincided with lower fertility. The strongest correlation was for condos, at negative 0.90.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a:t>
            </a:r>
          </a:p>
          <a:p>
            <a:r>
              <a:rPr lang="en-US"/>
              <a:t/>
            </a:r>
          </a:p>
          <a:p>
            <a:r>
              <a:rPr lang="en-US"/>
              <a:t>For HDB, the same-year correlation weakened to negative 0.15, with a p-value of 0.60.</a:t>
            </a:r>
          </a:p>
          <a:p>
            <a:r>
              <a:rPr lang="en-US"/>
              <a:t/>
            </a:r>
          </a:p>
          <a:p>
            <a:r>
              <a:rPr lang="en-US"/>
              <a:t>Across all housing types, every yearly-change comparison had a p-value above 0.05, including the delayed comparisons.</a:t>
            </a:r>
          </a:p>
          <a:p>
            <a:r>
              <a:rPr lang="en-US"/>
              <a:t/>
            </a:r>
          </a:p>
          <a:p>
            <a:r>
              <a:rPr lang="en-US"/>
              <a:t>Income and marriage timing should also be considered.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a:r>
          </a:p>
          <a:p>
            <a:r>
              <a:rPr lang="en-US"/>
              <a:t>The main finding is that housing prices rose while fertility fell. However, the relationship becomes much weaker when we compare yearly changes.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OK Then I'll focus on whether the timing of marriage and family formation is associated with Singapore’s declining total fertility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first two charts show a clear postponement of family formation.</a:t>
            </a:r>
          </a:p>
          <a:p>
            <a:r>
              <a:rPr lang="en-US"/>
              <a:t/>
            </a:r>
          </a:p>
          <a:p>
            <a:r>
              <a:rPr lang="en-US"/>
              <a:t>Marriage rates among younger women have generally declined, while the peak marriage-rate group shifted from 25–29 to 30–34. From 2018 onwards, women aged 30–34 consistently became the peak group.</a:t>
            </a:r>
          </a:p>
          <a:p>
            <a:r>
              <a:rPr lang="en-US"/>
              <a:t/>
            </a:r>
          </a:p>
          <a:p>
            <a:r>
              <a:rPr lang="en-US"/>
              <a:t>At the same time, median age at first birth increased from 30.1 to 32.2 years, while TFR fell from 1.15 to 0.87.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capture this change more directly, we created a later-marriage shift index by dividing the marriage rate for women aged 30–34 by that for women aged 25–29.</a:t>
            </a:r>
          </a:p>
          <a:p>
            <a:r>
              <a:rPr lang="en-US"/>
              <a:t/>
            </a:r>
          </a:p>
          <a:p>
            <a:r>
              <a:rPr lang="en-US"/>
              <a:t>The index increased from 0.82 to 1.17 between 2010 and 2025. Across the full period, it shows a significant negative correlation with TFR, with an r of minus 0.75 and a p-value below 0.001.</a:t>
            </a:r>
          </a:p>
          <a:p>
            <a:r>
              <a:rPr lang="en-US"/>
              <a:t/>
            </a:r>
          </a:p>
          <a:p>
            <a:r>
              <a:rPr lang="en-US"/>
              <a:t>The relationship is also much clearer after 2018, where the correlation reaches minus 0.79.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Overall, the marriage factor appears to matter mainly through timing. As marriage shifts toward older ages and first birth is delayed, TFR tends to be lower.</a:t>
            </a:r>
          </a:p>
          <a:p>
            <a:r>
              <a:rPr lang="en-US"/>
              <a:t/>
            </a:r>
          </a:p>
          <a:p>
            <a:r>
              <a:rPr lang="en-US"/>
              <a:t>However, the analysis remains correlational, so these results indicate a long-term association rather than a direct causal effect.</a:t>
            </a:r>
          </a:p>
          <a:p>
            <a:r>
              <a:rPr lang="en-US"/>
              <a:t>Next, lets move on to the analysis about education and fertility.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I'm Huang Yixuan, and I'll cover the education factor. My question is whether rising education costs help explain Singapore's falling birth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From 2010 to 2025, tuition prices rose 70%, much faster than general education at 38% and textbooks at 15%. Over the same period TFR fell 24%, so raising a child, especially paying for tuition, became more expensive as fertility declined.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2020, enhanced preschool subsidies lowered fees for more families, so general education prices fell 2%. But in 2023 and 2024 tuition jumped 6.5% and 5.7%, driven partly by the GST increases to 8% and 9% and by post-COVID inflation.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Government support also grew, with spending per pupil more than doubling and the total education budget rising 53%. However, this money goes to schools, so families still pay the rising cost of private tuition themselves.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three education prices are negatively correlated with TFR, and all are statistically significant. Tuition shows the strongest link at −0.89, followed by general education at −0.71 and textbooks at −0.70.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summarises the level correlations between TFR and every factor across our five categories, where orange means the factor rose while TFR fell and green means it fell together with TFR. Almost every factor is strongly correlated with TFR, at around 0.7 to 0.9, but these are correlations, not proof of cause, thank you.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6.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6.jpeg" Type="http://schemas.openxmlformats.org/officeDocument/2006/relationships/image"/><Relationship Id="rId4"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16.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885470" y="5821343"/>
            <a:ext cx="9373830" cy="1417109"/>
          </a:xfrm>
          <a:prstGeom prst="rect">
            <a:avLst/>
          </a:prstGeom>
        </p:spPr>
        <p:txBody>
          <a:bodyPr anchor="t" rtlCol="false" tIns="0" lIns="0" bIns="0" rIns="0">
            <a:spAutoFit/>
          </a:bodyPr>
          <a:lstStyle/>
          <a:p>
            <a:pPr algn="r">
              <a:lnSpc>
                <a:spcPts val="2748"/>
              </a:lnSpc>
            </a:pPr>
            <a:r>
              <a:rPr lang="en-US" sz="2748" spc="-217">
                <a:solidFill>
                  <a:srgbClr val="000000"/>
                </a:solidFill>
                <a:latin typeface="Archivo Black"/>
                <a:ea typeface="Archivo Black"/>
                <a:cs typeface="Archivo Black"/>
                <a:sym typeface="Archivo Black"/>
              </a:rPr>
              <a:t>Exploring Potential Factors through Dashboard</a:t>
            </a:r>
          </a:p>
          <a:p>
            <a:pPr algn="r">
              <a:lnSpc>
                <a:spcPts val="2748"/>
              </a:lnSpc>
            </a:pPr>
          </a:p>
          <a:p>
            <a:pPr algn="r">
              <a:lnSpc>
                <a:spcPts val="2748"/>
              </a:lnSpc>
            </a:pPr>
            <a:r>
              <a:rPr lang="en-US" sz="2748" spc="-217">
                <a:solidFill>
                  <a:srgbClr val="000000"/>
                </a:solidFill>
                <a:latin typeface="Archivo Black"/>
                <a:ea typeface="Archivo Black"/>
                <a:cs typeface="Archivo Black"/>
                <a:sym typeface="Archivo Black"/>
              </a:rPr>
              <a:t>Group 8</a:t>
            </a:r>
          </a:p>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 </a:t>
            </a:r>
          </a:p>
        </p:txBody>
      </p:sp>
      <p:sp>
        <p:nvSpPr>
          <p:cNvPr name="TextBox 4" id="4"/>
          <p:cNvSpPr txBox="true"/>
          <p:nvPr/>
        </p:nvSpPr>
        <p:spPr>
          <a:xfrm rot="0">
            <a:off x="1028700"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PRESENTED BY</a:t>
            </a:r>
          </a:p>
        </p:txBody>
      </p:sp>
      <p:sp>
        <p:nvSpPr>
          <p:cNvPr name="TextBox 5" id="5"/>
          <p:cNvSpPr txBox="true"/>
          <p:nvPr/>
        </p:nvSpPr>
        <p:spPr>
          <a:xfrm rot="0">
            <a:off x="1028700" y="8966251"/>
            <a:ext cx="9470288" cy="494030"/>
          </a:xfrm>
          <a:prstGeom prst="rect">
            <a:avLst/>
          </a:prstGeom>
        </p:spPr>
        <p:txBody>
          <a:bodyPr anchor="t" rtlCol="false" tIns="0" lIns="0" bIns="0" rIns="0">
            <a:spAutoFit/>
          </a:bodyPr>
          <a:lstStyle/>
          <a:p>
            <a:pPr algn="l">
              <a:lnSpc>
                <a:spcPts val="2079"/>
              </a:lnSpc>
            </a:pPr>
            <a:r>
              <a:rPr lang="en-US" sz="1599" b="true">
                <a:solidFill>
                  <a:srgbClr val="2B2B2B"/>
                </a:solidFill>
                <a:latin typeface="Garet Bold"/>
                <a:ea typeface="Garet Bold"/>
                <a:cs typeface="Garet Bold"/>
                <a:sym typeface="Garet Bold"/>
              </a:rPr>
              <a:t>Wang Gaoyang, Huang Yixuan, Zhou Dianfeng, Tang Tongtong, Angelica Wu</a:t>
            </a:r>
          </a:p>
          <a:p>
            <a:pPr algn="l" marL="0" indent="0" lvl="0">
              <a:lnSpc>
                <a:spcPts val="2079"/>
              </a:lnSpc>
              <a:spcBef>
                <a:spcPct val="0"/>
              </a:spcBef>
            </a:pPr>
          </a:p>
        </p:txBody>
      </p:sp>
      <p:sp>
        <p:nvSpPr>
          <p:cNvPr name="TextBox 6" id="6"/>
          <p:cNvSpPr txBox="true"/>
          <p:nvPr/>
        </p:nvSpPr>
        <p:spPr>
          <a:xfrm rot="0">
            <a:off x="6485854" y="3874433"/>
            <a:ext cx="10773446" cy="1899285"/>
          </a:xfrm>
          <a:prstGeom prst="rect">
            <a:avLst/>
          </a:prstGeom>
        </p:spPr>
        <p:txBody>
          <a:bodyPr anchor="t" rtlCol="false" tIns="0" lIns="0" bIns="0" rIns="0">
            <a:spAutoFit/>
          </a:bodyPr>
          <a:lstStyle/>
          <a:p>
            <a:pPr algn="r">
              <a:lnSpc>
                <a:spcPts val="7020"/>
              </a:lnSpc>
            </a:pPr>
            <a:r>
              <a:rPr lang="en-US" sz="9000" spc="-711">
                <a:solidFill>
                  <a:srgbClr val="000000"/>
                </a:solidFill>
                <a:latin typeface="Archivo Black"/>
                <a:ea typeface="Archivo Black"/>
                <a:cs typeface="Archivo Black"/>
                <a:sym typeface="Archivo Black"/>
              </a:rPr>
              <a:t>SINGAPORE ’S</a:t>
            </a:r>
          </a:p>
          <a:p>
            <a:pPr algn="r" marL="0" indent="0" lvl="0">
              <a:lnSpc>
                <a:spcPts val="7020"/>
              </a:lnSpc>
              <a:spcBef>
                <a:spcPct val="0"/>
              </a:spcBef>
            </a:pPr>
            <a:r>
              <a:rPr lang="en-US" sz="9000" spc="-711">
                <a:solidFill>
                  <a:srgbClr val="000000"/>
                </a:solidFill>
                <a:latin typeface="Archivo Black"/>
                <a:ea typeface="Archivo Black"/>
                <a:cs typeface="Archivo Black"/>
                <a:sym typeface="Archivo Black"/>
              </a:rPr>
              <a:t>BIRTH RATE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0E6"/>
        </a:solidFill>
      </p:bgPr>
    </p:bg>
    <p:spTree>
      <p:nvGrpSpPr>
        <p:cNvPr id="1" name=""/>
        <p:cNvGrpSpPr/>
        <p:nvPr/>
      </p:nvGrpSpPr>
      <p:grpSpPr>
        <a:xfrm>
          <a:off x="0" y="0"/>
          <a:ext cx="0" cy="0"/>
          <a:chOff x="0" y="0"/>
          <a:chExt cx="0" cy="0"/>
        </a:xfrm>
      </p:grpSpPr>
      <p:sp>
        <p:nvSpPr>
          <p:cNvPr name="TextBox 2" id="2"/>
          <p:cNvSpPr txBox="true"/>
          <p:nvPr/>
        </p:nvSpPr>
        <p:spPr>
          <a:xfrm rot="0">
            <a:off x="762000" y="666750"/>
            <a:ext cx="17266920" cy="647700"/>
          </a:xfrm>
          <a:prstGeom prst="rect">
            <a:avLst/>
          </a:prstGeom>
        </p:spPr>
        <p:txBody>
          <a:bodyPr anchor="t" rtlCol="false" tIns="0" lIns="0" bIns="0" rIns="0">
            <a:spAutoFit/>
          </a:bodyPr>
          <a:lstStyle/>
          <a:p>
            <a:pPr algn="l">
              <a:lnSpc>
                <a:spcPts val="5280"/>
              </a:lnSpc>
            </a:pPr>
            <a:r>
              <a:rPr lang="en-US" sz="4800" b="true">
                <a:solidFill>
                  <a:srgbClr val="1D2A36"/>
                </a:solidFill>
                <a:latin typeface="IBM Plex Sans Bold"/>
                <a:ea typeface="IBM Plex Sans Bold"/>
                <a:cs typeface="IBM Plex Sans Bold"/>
                <a:sym typeface="IBM Plex Sans Bold"/>
              </a:rPr>
              <a:t>15 Years Fertility Rate Overview (2010–2025)</a:t>
            </a:r>
          </a:p>
        </p:txBody>
      </p:sp>
      <p:grpSp>
        <p:nvGrpSpPr>
          <p:cNvPr name="Group 3" id="3"/>
          <p:cNvGrpSpPr/>
          <p:nvPr/>
        </p:nvGrpSpPr>
        <p:grpSpPr>
          <a:xfrm rot="0">
            <a:off x="762000" y="1657350"/>
            <a:ext cx="9525000" cy="5753100"/>
            <a:chOff x="0" y="0"/>
            <a:chExt cx="12700000" cy="7670800"/>
          </a:xfrm>
        </p:grpSpPr>
        <p:sp>
          <p:nvSpPr>
            <p:cNvPr name="Freeform 4" id="4"/>
            <p:cNvSpPr/>
            <p:nvPr/>
          </p:nvSpPr>
          <p:spPr>
            <a:xfrm flipH="false" flipV="false" rot="0">
              <a:off x="0" y="0"/>
              <a:ext cx="12700000" cy="7670800"/>
            </a:xfrm>
            <a:custGeom>
              <a:avLst/>
              <a:gdLst/>
              <a:ahLst/>
              <a:cxnLst/>
              <a:rect r="r" b="b" t="t" l="l"/>
              <a:pathLst>
                <a:path h="7670800" w="12700000">
                  <a:moveTo>
                    <a:pt x="0" y="177800"/>
                  </a:moveTo>
                  <a:cubicBezTo>
                    <a:pt x="0" y="79629"/>
                    <a:pt x="79629" y="0"/>
                    <a:pt x="177800" y="0"/>
                  </a:cubicBezTo>
                  <a:lnTo>
                    <a:pt x="12522200" y="0"/>
                  </a:lnTo>
                  <a:cubicBezTo>
                    <a:pt x="12620371" y="0"/>
                    <a:pt x="12700000" y="79629"/>
                    <a:pt x="12700000" y="177800"/>
                  </a:cubicBezTo>
                  <a:lnTo>
                    <a:pt x="12700000" y="7493000"/>
                  </a:lnTo>
                  <a:cubicBezTo>
                    <a:pt x="12700000" y="7591171"/>
                    <a:pt x="12620371" y="7670800"/>
                    <a:pt x="12522200" y="7670800"/>
                  </a:cubicBezTo>
                  <a:lnTo>
                    <a:pt x="177800" y="7670800"/>
                  </a:lnTo>
                  <a:cubicBezTo>
                    <a:pt x="79629" y="7670800"/>
                    <a:pt x="0" y="7591171"/>
                    <a:pt x="0" y="7493000"/>
                  </a:cubicBezTo>
                  <a:close/>
                </a:path>
              </a:pathLst>
            </a:custGeom>
            <a:solidFill>
              <a:srgbClr val="FFFFFF"/>
            </a:solidFill>
          </p:spPr>
        </p:sp>
      </p:grpSp>
      <p:sp>
        <p:nvSpPr>
          <p:cNvPr name="TextBox 5" id="5"/>
          <p:cNvSpPr txBox="true"/>
          <p:nvPr/>
        </p:nvSpPr>
        <p:spPr>
          <a:xfrm rot="0">
            <a:off x="990600" y="1809750"/>
            <a:ext cx="9339834" cy="419100"/>
          </a:xfrm>
          <a:prstGeom prst="rect">
            <a:avLst/>
          </a:prstGeom>
        </p:spPr>
        <p:txBody>
          <a:bodyPr anchor="t" rtlCol="false" tIns="0" lIns="0" bIns="0" rIns="0">
            <a:spAutoFit/>
          </a:bodyPr>
          <a:lstStyle/>
          <a:p>
            <a:pPr algn="l">
              <a:lnSpc>
                <a:spcPts val="2729"/>
              </a:lnSpc>
            </a:pPr>
            <a:r>
              <a:rPr lang="en-US" sz="1950" b="true">
                <a:solidFill>
                  <a:srgbClr val="1D2A36"/>
                </a:solidFill>
                <a:latin typeface="IBM Plex Sans Bold"/>
                <a:ea typeface="IBM Plex Sans Bold"/>
                <a:cs typeface="IBM Plex Sans Bold"/>
                <a:sym typeface="IBM Plex Sans Bold"/>
              </a:rPr>
              <a:t>Total fertility rate (TFR)</a:t>
            </a:r>
          </a:p>
        </p:txBody>
      </p:sp>
      <p:grpSp>
        <p:nvGrpSpPr>
          <p:cNvPr name="Group 6" id="6"/>
          <p:cNvGrpSpPr/>
          <p:nvPr/>
        </p:nvGrpSpPr>
        <p:grpSpPr>
          <a:xfrm rot="0">
            <a:off x="990600" y="2266950"/>
            <a:ext cx="9067800" cy="4953000"/>
            <a:chOff x="0" y="0"/>
            <a:chExt cx="12090400" cy="6604000"/>
          </a:xfrm>
        </p:grpSpPr>
        <p:sp>
          <p:nvSpPr>
            <p:cNvPr name="Freeform 7" id="7" descr="Singapore total fertility rate 2010 to 2025, falling from 1.15 to 0.87, far below the replacement level of 2.1"/>
            <p:cNvSpPr/>
            <p:nvPr/>
          </p:nvSpPr>
          <p:spPr>
            <a:xfrm flipH="false" flipV="false" rot="0">
              <a:off x="0" y="0"/>
              <a:ext cx="12090400" cy="6604000"/>
            </a:xfrm>
            <a:custGeom>
              <a:avLst/>
              <a:gdLst/>
              <a:ahLst/>
              <a:cxnLst/>
              <a:rect r="r" b="b" t="t" l="l"/>
              <a:pathLst>
                <a:path h="6604000" w="12090400">
                  <a:moveTo>
                    <a:pt x="0" y="0"/>
                  </a:moveTo>
                  <a:lnTo>
                    <a:pt x="12090400" y="0"/>
                  </a:lnTo>
                  <a:lnTo>
                    <a:pt x="12090400" y="6604000"/>
                  </a:lnTo>
                  <a:lnTo>
                    <a:pt x="0" y="6604000"/>
                  </a:lnTo>
                  <a:lnTo>
                    <a:pt x="0" y="0"/>
                  </a:lnTo>
                  <a:close/>
                </a:path>
              </a:pathLst>
            </a:custGeom>
            <a:blipFill>
              <a:blip r:embed="rId3"/>
              <a:stretch>
                <a:fillRect l="1230" t="0" r="1230" b="0"/>
              </a:stretch>
            </a:blipFill>
          </p:spPr>
        </p:sp>
      </p:grpSp>
      <p:sp>
        <p:nvSpPr>
          <p:cNvPr name="TextBox 8" id="8"/>
          <p:cNvSpPr txBox="true"/>
          <p:nvPr/>
        </p:nvSpPr>
        <p:spPr>
          <a:xfrm rot="0">
            <a:off x="762000" y="7677150"/>
            <a:ext cx="9810750" cy="495300"/>
          </a:xfrm>
          <a:prstGeom prst="rect">
            <a:avLst/>
          </a:prstGeom>
        </p:spPr>
        <p:txBody>
          <a:bodyPr anchor="t" rtlCol="false" tIns="0" lIns="0" bIns="0" rIns="0">
            <a:spAutoFit/>
          </a:bodyPr>
          <a:lstStyle/>
          <a:p>
            <a:pPr algn="l">
              <a:lnSpc>
                <a:spcPts val="3600"/>
              </a:lnSpc>
            </a:pPr>
            <a:r>
              <a:rPr lang="en-US" sz="3000" b="true">
                <a:solidFill>
                  <a:srgbClr val="1D2A36"/>
                </a:solidFill>
                <a:latin typeface="IBM Plex Sans Bold"/>
                <a:ea typeface="IBM Plex Sans Bold"/>
                <a:cs typeface="IBM Plex Sans Bold"/>
                <a:sym typeface="IBM Plex Sans Bold"/>
              </a:rPr>
              <a:t>TFR generally declined</a:t>
            </a:r>
          </a:p>
        </p:txBody>
      </p:sp>
      <p:sp>
        <p:nvSpPr>
          <p:cNvPr name="TextBox 9" id="9"/>
          <p:cNvSpPr txBox="true"/>
          <p:nvPr/>
        </p:nvSpPr>
        <p:spPr>
          <a:xfrm rot="0">
            <a:off x="762000" y="8162925"/>
            <a:ext cx="9810750" cy="828675"/>
          </a:xfrm>
          <a:prstGeom prst="rect">
            <a:avLst/>
          </a:prstGeom>
        </p:spPr>
        <p:txBody>
          <a:bodyPr anchor="t" rtlCol="false" tIns="0" lIns="0" bIns="0" rIns="0">
            <a:spAutoFit/>
          </a:bodyPr>
          <a:lstStyle/>
          <a:p>
            <a:pPr algn="l">
              <a:lnSpc>
                <a:spcPts val="2940"/>
              </a:lnSpc>
            </a:pPr>
            <a:r>
              <a:rPr lang="en-US" sz="2100">
                <a:solidFill>
                  <a:srgbClr val="4A5560"/>
                </a:solidFill>
                <a:latin typeface="IBM Plex Sans"/>
                <a:ea typeface="IBM Plex Sans"/>
                <a:cs typeface="IBM Plex Sans"/>
                <a:sym typeface="IBM Plex Sans"/>
              </a:rPr>
              <a:t>2010 → 2025: 1.15 → 0.87 (−24%), far below the replacement level of 2.1 — the level at which a population replaces itself from one generation to the next.</a:t>
            </a:r>
          </a:p>
        </p:txBody>
      </p:sp>
      <p:sp>
        <p:nvSpPr>
          <p:cNvPr name="TextBox 10" id="10"/>
          <p:cNvSpPr txBox="true"/>
          <p:nvPr/>
        </p:nvSpPr>
        <p:spPr>
          <a:xfrm rot="0">
            <a:off x="10972800" y="1609725"/>
            <a:ext cx="6749796" cy="457200"/>
          </a:xfrm>
          <a:prstGeom prst="rect">
            <a:avLst/>
          </a:prstGeom>
        </p:spPr>
        <p:txBody>
          <a:bodyPr anchor="t" rtlCol="false" tIns="0" lIns="0" bIns="0" rIns="0">
            <a:spAutoFit/>
          </a:bodyPr>
          <a:lstStyle/>
          <a:p>
            <a:pPr algn="l">
              <a:lnSpc>
                <a:spcPts val="2940"/>
              </a:lnSpc>
            </a:pPr>
            <a:r>
              <a:rPr lang="en-US" b="true" sz="2100" spc="225">
                <a:solidFill>
                  <a:srgbClr val="C2522A"/>
                </a:solidFill>
                <a:latin typeface="IBM Plex Sans Bold"/>
                <a:ea typeface="IBM Plex Sans Bold"/>
                <a:cs typeface="IBM Plex Sans Bold"/>
                <a:sym typeface="IBM Plex Sans Bold"/>
              </a:rPr>
              <a:t>FACTORS EXPLORED</a:t>
            </a:r>
          </a:p>
        </p:txBody>
      </p:sp>
      <p:grpSp>
        <p:nvGrpSpPr>
          <p:cNvPr name="Group 11" id="11"/>
          <p:cNvGrpSpPr/>
          <p:nvPr/>
        </p:nvGrpSpPr>
        <p:grpSpPr>
          <a:xfrm rot="0">
            <a:off x="10972800" y="2257425"/>
            <a:ext cx="6553200" cy="1076325"/>
            <a:chOff x="0" y="0"/>
            <a:chExt cx="8737600" cy="1435100"/>
          </a:xfrm>
        </p:grpSpPr>
        <p:sp>
          <p:nvSpPr>
            <p:cNvPr name="Freeform 12" id="12"/>
            <p:cNvSpPr/>
            <p:nvPr/>
          </p:nvSpPr>
          <p:spPr>
            <a:xfrm flipH="false" flipV="false" rot="0">
              <a:off x="0" y="0"/>
              <a:ext cx="8737600" cy="1435100"/>
            </a:xfrm>
            <a:custGeom>
              <a:avLst/>
              <a:gdLst/>
              <a:ahLst/>
              <a:cxnLst/>
              <a:rect r="r" b="b" t="t" l="l"/>
              <a:pathLst>
                <a:path h="1435100" w="8737600">
                  <a:moveTo>
                    <a:pt x="0" y="177800"/>
                  </a:moveTo>
                  <a:cubicBezTo>
                    <a:pt x="0" y="79629"/>
                    <a:pt x="79629" y="0"/>
                    <a:pt x="177800" y="0"/>
                  </a:cubicBezTo>
                  <a:lnTo>
                    <a:pt x="8559800" y="0"/>
                  </a:lnTo>
                  <a:cubicBezTo>
                    <a:pt x="8657971" y="0"/>
                    <a:pt x="8737600" y="79629"/>
                    <a:pt x="8737600" y="177800"/>
                  </a:cubicBezTo>
                  <a:lnTo>
                    <a:pt x="8737600" y="1257300"/>
                  </a:lnTo>
                  <a:cubicBezTo>
                    <a:pt x="8737600" y="1355471"/>
                    <a:pt x="8657971" y="1435100"/>
                    <a:pt x="8559800" y="1435100"/>
                  </a:cubicBezTo>
                  <a:lnTo>
                    <a:pt x="177800" y="1435100"/>
                  </a:lnTo>
                  <a:cubicBezTo>
                    <a:pt x="79629" y="1435100"/>
                    <a:pt x="0" y="1355471"/>
                    <a:pt x="0" y="1257300"/>
                  </a:cubicBezTo>
                  <a:close/>
                </a:path>
              </a:pathLst>
            </a:custGeom>
            <a:solidFill>
              <a:srgbClr val="FFFFFF"/>
            </a:solidFill>
          </p:spPr>
        </p:sp>
      </p:grpSp>
      <p:grpSp>
        <p:nvGrpSpPr>
          <p:cNvPr name="Group 13" id="13"/>
          <p:cNvGrpSpPr/>
          <p:nvPr/>
        </p:nvGrpSpPr>
        <p:grpSpPr>
          <a:xfrm rot="0">
            <a:off x="10972800" y="2257425"/>
            <a:ext cx="6553200" cy="1076325"/>
            <a:chOff x="0" y="0"/>
            <a:chExt cx="8737600" cy="1435100"/>
          </a:xfrm>
        </p:grpSpPr>
        <p:sp>
          <p:nvSpPr>
            <p:cNvPr name="Freeform 14" id="14"/>
            <p:cNvSpPr/>
            <p:nvPr/>
          </p:nvSpPr>
          <p:spPr>
            <a:xfrm flipH="false" flipV="false" rot="0">
              <a:off x="0" y="0"/>
              <a:ext cx="330200" cy="1435100"/>
            </a:xfrm>
            <a:custGeom>
              <a:avLst/>
              <a:gdLst/>
              <a:ahLst/>
              <a:cxnLst/>
              <a:rect r="r" b="b" t="t" l="l"/>
              <a:pathLst>
                <a:path h="1435100" w="330200">
                  <a:moveTo>
                    <a:pt x="177800" y="1435100"/>
                  </a:moveTo>
                  <a:cubicBezTo>
                    <a:pt x="79629" y="1435100"/>
                    <a:pt x="0" y="1355471"/>
                    <a:pt x="0" y="1257300"/>
                  </a:cubicBezTo>
                  <a:lnTo>
                    <a:pt x="0" y="177800"/>
                  </a:lnTo>
                  <a:cubicBezTo>
                    <a:pt x="0" y="79629"/>
                    <a:pt x="79629" y="0"/>
                    <a:pt x="177800" y="0"/>
                  </a:cubicBezTo>
                  <a:cubicBezTo>
                    <a:pt x="79629" y="0"/>
                    <a:pt x="0" y="79629"/>
                    <a:pt x="0" y="177800"/>
                  </a:cubicBezTo>
                  <a:lnTo>
                    <a:pt x="152400" y="1257300"/>
                  </a:lnTo>
                  <a:cubicBezTo>
                    <a:pt x="152400" y="1355471"/>
                    <a:pt x="232029" y="1435100"/>
                    <a:pt x="330200" y="1435100"/>
                  </a:cubicBezTo>
                  <a:close/>
                </a:path>
              </a:pathLst>
            </a:custGeom>
            <a:solidFill>
              <a:srgbClr val="EDA100"/>
            </a:solidFill>
          </p:spPr>
        </p:sp>
      </p:grpSp>
      <p:sp>
        <p:nvSpPr>
          <p:cNvPr name="TextBox 15" id="15"/>
          <p:cNvSpPr txBox="true"/>
          <p:nvPr/>
        </p:nvSpPr>
        <p:spPr>
          <a:xfrm rot="0">
            <a:off x="11391900" y="2562225"/>
            <a:ext cx="396326" cy="457200"/>
          </a:xfrm>
          <a:prstGeom prst="rect">
            <a:avLst/>
          </a:prstGeom>
        </p:spPr>
        <p:txBody>
          <a:bodyPr anchor="t" rtlCol="false" tIns="0" lIns="0" bIns="0" rIns="0">
            <a:spAutoFit/>
          </a:bodyPr>
          <a:lstStyle/>
          <a:p>
            <a:pPr algn="l">
              <a:lnSpc>
                <a:spcPts val="2940"/>
              </a:lnSpc>
            </a:pPr>
            <a:r>
              <a:rPr lang="en-US" sz="2100" b="true">
                <a:solidFill>
                  <a:srgbClr val="8A8984"/>
                </a:solidFill>
                <a:latin typeface="IBM Plex Sans Bold"/>
                <a:ea typeface="IBM Plex Sans Bold"/>
                <a:cs typeface="IBM Plex Sans Bold"/>
                <a:sym typeface="IBM Plex Sans Bold"/>
              </a:rPr>
              <a:t>01</a:t>
            </a:r>
          </a:p>
        </p:txBody>
      </p:sp>
      <p:sp>
        <p:nvSpPr>
          <p:cNvPr name="TextBox 16" id="16"/>
          <p:cNvSpPr txBox="true"/>
          <p:nvPr/>
        </p:nvSpPr>
        <p:spPr>
          <a:xfrm rot="0">
            <a:off x="11940626" y="2438400"/>
            <a:ext cx="2566930" cy="563880"/>
          </a:xfrm>
          <a:prstGeom prst="rect">
            <a:avLst/>
          </a:prstGeom>
        </p:spPr>
        <p:txBody>
          <a:bodyPr anchor="t" rtlCol="false" tIns="0" lIns="0" bIns="0" rIns="0">
            <a:spAutoFit/>
          </a:bodyPr>
          <a:lstStyle/>
          <a:p>
            <a:pPr algn="l">
              <a:lnSpc>
                <a:spcPts val="4620"/>
              </a:lnSpc>
            </a:pPr>
            <a:r>
              <a:rPr lang="en-US" sz="3300" b="true">
                <a:solidFill>
                  <a:srgbClr val="1D2A36"/>
                </a:solidFill>
                <a:latin typeface="IBM Plex Sans Bold"/>
                <a:ea typeface="IBM Plex Sans Bold"/>
                <a:cs typeface="IBM Plex Sans Bold"/>
                <a:sym typeface="IBM Plex Sans Bold"/>
              </a:rPr>
              <a:t>Healthcare</a:t>
            </a:r>
          </a:p>
        </p:txBody>
      </p:sp>
      <p:grpSp>
        <p:nvGrpSpPr>
          <p:cNvPr name="Group 17" id="17"/>
          <p:cNvGrpSpPr/>
          <p:nvPr/>
        </p:nvGrpSpPr>
        <p:grpSpPr>
          <a:xfrm rot="0">
            <a:off x="10972800" y="3524250"/>
            <a:ext cx="6553200" cy="1076325"/>
            <a:chOff x="0" y="0"/>
            <a:chExt cx="8737600" cy="1435100"/>
          </a:xfrm>
        </p:grpSpPr>
        <p:sp>
          <p:nvSpPr>
            <p:cNvPr name="Freeform 18" id="18"/>
            <p:cNvSpPr/>
            <p:nvPr/>
          </p:nvSpPr>
          <p:spPr>
            <a:xfrm flipH="false" flipV="false" rot="0">
              <a:off x="0" y="0"/>
              <a:ext cx="8737600" cy="1435100"/>
            </a:xfrm>
            <a:custGeom>
              <a:avLst/>
              <a:gdLst/>
              <a:ahLst/>
              <a:cxnLst/>
              <a:rect r="r" b="b" t="t" l="l"/>
              <a:pathLst>
                <a:path h="1435100" w="8737600">
                  <a:moveTo>
                    <a:pt x="0" y="177800"/>
                  </a:moveTo>
                  <a:cubicBezTo>
                    <a:pt x="0" y="79629"/>
                    <a:pt x="79629" y="0"/>
                    <a:pt x="177800" y="0"/>
                  </a:cubicBezTo>
                  <a:lnTo>
                    <a:pt x="8559800" y="0"/>
                  </a:lnTo>
                  <a:cubicBezTo>
                    <a:pt x="8657971" y="0"/>
                    <a:pt x="8737600" y="79629"/>
                    <a:pt x="8737600" y="177800"/>
                  </a:cubicBezTo>
                  <a:lnTo>
                    <a:pt x="8737600" y="1257300"/>
                  </a:lnTo>
                  <a:cubicBezTo>
                    <a:pt x="8737600" y="1355471"/>
                    <a:pt x="8657971" y="1435100"/>
                    <a:pt x="8559800" y="1435100"/>
                  </a:cubicBezTo>
                  <a:lnTo>
                    <a:pt x="177800" y="1435100"/>
                  </a:lnTo>
                  <a:cubicBezTo>
                    <a:pt x="79629" y="1435100"/>
                    <a:pt x="0" y="1355471"/>
                    <a:pt x="0" y="1257300"/>
                  </a:cubicBezTo>
                  <a:close/>
                </a:path>
              </a:pathLst>
            </a:custGeom>
            <a:solidFill>
              <a:srgbClr val="FFFFFF"/>
            </a:solidFill>
          </p:spPr>
        </p:sp>
      </p:grpSp>
      <p:grpSp>
        <p:nvGrpSpPr>
          <p:cNvPr name="Group 19" id="19"/>
          <p:cNvGrpSpPr/>
          <p:nvPr/>
        </p:nvGrpSpPr>
        <p:grpSpPr>
          <a:xfrm rot="0">
            <a:off x="10972800" y="3524250"/>
            <a:ext cx="6553200" cy="1076325"/>
            <a:chOff x="0" y="0"/>
            <a:chExt cx="8737600" cy="1435100"/>
          </a:xfrm>
        </p:grpSpPr>
        <p:sp>
          <p:nvSpPr>
            <p:cNvPr name="Freeform 20" id="20"/>
            <p:cNvSpPr/>
            <p:nvPr/>
          </p:nvSpPr>
          <p:spPr>
            <a:xfrm flipH="false" flipV="false" rot="0">
              <a:off x="0" y="0"/>
              <a:ext cx="330200" cy="1435100"/>
            </a:xfrm>
            <a:custGeom>
              <a:avLst/>
              <a:gdLst/>
              <a:ahLst/>
              <a:cxnLst/>
              <a:rect r="r" b="b" t="t" l="l"/>
              <a:pathLst>
                <a:path h="1435100" w="330200">
                  <a:moveTo>
                    <a:pt x="177800" y="1435100"/>
                  </a:moveTo>
                  <a:cubicBezTo>
                    <a:pt x="79629" y="1435100"/>
                    <a:pt x="0" y="1355471"/>
                    <a:pt x="0" y="1257300"/>
                  </a:cubicBezTo>
                  <a:lnTo>
                    <a:pt x="0" y="177800"/>
                  </a:lnTo>
                  <a:cubicBezTo>
                    <a:pt x="0" y="79629"/>
                    <a:pt x="79629" y="0"/>
                    <a:pt x="177800" y="0"/>
                  </a:cubicBezTo>
                  <a:cubicBezTo>
                    <a:pt x="79629" y="0"/>
                    <a:pt x="0" y="79629"/>
                    <a:pt x="0" y="177800"/>
                  </a:cubicBezTo>
                  <a:lnTo>
                    <a:pt x="152400" y="1257300"/>
                  </a:lnTo>
                  <a:cubicBezTo>
                    <a:pt x="152400" y="1355471"/>
                    <a:pt x="232029" y="1435100"/>
                    <a:pt x="330200" y="1435100"/>
                  </a:cubicBezTo>
                  <a:close/>
                </a:path>
              </a:pathLst>
            </a:custGeom>
            <a:solidFill>
              <a:srgbClr val="E87BA4"/>
            </a:solidFill>
          </p:spPr>
        </p:sp>
      </p:grpSp>
      <p:sp>
        <p:nvSpPr>
          <p:cNvPr name="TextBox 21" id="21"/>
          <p:cNvSpPr txBox="true"/>
          <p:nvPr/>
        </p:nvSpPr>
        <p:spPr>
          <a:xfrm rot="0">
            <a:off x="11391900" y="3829050"/>
            <a:ext cx="396326" cy="457200"/>
          </a:xfrm>
          <a:prstGeom prst="rect">
            <a:avLst/>
          </a:prstGeom>
        </p:spPr>
        <p:txBody>
          <a:bodyPr anchor="t" rtlCol="false" tIns="0" lIns="0" bIns="0" rIns="0">
            <a:spAutoFit/>
          </a:bodyPr>
          <a:lstStyle/>
          <a:p>
            <a:pPr algn="l">
              <a:lnSpc>
                <a:spcPts val="2940"/>
              </a:lnSpc>
            </a:pPr>
            <a:r>
              <a:rPr lang="en-US" sz="2100" b="true">
                <a:solidFill>
                  <a:srgbClr val="8A8984"/>
                </a:solidFill>
                <a:latin typeface="IBM Plex Sans Bold"/>
                <a:ea typeface="IBM Plex Sans Bold"/>
                <a:cs typeface="IBM Plex Sans Bold"/>
                <a:sym typeface="IBM Plex Sans Bold"/>
              </a:rPr>
              <a:t>02</a:t>
            </a:r>
          </a:p>
        </p:txBody>
      </p:sp>
      <p:sp>
        <p:nvSpPr>
          <p:cNvPr name="TextBox 22" id="22"/>
          <p:cNvSpPr txBox="true"/>
          <p:nvPr/>
        </p:nvSpPr>
        <p:spPr>
          <a:xfrm rot="0">
            <a:off x="11940626" y="3705225"/>
            <a:ext cx="2058467" cy="563880"/>
          </a:xfrm>
          <a:prstGeom prst="rect">
            <a:avLst/>
          </a:prstGeom>
        </p:spPr>
        <p:txBody>
          <a:bodyPr anchor="t" rtlCol="false" tIns="0" lIns="0" bIns="0" rIns="0">
            <a:spAutoFit/>
          </a:bodyPr>
          <a:lstStyle/>
          <a:p>
            <a:pPr algn="l">
              <a:lnSpc>
                <a:spcPts val="4620"/>
              </a:lnSpc>
            </a:pPr>
            <a:r>
              <a:rPr lang="en-US" sz="3300" b="true">
                <a:solidFill>
                  <a:srgbClr val="1D2A36"/>
                </a:solidFill>
                <a:latin typeface="IBM Plex Sans Bold"/>
                <a:ea typeface="IBM Plex Sans Bold"/>
                <a:cs typeface="IBM Plex Sans Bold"/>
                <a:sym typeface="IBM Plex Sans Bold"/>
              </a:rPr>
              <a:t>Income</a:t>
            </a:r>
          </a:p>
        </p:txBody>
      </p:sp>
      <p:grpSp>
        <p:nvGrpSpPr>
          <p:cNvPr name="Group 23" id="23"/>
          <p:cNvGrpSpPr/>
          <p:nvPr/>
        </p:nvGrpSpPr>
        <p:grpSpPr>
          <a:xfrm rot="0">
            <a:off x="10972800" y="4791075"/>
            <a:ext cx="6553200" cy="1076325"/>
            <a:chOff x="0" y="0"/>
            <a:chExt cx="8737600" cy="1435100"/>
          </a:xfrm>
        </p:grpSpPr>
        <p:sp>
          <p:nvSpPr>
            <p:cNvPr name="Freeform 24" id="24"/>
            <p:cNvSpPr/>
            <p:nvPr/>
          </p:nvSpPr>
          <p:spPr>
            <a:xfrm flipH="false" flipV="false" rot="0">
              <a:off x="0" y="0"/>
              <a:ext cx="8737600" cy="1435100"/>
            </a:xfrm>
            <a:custGeom>
              <a:avLst/>
              <a:gdLst/>
              <a:ahLst/>
              <a:cxnLst/>
              <a:rect r="r" b="b" t="t" l="l"/>
              <a:pathLst>
                <a:path h="1435100" w="8737600">
                  <a:moveTo>
                    <a:pt x="0" y="177800"/>
                  </a:moveTo>
                  <a:cubicBezTo>
                    <a:pt x="0" y="79629"/>
                    <a:pt x="79629" y="0"/>
                    <a:pt x="177800" y="0"/>
                  </a:cubicBezTo>
                  <a:lnTo>
                    <a:pt x="8559800" y="0"/>
                  </a:lnTo>
                  <a:cubicBezTo>
                    <a:pt x="8657971" y="0"/>
                    <a:pt x="8737600" y="79629"/>
                    <a:pt x="8737600" y="177800"/>
                  </a:cubicBezTo>
                  <a:lnTo>
                    <a:pt x="8737600" y="1257300"/>
                  </a:lnTo>
                  <a:cubicBezTo>
                    <a:pt x="8737600" y="1355471"/>
                    <a:pt x="8657971" y="1435100"/>
                    <a:pt x="8559800" y="1435100"/>
                  </a:cubicBezTo>
                  <a:lnTo>
                    <a:pt x="177800" y="1435100"/>
                  </a:lnTo>
                  <a:cubicBezTo>
                    <a:pt x="79629" y="1435100"/>
                    <a:pt x="0" y="1355471"/>
                    <a:pt x="0" y="1257300"/>
                  </a:cubicBezTo>
                  <a:close/>
                </a:path>
              </a:pathLst>
            </a:custGeom>
            <a:solidFill>
              <a:srgbClr val="FFFFFF"/>
            </a:solidFill>
          </p:spPr>
        </p:sp>
      </p:grpSp>
      <p:grpSp>
        <p:nvGrpSpPr>
          <p:cNvPr name="Group 25" id="25"/>
          <p:cNvGrpSpPr/>
          <p:nvPr/>
        </p:nvGrpSpPr>
        <p:grpSpPr>
          <a:xfrm rot="0">
            <a:off x="10972800" y="4791075"/>
            <a:ext cx="6553200" cy="1076325"/>
            <a:chOff x="0" y="0"/>
            <a:chExt cx="8737600" cy="1435100"/>
          </a:xfrm>
        </p:grpSpPr>
        <p:sp>
          <p:nvSpPr>
            <p:cNvPr name="Freeform 26" id="26"/>
            <p:cNvSpPr/>
            <p:nvPr/>
          </p:nvSpPr>
          <p:spPr>
            <a:xfrm flipH="false" flipV="false" rot="0">
              <a:off x="0" y="0"/>
              <a:ext cx="330200" cy="1435100"/>
            </a:xfrm>
            <a:custGeom>
              <a:avLst/>
              <a:gdLst/>
              <a:ahLst/>
              <a:cxnLst/>
              <a:rect r="r" b="b" t="t" l="l"/>
              <a:pathLst>
                <a:path h="1435100" w="330200">
                  <a:moveTo>
                    <a:pt x="177800" y="1435100"/>
                  </a:moveTo>
                  <a:cubicBezTo>
                    <a:pt x="79629" y="1435100"/>
                    <a:pt x="0" y="1355471"/>
                    <a:pt x="0" y="1257300"/>
                  </a:cubicBezTo>
                  <a:lnTo>
                    <a:pt x="0" y="177800"/>
                  </a:lnTo>
                  <a:cubicBezTo>
                    <a:pt x="0" y="79629"/>
                    <a:pt x="79629" y="0"/>
                    <a:pt x="177800" y="0"/>
                  </a:cubicBezTo>
                  <a:cubicBezTo>
                    <a:pt x="79629" y="0"/>
                    <a:pt x="0" y="79629"/>
                    <a:pt x="0" y="177800"/>
                  </a:cubicBezTo>
                  <a:lnTo>
                    <a:pt x="152400" y="1257300"/>
                  </a:lnTo>
                  <a:cubicBezTo>
                    <a:pt x="152400" y="1355471"/>
                    <a:pt x="232029" y="1435100"/>
                    <a:pt x="330200" y="1435100"/>
                  </a:cubicBezTo>
                  <a:close/>
                </a:path>
              </a:pathLst>
            </a:custGeom>
            <a:solidFill>
              <a:srgbClr val="1BAF7A"/>
            </a:solidFill>
          </p:spPr>
        </p:sp>
      </p:grpSp>
      <p:sp>
        <p:nvSpPr>
          <p:cNvPr name="TextBox 27" id="27"/>
          <p:cNvSpPr txBox="true"/>
          <p:nvPr/>
        </p:nvSpPr>
        <p:spPr>
          <a:xfrm rot="0">
            <a:off x="11391900" y="5095875"/>
            <a:ext cx="396326" cy="457200"/>
          </a:xfrm>
          <a:prstGeom prst="rect">
            <a:avLst/>
          </a:prstGeom>
        </p:spPr>
        <p:txBody>
          <a:bodyPr anchor="t" rtlCol="false" tIns="0" lIns="0" bIns="0" rIns="0">
            <a:spAutoFit/>
          </a:bodyPr>
          <a:lstStyle/>
          <a:p>
            <a:pPr algn="l">
              <a:lnSpc>
                <a:spcPts val="2940"/>
              </a:lnSpc>
            </a:pPr>
            <a:r>
              <a:rPr lang="en-US" sz="2100" b="true">
                <a:solidFill>
                  <a:srgbClr val="8A8984"/>
                </a:solidFill>
                <a:latin typeface="IBM Plex Sans Bold"/>
                <a:ea typeface="IBM Plex Sans Bold"/>
                <a:cs typeface="IBM Plex Sans Bold"/>
                <a:sym typeface="IBM Plex Sans Bold"/>
              </a:rPr>
              <a:t>03</a:t>
            </a:r>
          </a:p>
        </p:txBody>
      </p:sp>
      <p:sp>
        <p:nvSpPr>
          <p:cNvPr name="TextBox 28" id="28"/>
          <p:cNvSpPr txBox="true"/>
          <p:nvPr/>
        </p:nvSpPr>
        <p:spPr>
          <a:xfrm rot="0">
            <a:off x="11940626" y="4972050"/>
            <a:ext cx="1773793" cy="563880"/>
          </a:xfrm>
          <a:prstGeom prst="rect">
            <a:avLst/>
          </a:prstGeom>
        </p:spPr>
        <p:txBody>
          <a:bodyPr anchor="t" rtlCol="false" tIns="0" lIns="0" bIns="0" rIns="0">
            <a:spAutoFit/>
          </a:bodyPr>
          <a:lstStyle/>
          <a:p>
            <a:pPr algn="l">
              <a:lnSpc>
                <a:spcPts val="4620"/>
              </a:lnSpc>
            </a:pPr>
            <a:r>
              <a:rPr lang="en-US" sz="3300" b="true">
                <a:solidFill>
                  <a:srgbClr val="1D2A36"/>
                </a:solidFill>
                <a:latin typeface="IBM Plex Sans Bold"/>
                <a:ea typeface="IBM Plex Sans Bold"/>
                <a:cs typeface="IBM Plex Sans Bold"/>
                <a:sym typeface="IBM Plex Sans Bold"/>
              </a:rPr>
              <a:t>Housing</a:t>
            </a:r>
          </a:p>
        </p:txBody>
      </p:sp>
      <p:grpSp>
        <p:nvGrpSpPr>
          <p:cNvPr name="Group 29" id="29"/>
          <p:cNvGrpSpPr/>
          <p:nvPr/>
        </p:nvGrpSpPr>
        <p:grpSpPr>
          <a:xfrm rot="0">
            <a:off x="10972800" y="6057900"/>
            <a:ext cx="6553200" cy="1076325"/>
            <a:chOff x="0" y="0"/>
            <a:chExt cx="8737600" cy="1435100"/>
          </a:xfrm>
        </p:grpSpPr>
        <p:sp>
          <p:nvSpPr>
            <p:cNvPr name="Freeform 30" id="30"/>
            <p:cNvSpPr/>
            <p:nvPr/>
          </p:nvSpPr>
          <p:spPr>
            <a:xfrm flipH="false" flipV="false" rot="0">
              <a:off x="0" y="0"/>
              <a:ext cx="8737600" cy="1435100"/>
            </a:xfrm>
            <a:custGeom>
              <a:avLst/>
              <a:gdLst/>
              <a:ahLst/>
              <a:cxnLst/>
              <a:rect r="r" b="b" t="t" l="l"/>
              <a:pathLst>
                <a:path h="1435100" w="8737600">
                  <a:moveTo>
                    <a:pt x="0" y="177800"/>
                  </a:moveTo>
                  <a:cubicBezTo>
                    <a:pt x="0" y="79629"/>
                    <a:pt x="79629" y="0"/>
                    <a:pt x="177800" y="0"/>
                  </a:cubicBezTo>
                  <a:lnTo>
                    <a:pt x="8559800" y="0"/>
                  </a:lnTo>
                  <a:cubicBezTo>
                    <a:pt x="8657971" y="0"/>
                    <a:pt x="8737600" y="79629"/>
                    <a:pt x="8737600" y="177800"/>
                  </a:cubicBezTo>
                  <a:lnTo>
                    <a:pt x="8737600" y="1257300"/>
                  </a:lnTo>
                  <a:cubicBezTo>
                    <a:pt x="8737600" y="1355471"/>
                    <a:pt x="8657971" y="1435100"/>
                    <a:pt x="8559800" y="1435100"/>
                  </a:cubicBezTo>
                  <a:lnTo>
                    <a:pt x="177800" y="1435100"/>
                  </a:lnTo>
                  <a:cubicBezTo>
                    <a:pt x="79629" y="1435100"/>
                    <a:pt x="0" y="1355471"/>
                    <a:pt x="0" y="1257300"/>
                  </a:cubicBezTo>
                  <a:close/>
                </a:path>
              </a:pathLst>
            </a:custGeom>
            <a:solidFill>
              <a:srgbClr val="FFFFFF"/>
            </a:solidFill>
          </p:spPr>
        </p:sp>
      </p:grpSp>
      <p:grpSp>
        <p:nvGrpSpPr>
          <p:cNvPr name="Group 31" id="31"/>
          <p:cNvGrpSpPr/>
          <p:nvPr/>
        </p:nvGrpSpPr>
        <p:grpSpPr>
          <a:xfrm rot="0">
            <a:off x="10972800" y="6057900"/>
            <a:ext cx="6553200" cy="1076325"/>
            <a:chOff x="0" y="0"/>
            <a:chExt cx="8737600" cy="1435100"/>
          </a:xfrm>
        </p:grpSpPr>
        <p:sp>
          <p:nvSpPr>
            <p:cNvPr name="Freeform 32" id="32"/>
            <p:cNvSpPr/>
            <p:nvPr/>
          </p:nvSpPr>
          <p:spPr>
            <a:xfrm flipH="false" flipV="false" rot="0">
              <a:off x="0" y="0"/>
              <a:ext cx="330200" cy="1435100"/>
            </a:xfrm>
            <a:custGeom>
              <a:avLst/>
              <a:gdLst/>
              <a:ahLst/>
              <a:cxnLst/>
              <a:rect r="r" b="b" t="t" l="l"/>
              <a:pathLst>
                <a:path h="1435100" w="330200">
                  <a:moveTo>
                    <a:pt x="177800" y="1435100"/>
                  </a:moveTo>
                  <a:cubicBezTo>
                    <a:pt x="79629" y="1435100"/>
                    <a:pt x="0" y="1355471"/>
                    <a:pt x="0" y="1257300"/>
                  </a:cubicBezTo>
                  <a:lnTo>
                    <a:pt x="0" y="177800"/>
                  </a:lnTo>
                  <a:cubicBezTo>
                    <a:pt x="0" y="79629"/>
                    <a:pt x="79629" y="0"/>
                    <a:pt x="177800" y="0"/>
                  </a:cubicBezTo>
                  <a:cubicBezTo>
                    <a:pt x="79629" y="0"/>
                    <a:pt x="0" y="79629"/>
                    <a:pt x="0" y="177800"/>
                  </a:cubicBezTo>
                  <a:lnTo>
                    <a:pt x="152400" y="1257300"/>
                  </a:lnTo>
                  <a:cubicBezTo>
                    <a:pt x="152400" y="1355471"/>
                    <a:pt x="232029" y="1435100"/>
                    <a:pt x="330200" y="1435100"/>
                  </a:cubicBezTo>
                  <a:close/>
                </a:path>
              </a:pathLst>
            </a:custGeom>
            <a:solidFill>
              <a:srgbClr val="EB6834"/>
            </a:solidFill>
          </p:spPr>
        </p:sp>
      </p:grpSp>
      <p:sp>
        <p:nvSpPr>
          <p:cNvPr name="TextBox 33" id="33"/>
          <p:cNvSpPr txBox="true"/>
          <p:nvPr/>
        </p:nvSpPr>
        <p:spPr>
          <a:xfrm rot="0">
            <a:off x="11391900" y="6362700"/>
            <a:ext cx="396326" cy="457200"/>
          </a:xfrm>
          <a:prstGeom prst="rect">
            <a:avLst/>
          </a:prstGeom>
        </p:spPr>
        <p:txBody>
          <a:bodyPr anchor="t" rtlCol="false" tIns="0" lIns="0" bIns="0" rIns="0">
            <a:spAutoFit/>
          </a:bodyPr>
          <a:lstStyle/>
          <a:p>
            <a:pPr algn="l">
              <a:lnSpc>
                <a:spcPts val="2940"/>
              </a:lnSpc>
            </a:pPr>
            <a:r>
              <a:rPr lang="en-US" sz="2100" b="true">
                <a:solidFill>
                  <a:srgbClr val="8A8984"/>
                </a:solidFill>
                <a:latin typeface="IBM Plex Sans Bold"/>
                <a:ea typeface="IBM Plex Sans Bold"/>
                <a:cs typeface="IBM Plex Sans Bold"/>
                <a:sym typeface="IBM Plex Sans Bold"/>
              </a:rPr>
              <a:t>04</a:t>
            </a:r>
          </a:p>
        </p:txBody>
      </p:sp>
      <p:sp>
        <p:nvSpPr>
          <p:cNvPr name="TextBox 34" id="34"/>
          <p:cNvSpPr txBox="true"/>
          <p:nvPr/>
        </p:nvSpPr>
        <p:spPr>
          <a:xfrm rot="0">
            <a:off x="11940626" y="6238875"/>
            <a:ext cx="1899342" cy="563880"/>
          </a:xfrm>
          <a:prstGeom prst="rect">
            <a:avLst/>
          </a:prstGeom>
        </p:spPr>
        <p:txBody>
          <a:bodyPr anchor="t" rtlCol="false" tIns="0" lIns="0" bIns="0" rIns="0">
            <a:spAutoFit/>
          </a:bodyPr>
          <a:lstStyle/>
          <a:p>
            <a:pPr algn="l">
              <a:lnSpc>
                <a:spcPts val="4620"/>
              </a:lnSpc>
            </a:pPr>
            <a:r>
              <a:rPr lang="en-US" sz="3300" b="true">
                <a:solidFill>
                  <a:srgbClr val="1D2A36"/>
                </a:solidFill>
                <a:latin typeface="IBM Plex Sans Bold"/>
                <a:ea typeface="IBM Plex Sans Bold"/>
                <a:cs typeface="IBM Plex Sans Bold"/>
                <a:sym typeface="IBM Plex Sans Bold"/>
              </a:rPr>
              <a:t>Marriage</a:t>
            </a:r>
          </a:p>
        </p:txBody>
      </p:sp>
      <p:grpSp>
        <p:nvGrpSpPr>
          <p:cNvPr name="Group 35" id="35"/>
          <p:cNvGrpSpPr/>
          <p:nvPr/>
        </p:nvGrpSpPr>
        <p:grpSpPr>
          <a:xfrm rot="0">
            <a:off x="10972800" y="7324725"/>
            <a:ext cx="6553200" cy="1076325"/>
            <a:chOff x="0" y="0"/>
            <a:chExt cx="8737600" cy="1435100"/>
          </a:xfrm>
        </p:grpSpPr>
        <p:sp>
          <p:nvSpPr>
            <p:cNvPr name="Freeform 36" id="36"/>
            <p:cNvSpPr/>
            <p:nvPr/>
          </p:nvSpPr>
          <p:spPr>
            <a:xfrm flipH="false" flipV="false" rot="0">
              <a:off x="0" y="0"/>
              <a:ext cx="8737600" cy="1435100"/>
            </a:xfrm>
            <a:custGeom>
              <a:avLst/>
              <a:gdLst/>
              <a:ahLst/>
              <a:cxnLst/>
              <a:rect r="r" b="b" t="t" l="l"/>
              <a:pathLst>
                <a:path h="1435100" w="8737600">
                  <a:moveTo>
                    <a:pt x="0" y="177800"/>
                  </a:moveTo>
                  <a:cubicBezTo>
                    <a:pt x="0" y="79629"/>
                    <a:pt x="79629" y="0"/>
                    <a:pt x="177800" y="0"/>
                  </a:cubicBezTo>
                  <a:lnTo>
                    <a:pt x="8559800" y="0"/>
                  </a:lnTo>
                  <a:cubicBezTo>
                    <a:pt x="8657971" y="0"/>
                    <a:pt x="8737600" y="79629"/>
                    <a:pt x="8737600" y="177800"/>
                  </a:cubicBezTo>
                  <a:lnTo>
                    <a:pt x="8737600" y="1257300"/>
                  </a:lnTo>
                  <a:cubicBezTo>
                    <a:pt x="8737600" y="1355471"/>
                    <a:pt x="8657971" y="1435100"/>
                    <a:pt x="8559800" y="1435100"/>
                  </a:cubicBezTo>
                  <a:lnTo>
                    <a:pt x="177800" y="1435100"/>
                  </a:lnTo>
                  <a:cubicBezTo>
                    <a:pt x="79629" y="1435100"/>
                    <a:pt x="0" y="1355471"/>
                    <a:pt x="0" y="1257300"/>
                  </a:cubicBezTo>
                  <a:close/>
                </a:path>
              </a:pathLst>
            </a:custGeom>
            <a:solidFill>
              <a:srgbClr val="FFFFFF"/>
            </a:solidFill>
          </p:spPr>
        </p:sp>
      </p:grpSp>
      <p:grpSp>
        <p:nvGrpSpPr>
          <p:cNvPr name="Group 37" id="37"/>
          <p:cNvGrpSpPr/>
          <p:nvPr/>
        </p:nvGrpSpPr>
        <p:grpSpPr>
          <a:xfrm rot="0">
            <a:off x="10972800" y="7324725"/>
            <a:ext cx="6553200" cy="1076325"/>
            <a:chOff x="0" y="0"/>
            <a:chExt cx="8737600" cy="1435100"/>
          </a:xfrm>
        </p:grpSpPr>
        <p:sp>
          <p:nvSpPr>
            <p:cNvPr name="Freeform 38" id="38"/>
            <p:cNvSpPr/>
            <p:nvPr/>
          </p:nvSpPr>
          <p:spPr>
            <a:xfrm flipH="false" flipV="false" rot="0">
              <a:off x="0" y="0"/>
              <a:ext cx="330200" cy="1435100"/>
            </a:xfrm>
            <a:custGeom>
              <a:avLst/>
              <a:gdLst/>
              <a:ahLst/>
              <a:cxnLst/>
              <a:rect r="r" b="b" t="t" l="l"/>
              <a:pathLst>
                <a:path h="1435100" w="330200">
                  <a:moveTo>
                    <a:pt x="177800" y="1435100"/>
                  </a:moveTo>
                  <a:cubicBezTo>
                    <a:pt x="79629" y="1435100"/>
                    <a:pt x="0" y="1355471"/>
                    <a:pt x="0" y="1257300"/>
                  </a:cubicBezTo>
                  <a:lnTo>
                    <a:pt x="0" y="177800"/>
                  </a:lnTo>
                  <a:cubicBezTo>
                    <a:pt x="0" y="79629"/>
                    <a:pt x="79629" y="0"/>
                    <a:pt x="177800" y="0"/>
                  </a:cubicBezTo>
                  <a:cubicBezTo>
                    <a:pt x="79629" y="0"/>
                    <a:pt x="0" y="79629"/>
                    <a:pt x="0" y="177800"/>
                  </a:cubicBezTo>
                  <a:lnTo>
                    <a:pt x="152400" y="1257300"/>
                  </a:lnTo>
                  <a:cubicBezTo>
                    <a:pt x="152400" y="1355471"/>
                    <a:pt x="232029" y="1435100"/>
                    <a:pt x="330200" y="1435100"/>
                  </a:cubicBezTo>
                  <a:close/>
                </a:path>
              </a:pathLst>
            </a:custGeom>
            <a:solidFill>
              <a:srgbClr val="4A3AA7"/>
            </a:solidFill>
          </p:spPr>
        </p:sp>
      </p:grpSp>
      <p:sp>
        <p:nvSpPr>
          <p:cNvPr name="TextBox 39" id="39"/>
          <p:cNvSpPr txBox="true"/>
          <p:nvPr/>
        </p:nvSpPr>
        <p:spPr>
          <a:xfrm rot="0">
            <a:off x="11391900" y="7629525"/>
            <a:ext cx="396326" cy="457200"/>
          </a:xfrm>
          <a:prstGeom prst="rect">
            <a:avLst/>
          </a:prstGeom>
        </p:spPr>
        <p:txBody>
          <a:bodyPr anchor="t" rtlCol="false" tIns="0" lIns="0" bIns="0" rIns="0">
            <a:spAutoFit/>
          </a:bodyPr>
          <a:lstStyle/>
          <a:p>
            <a:pPr algn="l">
              <a:lnSpc>
                <a:spcPts val="2940"/>
              </a:lnSpc>
            </a:pPr>
            <a:r>
              <a:rPr lang="en-US" sz="2100" b="true">
                <a:solidFill>
                  <a:srgbClr val="8A8984"/>
                </a:solidFill>
                <a:latin typeface="IBM Plex Sans Bold"/>
                <a:ea typeface="IBM Plex Sans Bold"/>
                <a:cs typeface="IBM Plex Sans Bold"/>
                <a:sym typeface="IBM Plex Sans Bold"/>
              </a:rPr>
              <a:t>05</a:t>
            </a:r>
          </a:p>
        </p:txBody>
      </p:sp>
      <p:sp>
        <p:nvSpPr>
          <p:cNvPr name="TextBox 40" id="40"/>
          <p:cNvSpPr txBox="true"/>
          <p:nvPr/>
        </p:nvSpPr>
        <p:spPr>
          <a:xfrm rot="0">
            <a:off x="11940626" y="7505700"/>
            <a:ext cx="2335825" cy="563880"/>
          </a:xfrm>
          <a:prstGeom prst="rect">
            <a:avLst/>
          </a:prstGeom>
        </p:spPr>
        <p:txBody>
          <a:bodyPr anchor="t" rtlCol="false" tIns="0" lIns="0" bIns="0" rIns="0">
            <a:spAutoFit/>
          </a:bodyPr>
          <a:lstStyle/>
          <a:p>
            <a:pPr algn="l">
              <a:lnSpc>
                <a:spcPts val="4620"/>
              </a:lnSpc>
            </a:pPr>
            <a:r>
              <a:rPr lang="en-US" sz="3300" b="true">
                <a:solidFill>
                  <a:srgbClr val="1D2A36"/>
                </a:solidFill>
                <a:latin typeface="IBM Plex Sans Bold"/>
                <a:ea typeface="IBM Plex Sans Bold"/>
                <a:cs typeface="IBM Plex Sans Bold"/>
                <a:sym typeface="IBM Plex Sans Bold"/>
              </a:rPr>
              <a:t>Education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1219200" y="3224213"/>
            <a:ext cx="16325088" cy="365760"/>
          </a:xfrm>
          <a:prstGeom prst="rect">
            <a:avLst/>
          </a:prstGeom>
        </p:spPr>
        <p:txBody>
          <a:bodyPr anchor="t" rtlCol="false" tIns="0" lIns="0" bIns="0" rIns="0">
            <a:spAutoFit/>
          </a:bodyPr>
          <a:lstStyle/>
          <a:p>
            <a:pPr algn="l">
              <a:lnSpc>
                <a:spcPts val="2940"/>
              </a:lnSpc>
            </a:pPr>
            <a:r>
              <a:rPr lang="en-US" b="true" sz="2100" spc="299">
                <a:solidFill>
                  <a:srgbClr val="F08A5D"/>
                </a:solidFill>
                <a:latin typeface="IBM Plex Sans Bold"/>
                <a:ea typeface="IBM Plex Sans Bold"/>
                <a:cs typeface="IBM Plex Sans Bold"/>
                <a:sym typeface="IBM Plex Sans Bold"/>
              </a:rPr>
              <a:t>FACTOR 1 · HEALTHCARE</a:t>
            </a:r>
          </a:p>
        </p:txBody>
      </p:sp>
      <p:sp>
        <p:nvSpPr>
          <p:cNvPr name="TextBox 3" id="3"/>
          <p:cNvSpPr txBox="true"/>
          <p:nvPr/>
        </p:nvSpPr>
        <p:spPr>
          <a:xfrm rot="0">
            <a:off x="1219200" y="4110037"/>
            <a:ext cx="16325088" cy="2166747"/>
          </a:xfrm>
          <a:prstGeom prst="rect">
            <a:avLst/>
          </a:prstGeom>
        </p:spPr>
        <p:txBody>
          <a:bodyPr anchor="t" rtlCol="false" tIns="0" lIns="0" bIns="0" rIns="0">
            <a:spAutoFit/>
          </a:bodyPr>
          <a:lstStyle/>
          <a:p>
            <a:pPr algn="l">
              <a:lnSpc>
                <a:spcPts val="8424"/>
              </a:lnSpc>
            </a:pPr>
            <a:r>
              <a:rPr lang="en-US" sz="7800" b="true">
                <a:solidFill>
                  <a:srgbClr val="F4F1EA"/>
                </a:solidFill>
                <a:latin typeface="Source Serif Pro Bold"/>
                <a:ea typeface="Source Serif Pro Bold"/>
                <a:cs typeface="Source Serif Pro Bold"/>
                <a:sym typeface="Source Serif Pro Bold"/>
              </a:rPr>
              <a:t>Does healthcare cost explain</a:t>
            </a:r>
          </a:p>
          <a:p>
            <a:pPr algn="l">
              <a:lnSpc>
                <a:spcPts val="8424"/>
              </a:lnSpc>
            </a:pPr>
            <a:r>
              <a:rPr lang="en-US" sz="7800" b="true">
                <a:solidFill>
                  <a:srgbClr val="F4F1EA"/>
                </a:solidFill>
                <a:latin typeface="Source Serif Pro Bold"/>
                <a:ea typeface="Source Serif Pro Bold"/>
                <a:cs typeface="Source Serif Pro Bold"/>
                <a:sym typeface="Source Serif Pro Bold"/>
              </a:rPr>
              <a:t>the falling birth rate?</a:t>
            </a:r>
          </a:p>
        </p:txBody>
      </p:sp>
      <p:sp>
        <p:nvSpPr>
          <p:cNvPr name="TextBox 4" id="4"/>
          <p:cNvSpPr txBox="true"/>
          <p:nvPr/>
        </p:nvSpPr>
        <p:spPr>
          <a:xfrm rot="0">
            <a:off x="1219200" y="6491287"/>
            <a:ext cx="16325088" cy="455295"/>
          </a:xfrm>
          <a:prstGeom prst="rect">
            <a:avLst/>
          </a:prstGeom>
        </p:spPr>
        <p:txBody>
          <a:bodyPr anchor="t" rtlCol="false" tIns="0" lIns="0" bIns="0" rIns="0">
            <a:spAutoFit/>
          </a:bodyPr>
          <a:lstStyle/>
          <a:p>
            <a:pPr algn="l">
              <a:lnSpc>
                <a:spcPts val="3779"/>
              </a:lnSpc>
            </a:pPr>
            <a:r>
              <a:rPr lang="en-US" sz="2700">
                <a:solidFill>
                  <a:srgbClr val="C4C8D2"/>
                </a:solidFill>
                <a:latin typeface="IBM Plex Sans"/>
                <a:ea typeface="IBM Plex Sans"/>
                <a:cs typeface="IBM Plex Sans"/>
                <a:sym typeface="IBM Plex Sans"/>
              </a:rPr>
              <a:t>Healthcare price &amp; Government spending</a:t>
            </a:r>
          </a:p>
        </p:txBody>
      </p:sp>
      <p:sp>
        <p:nvSpPr>
          <p:cNvPr name="TextBox 5" id="5"/>
          <p:cNvSpPr txBox="true"/>
          <p:nvPr/>
        </p:nvSpPr>
        <p:spPr>
          <a:xfrm rot="0">
            <a:off x="1219200" y="8953500"/>
            <a:ext cx="11772900" cy="365760"/>
          </a:xfrm>
          <a:prstGeom prst="rect">
            <a:avLst/>
          </a:prstGeom>
        </p:spPr>
        <p:txBody>
          <a:bodyPr anchor="t" rtlCol="false" tIns="0" lIns="0" bIns="0" rIns="0">
            <a:spAutoFit/>
          </a:bodyPr>
          <a:lstStyle/>
          <a:p>
            <a:pPr algn="l">
              <a:lnSpc>
                <a:spcPts val="2940"/>
              </a:lnSpc>
            </a:pPr>
            <a:r>
              <a:rPr lang="en-US" sz="2100">
                <a:solidFill>
                  <a:srgbClr val="9AA1B0"/>
                </a:solidFill>
                <a:latin typeface="IBM Plex Sans"/>
                <a:ea typeface="IBM Plex Sans"/>
                <a:cs typeface="IBM Plex Sans"/>
                <a:sym typeface="IBM Plex Sans"/>
              </a:rPr>
              <a:t>Presented</a:t>
            </a:r>
            <a:r>
              <a:rPr lang="en-US" sz="2100">
                <a:solidFill>
                  <a:srgbClr val="9AA1B0"/>
                </a:solidFill>
                <a:latin typeface="IBM Plex Sans"/>
                <a:ea typeface="IBM Plex Sans"/>
                <a:cs typeface="IBM Plex Sans"/>
                <a:sym typeface="IBM Plex Sans"/>
              </a:rPr>
              <a:t> by Zhou Dianfeng · Group 8</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grpSp>
        <p:nvGrpSpPr>
          <p:cNvPr name="Group 3" id="3"/>
          <p:cNvGrpSpPr/>
          <p:nvPr/>
        </p:nvGrpSpPr>
        <p:grpSpPr>
          <a:xfrm rot="0">
            <a:off x="827723" y="1795462"/>
            <a:ext cx="7661910" cy="6212205"/>
            <a:chOff x="0" y="0"/>
            <a:chExt cx="10215880" cy="8282940"/>
          </a:xfrm>
        </p:grpSpPr>
        <p:sp>
          <p:nvSpPr>
            <p:cNvPr name="Freeform 4" id="4"/>
            <p:cNvSpPr/>
            <p:nvPr/>
          </p:nvSpPr>
          <p:spPr>
            <a:xfrm flipH="false" flipV="false" rot="0">
              <a:off x="0" y="0"/>
              <a:ext cx="10215880" cy="8282940"/>
            </a:xfrm>
            <a:custGeom>
              <a:avLst/>
              <a:gdLst/>
              <a:ahLst/>
              <a:cxnLst/>
              <a:rect r="r" b="b" t="t" l="l"/>
              <a:pathLst>
                <a:path h="8282940" w="10215880">
                  <a:moveTo>
                    <a:pt x="0" y="0"/>
                  </a:moveTo>
                  <a:lnTo>
                    <a:pt x="10215880" y="0"/>
                  </a:lnTo>
                  <a:lnTo>
                    <a:pt x="10215880" y="8282940"/>
                  </a:lnTo>
                  <a:lnTo>
                    <a:pt x="0" y="8282940"/>
                  </a:lnTo>
                  <a:lnTo>
                    <a:pt x="0" y="0"/>
                  </a:lnTo>
                  <a:close/>
                </a:path>
              </a:pathLst>
            </a:custGeom>
            <a:blipFill>
              <a:blip r:embed="rId4"/>
              <a:stretch>
                <a:fillRect l="-2" t="0" r="-2" b="0"/>
              </a:stretch>
            </a:blipFill>
          </p:spPr>
        </p:sp>
      </p:grpSp>
      <p:grpSp>
        <p:nvGrpSpPr>
          <p:cNvPr name="Group 5" id="5"/>
          <p:cNvGrpSpPr/>
          <p:nvPr/>
        </p:nvGrpSpPr>
        <p:grpSpPr>
          <a:xfrm rot="0">
            <a:off x="9144000" y="1775460"/>
            <a:ext cx="7504747" cy="6225540"/>
            <a:chOff x="0" y="0"/>
            <a:chExt cx="10006330" cy="8300720"/>
          </a:xfrm>
        </p:grpSpPr>
        <p:sp>
          <p:nvSpPr>
            <p:cNvPr name="Freeform 6" id="6"/>
            <p:cNvSpPr/>
            <p:nvPr/>
          </p:nvSpPr>
          <p:spPr>
            <a:xfrm flipH="false" flipV="false" rot="0">
              <a:off x="0" y="0"/>
              <a:ext cx="10006330" cy="8300720"/>
            </a:xfrm>
            <a:custGeom>
              <a:avLst/>
              <a:gdLst/>
              <a:ahLst/>
              <a:cxnLst/>
              <a:rect r="r" b="b" t="t" l="l"/>
              <a:pathLst>
                <a:path h="8300720" w="10006330">
                  <a:moveTo>
                    <a:pt x="0" y="0"/>
                  </a:moveTo>
                  <a:lnTo>
                    <a:pt x="10006330" y="0"/>
                  </a:lnTo>
                  <a:lnTo>
                    <a:pt x="10006330" y="8300720"/>
                  </a:lnTo>
                  <a:lnTo>
                    <a:pt x="0" y="8300720"/>
                  </a:lnTo>
                  <a:lnTo>
                    <a:pt x="0" y="0"/>
                  </a:lnTo>
                  <a:close/>
                </a:path>
              </a:pathLst>
            </a:custGeom>
            <a:blipFill>
              <a:blip r:embed="rId5"/>
              <a:stretch>
                <a:fillRect l="-2613" t="0" r="-2613" b="0"/>
              </a:stretch>
            </a:blipFill>
          </p:spPr>
        </p:sp>
      </p:grpSp>
      <p:sp>
        <p:nvSpPr>
          <p:cNvPr name="TextBox 7" id="7"/>
          <p:cNvSpPr txBox="true"/>
          <p:nvPr/>
        </p:nvSpPr>
        <p:spPr>
          <a:xfrm rot="0">
            <a:off x="777240" y="8230553"/>
            <a:ext cx="7960995" cy="470535"/>
          </a:xfrm>
          <a:prstGeom prst="rect">
            <a:avLst/>
          </a:prstGeom>
        </p:spPr>
        <p:txBody>
          <a:bodyPr anchor="t" rtlCol="false" tIns="0" lIns="0" bIns="0" rIns="0">
            <a:spAutoFit/>
          </a:bodyPr>
          <a:lstStyle/>
          <a:p>
            <a:pPr algn="l">
              <a:lnSpc>
                <a:spcPts val="3644"/>
              </a:lnSpc>
            </a:pPr>
            <a:r>
              <a:rPr lang="en-US" sz="3037" b="true">
                <a:solidFill>
                  <a:srgbClr val="168579"/>
                </a:solidFill>
                <a:latin typeface="Arial Bold"/>
                <a:ea typeface="Arial Bold"/>
                <a:cs typeface="Arial Bold"/>
                <a:sym typeface="Arial Bold"/>
              </a:rPr>
              <a:t>Service prices diverged over time</a:t>
            </a:r>
          </a:p>
        </p:txBody>
      </p:sp>
      <p:sp>
        <p:nvSpPr>
          <p:cNvPr name="TextBox 8" id="8"/>
          <p:cNvSpPr txBox="true"/>
          <p:nvPr/>
        </p:nvSpPr>
        <p:spPr>
          <a:xfrm rot="0">
            <a:off x="9162098" y="8230553"/>
            <a:ext cx="7960995" cy="470535"/>
          </a:xfrm>
          <a:prstGeom prst="rect">
            <a:avLst/>
          </a:prstGeom>
        </p:spPr>
        <p:txBody>
          <a:bodyPr anchor="t" rtlCol="false" tIns="0" lIns="0" bIns="0" rIns="0">
            <a:spAutoFit/>
          </a:bodyPr>
          <a:lstStyle/>
          <a:p>
            <a:pPr algn="l">
              <a:lnSpc>
                <a:spcPts val="3644"/>
              </a:lnSpc>
            </a:pPr>
            <a:r>
              <a:rPr lang="en-US" sz="3037" b="true">
                <a:solidFill>
                  <a:srgbClr val="168579"/>
                </a:solidFill>
                <a:latin typeface="Arial Bold"/>
                <a:ea typeface="Arial Bold"/>
                <a:cs typeface="Arial Bold"/>
                <a:sym typeface="Arial Bold"/>
              </a:rPr>
              <a:t>Annual changes were uneven</a:t>
            </a:r>
          </a:p>
        </p:txBody>
      </p:sp>
      <p:sp>
        <p:nvSpPr>
          <p:cNvPr name="TextBox 9" id="9"/>
          <p:cNvSpPr txBox="true"/>
          <p:nvPr/>
        </p:nvSpPr>
        <p:spPr>
          <a:xfrm rot="0">
            <a:off x="810578" y="8843010"/>
            <a:ext cx="7922895" cy="1184910"/>
          </a:xfrm>
          <a:prstGeom prst="rect">
            <a:avLst/>
          </a:prstGeom>
        </p:spPr>
        <p:txBody>
          <a:bodyPr anchor="t" rtlCol="false" tIns="0" lIns="0" bIns="0" rIns="0">
            <a:spAutoFit/>
          </a:bodyPr>
          <a:lstStyle/>
          <a:p>
            <a:pPr algn="l">
              <a:lnSpc>
                <a:spcPts val="3104"/>
              </a:lnSpc>
            </a:pPr>
            <a:r>
              <a:rPr lang="en-US" sz="2587">
                <a:solidFill>
                  <a:srgbClr val="163642"/>
                </a:solidFill>
                <a:latin typeface="Arial"/>
                <a:ea typeface="Arial"/>
                <a:cs typeface="Arial"/>
                <a:sym typeface="Arial"/>
              </a:rPr>
              <a:t>Inpatient care and other services rose most. Medicines changed less, so the overall CPI hides differences across services.</a:t>
            </a:r>
          </a:p>
        </p:txBody>
      </p:sp>
      <p:sp>
        <p:nvSpPr>
          <p:cNvPr name="TextBox 10" id="10"/>
          <p:cNvSpPr txBox="true"/>
          <p:nvPr/>
        </p:nvSpPr>
        <p:spPr>
          <a:xfrm rot="0">
            <a:off x="9162098" y="8743950"/>
            <a:ext cx="8281035" cy="1184910"/>
          </a:xfrm>
          <a:prstGeom prst="rect">
            <a:avLst/>
          </a:prstGeom>
        </p:spPr>
        <p:txBody>
          <a:bodyPr anchor="t" rtlCol="false" tIns="0" lIns="0" bIns="0" rIns="0">
            <a:spAutoFit/>
          </a:bodyPr>
          <a:lstStyle/>
          <a:p>
            <a:pPr algn="l">
              <a:lnSpc>
                <a:spcPts val="3104"/>
              </a:lnSpc>
            </a:pPr>
            <a:r>
              <a:rPr lang="en-US" sz="2587">
                <a:solidFill>
                  <a:srgbClr val="163642"/>
                </a:solidFill>
                <a:latin typeface="Arial"/>
                <a:ea typeface="Arial"/>
                <a:cs typeface="Arial"/>
                <a:sym typeface="Arial"/>
              </a:rPr>
              <a:t>Insurance shows a pronounced upward outlier. Outpatient care includes price declines, while medicines cluster near zero.</a:t>
            </a:r>
          </a:p>
        </p:txBody>
      </p:sp>
      <p:sp>
        <p:nvSpPr>
          <p:cNvPr name="TextBox 11" id="11"/>
          <p:cNvSpPr txBox="true"/>
          <p:nvPr/>
        </p:nvSpPr>
        <p:spPr>
          <a:xfrm rot="0">
            <a:off x="720090" y="1264920"/>
            <a:ext cx="16676370" cy="375285"/>
          </a:xfrm>
          <a:prstGeom prst="rect">
            <a:avLst/>
          </a:prstGeom>
        </p:spPr>
        <p:txBody>
          <a:bodyPr anchor="t" rtlCol="false" tIns="0" lIns="0" bIns="0" rIns="0">
            <a:spAutoFit/>
          </a:bodyPr>
          <a:lstStyle/>
          <a:p>
            <a:pPr algn="l">
              <a:lnSpc>
                <a:spcPts val="2565"/>
              </a:lnSpc>
            </a:pPr>
            <a:r>
              <a:rPr lang="en-US" sz="2137">
                <a:solidFill>
                  <a:srgbClr val="526772"/>
                </a:solidFill>
                <a:latin typeface="Arial"/>
                <a:ea typeface="Arial"/>
                <a:cs typeface="Arial"/>
                <a:sym typeface="Arial"/>
              </a:rPr>
              <a:t>The supplied dashboard charts show complementary views of healthcare prices</a:t>
            </a:r>
          </a:p>
        </p:txBody>
      </p:sp>
      <p:sp>
        <p:nvSpPr>
          <p:cNvPr name="TextBox 12" id="12"/>
          <p:cNvSpPr txBox="true"/>
          <p:nvPr/>
        </p:nvSpPr>
        <p:spPr>
          <a:xfrm rot="0">
            <a:off x="691515" y="340995"/>
            <a:ext cx="17380422" cy="645795"/>
          </a:xfrm>
          <a:prstGeom prst="rect">
            <a:avLst/>
          </a:prstGeom>
        </p:spPr>
        <p:txBody>
          <a:bodyPr anchor="t" rtlCol="false" tIns="0" lIns="0" bIns="0" rIns="0">
            <a:spAutoFit/>
          </a:bodyPr>
          <a:lstStyle/>
          <a:p>
            <a:pPr algn="l">
              <a:lnSpc>
                <a:spcPts val="4996"/>
              </a:lnSpc>
            </a:pPr>
            <a:r>
              <a:rPr lang="en-US" sz="4163" b="true">
                <a:solidFill>
                  <a:srgbClr val="163642"/>
                </a:solidFill>
                <a:latin typeface="Arial Bold"/>
                <a:ea typeface="Arial Bold"/>
                <a:cs typeface="Arial Bold"/>
                <a:sym typeface="Arial Bold"/>
              </a:rPr>
              <a:t>Factor 1·</a:t>
            </a:r>
            <a:r>
              <a:rPr lang="en-US" sz="4163" b="true">
                <a:solidFill>
                  <a:srgbClr val="163642"/>
                </a:solidFill>
                <a:latin typeface="Arial Bold"/>
                <a:ea typeface="Arial Bold"/>
                <a:cs typeface="Arial Bold"/>
                <a:sym typeface="Arial Bold"/>
              </a:rPr>
              <a:t>Healthcare: long-run price growth and annual volatility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720090" y="1264920"/>
            <a:ext cx="16676370" cy="375285"/>
          </a:xfrm>
          <a:prstGeom prst="rect">
            <a:avLst/>
          </a:prstGeom>
        </p:spPr>
        <p:txBody>
          <a:bodyPr anchor="t" rtlCol="false" tIns="0" lIns="0" bIns="0" rIns="0">
            <a:spAutoFit/>
          </a:bodyPr>
          <a:lstStyle/>
          <a:p>
            <a:pPr algn="l">
              <a:lnSpc>
                <a:spcPts val="2565"/>
              </a:lnSpc>
            </a:pPr>
            <a:r>
              <a:rPr lang="en-US" sz="2137">
                <a:solidFill>
                  <a:srgbClr val="526772"/>
                </a:solidFill>
                <a:latin typeface="Arial"/>
                <a:ea typeface="Arial"/>
                <a:cs typeface="Arial"/>
                <a:sym typeface="Arial"/>
              </a:rPr>
              <a:t>Household survey years and government expenditure per person</a:t>
            </a:r>
          </a:p>
        </p:txBody>
      </p:sp>
      <p:sp>
        <p:nvSpPr>
          <p:cNvPr name="TextBox 4" id="4"/>
          <p:cNvSpPr txBox="true"/>
          <p:nvPr/>
        </p:nvSpPr>
        <p:spPr>
          <a:xfrm rot="0">
            <a:off x="748665" y="1926908"/>
            <a:ext cx="8103870" cy="427672"/>
          </a:xfrm>
          <a:prstGeom prst="rect">
            <a:avLst/>
          </a:prstGeom>
        </p:spPr>
        <p:txBody>
          <a:bodyPr anchor="t" rtlCol="false" tIns="0" lIns="0" bIns="0" rIns="0">
            <a:spAutoFit/>
          </a:bodyPr>
          <a:lstStyle/>
          <a:p>
            <a:pPr algn="l">
              <a:lnSpc>
                <a:spcPts val="3375"/>
              </a:lnSpc>
            </a:pPr>
            <a:r>
              <a:rPr lang="en-US" sz="2812" b="true">
                <a:solidFill>
                  <a:srgbClr val="163642"/>
                </a:solidFill>
                <a:latin typeface="Arial Bold"/>
                <a:ea typeface="Arial Bold"/>
                <a:cs typeface="Arial Bold"/>
                <a:sym typeface="Arial Bold"/>
              </a:rPr>
              <a:t>Household monthly spending</a:t>
            </a:r>
          </a:p>
        </p:txBody>
      </p:sp>
      <p:sp>
        <p:nvSpPr>
          <p:cNvPr name="TextBox 5" id="5"/>
          <p:cNvSpPr txBox="true"/>
          <p:nvPr/>
        </p:nvSpPr>
        <p:spPr>
          <a:xfrm rot="0">
            <a:off x="9521190" y="1926908"/>
            <a:ext cx="7800231" cy="447675"/>
          </a:xfrm>
          <a:prstGeom prst="rect">
            <a:avLst/>
          </a:prstGeom>
        </p:spPr>
        <p:txBody>
          <a:bodyPr anchor="t" rtlCol="false" tIns="0" lIns="0" bIns="0" rIns="0">
            <a:spAutoFit/>
          </a:bodyPr>
          <a:lstStyle/>
          <a:p>
            <a:pPr algn="l">
              <a:lnSpc>
                <a:spcPts val="3375"/>
              </a:lnSpc>
            </a:pPr>
            <a:r>
              <a:rPr lang="en-US" sz="2812" b="true">
                <a:solidFill>
                  <a:srgbClr val="163642"/>
                </a:solidFill>
                <a:latin typeface="Arial Bold"/>
                <a:ea typeface="Arial Bold"/>
                <a:cs typeface="Arial Bold"/>
                <a:sym typeface="Arial Bold"/>
              </a:rPr>
              <a:t>Government spending(Healthcare) per person</a:t>
            </a:r>
          </a:p>
        </p:txBody>
      </p:sp>
      <p:grpSp>
        <p:nvGrpSpPr>
          <p:cNvPr name="Group 6" id="6"/>
          <p:cNvGrpSpPr/>
          <p:nvPr/>
        </p:nvGrpSpPr>
        <p:grpSpPr>
          <a:xfrm rot="0">
            <a:off x="428625" y="2619156"/>
            <a:ext cx="8715375" cy="4120001"/>
            <a:chOff x="0" y="0"/>
            <a:chExt cx="11620500" cy="5493334"/>
          </a:xfrm>
        </p:grpSpPr>
        <p:sp>
          <p:nvSpPr>
            <p:cNvPr name="Freeform 7" id="7"/>
            <p:cNvSpPr/>
            <p:nvPr/>
          </p:nvSpPr>
          <p:spPr>
            <a:xfrm flipH="false" flipV="false" rot="0">
              <a:off x="0" y="0"/>
              <a:ext cx="11620500" cy="5493385"/>
            </a:xfrm>
            <a:custGeom>
              <a:avLst/>
              <a:gdLst/>
              <a:ahLst/>
              <a:cxnLst/>
              <a:rect r="r" b="b" t="t" l="l"/>
              <a:pathLst>
                <a:path h="5493385" w="11620500">
                  <a:moveTo>
                    <a:pt x="0" y="0"/>
                  </a:moveTo>
                  <a:lnTo>
                    <a:pt x="11620500" y="0"/>
                  </a:lnTo>
                  <a:lnTo>
                    <a:pt x="11620500" y="5493385"/>
                  </a:lnTo>
                  <a:lnTo>
                    <a:pt x="0" y="5493385"/>
                  </a:lnTo>
                  <a:lnTo>
                    <a:pt x="0" y="0"/>
                  </a:lnTo>
                  <a:close/>
                </a:path>
              </a:pathLst>
            </a:custGeom>
            <a:blipFill>
              <a:blip r:embed="rId4"/>
              <a:stretch>
                <a:fillRect l="0" t="0" r="0" b="0"/>
              </a:stretch>
            </a:blipFill>
          </p:spPr>
        </p:sp>
      </p:grpSp>
      <p:grpSp>
        <p:nvGrpSpPr>
          <p:cNvPr name="Group 8" id="8"/>
          <p:cNvGrpSpPr/>
          <p:nvPr/>
        </p:nvGrpSpPr>
        <p:grpSpPr>
          <a:xfrm rot="0">
            <a:off x="9229725" y="2619156"/>
            <a:ext cx="8715375" cy="4120001"/>
            <a:chOff x="0" y="0"/>
            <a:chExt cx="11620500" cy="5493334"/>
          </a:xfrm>
        </p:grpSpPr>
        <p:sp>
          <p:nvSpPr>
            <p:cNvPr name="Freeform 9" id="9"/>
            <p:cNvSpPr/>
            <p:nvPr/>
          </p:nvSpPr>
          <p:spPr>
            <a:xfrm flipH="false" flipV="false" rot="0">
              <a:off x="0" y="0"/>
              <a:ext cx="11620500" cy="5493385"/>
            </a:xfrm>
            <a:custGeom>
              <a:avLst/>
              <a:gdLst/>
              <a:ahLst/>
              <a:cxnLst/>
              <a:rect r="r" b="b" t="t" l="l"/>
              <a:pathLst>
                <a:path h="5493385" w="11620500">
                  <a:moveTo>
                    <a:pt x="0" y="0"/>
                  </a:moveTo>
                  <a:lnTo>
                    <a:pt x="11620500" y="0"/>
                  </a:lnTo>
                  <a:lnTo>
                    <a:pt x="11620500" y="5493385"/>
                  </a:lnTo>
                  <a:lnTo>
                    <a:pt x="0" y="5493385"/>
                  </a:lnTo>
                  <a:lnTo>
                    <a:pt x="0" y="0"/>
                  </a:lnTo>
                  <a:close/>
                </a:path>
              </a:pathLst>
            </a:custGeom>
            <a:blipFill>
              <a:blip r:embed="rId5"/>
              <a:stretch>
                <a:fillRect l="0" t="0" r="0" b="0"/>
              </a:stretch>
            </a:blipFill>
          </p:spPr>
        </p:sp>
      </p:grpSp>
      <p:sp>
        <p:nvSpPr>
          <p:cNvPr name="TextBox 10" id="10"/>
          <p:cNvSpPr txBox="true"/>
          <p:nvPr/>
        </p:nvSpPr>
        <p:spPr>
          <a:xfrm rot="0">
            <a:off x="9592628" y="7856220"/>
            <a:ext cx="7675245" cy="1284923"/>
          </a:xfrm>
          <a:prstGeom prst="rect">
            <a:avLst/>
          </a:prstGeom>
        </p:spPr>
        <p:txBody>
          <a:bodyPr anchor="t" rtlCol="false" tIns="0" lIns="0" bIns="0" rIns="0">
            <a:spAutoFit/>
          </a:bodyPr>
          <a:lstStyle/>
          <a:p>
            <a:pPr algn="l">
              <a:lnSpc>
                <a:spcPts val="3375"/>
              </a:lnSpc>
            </a:pPr>
            <a:r>
              <a:rPr lang="en-US" sz="2812">
                <a:solidFill>
                  <a:srgbClr val="163642"/>
                </a:solidFill>
                <a:latin typeface="Arial"/>
                <a:ea typeface="Arial"/>
                <a:cs typeface="Arial"/>
                <a:sym typeface="Arial"/>
              </a:rPr>
              <a:t>Despite rising government healthcare spending, the adequacy of support for reducing childbearing costs remains in question.</a:t>
            </a:r>
          </a:p>
        </p:txBody>
      </p:sp>
      <p:sp>
        <p:nvSpPr>
          <p:cNvPr name="TextBox 11" id="11"/>
          <p:cNvSpPr txBox="true"/>
          <p:nvPr/>
        </p:nvSpPr>
        <p:spPr>
          <a:xfrm rot="0">
            <a:off x="691515" y="340995"/>
            <a:ext cx="16904970" cy="784860"/>
          </a:xfrm>
          <a:prstGeom prst="rect">
            <a:avLst/>
          </a:prstGeom>
        </p:spPr>
        <p:txBody>
          <a:bodyPr anchor="t" rtlCol="false" tIns="0" lIns="0" bIns="0" rIns="0">
            <a:spAutoFit/>
          </a:bodyPr>
          <a:lstStyle/>
          <a:p>
            <a:pPr algn="l">
              <a:lnSpc>
                <a:spcPts val="4860"/>
              </a:lnSpc>
            </a:pPr>
            <a:r>
              <a:rPr lang="en-US" sz="4050" b="true">
                <a:solidFill>
                  <a:srgbClr val="163642"/>
                </a:solidFill>
                <a:latin typeface="Arial Bold"/>
                <a:ea typeface="Arial Bold"/>
                <a:cs typeface="Arial Bold"/>
                <a:sym typeface="Arial Bold"/>
              </a:rPr>
              <a:t>Healthcare: spending increased at home and in the public sector</a:t>
            </a:r>
          </a:p>
        </p:txBody>
      </p:sp>
      <p:sp>
        <p:nvSpPr>
          <p:cNvPr name="TextBox 12" id="12"/>
          <p:cNvSpPr txBox="true"/>
          <p:nvPr/>
        </p:nvSpPr>
        <p:spPr>
          <a:xfrm rot="0">
            <a:off x="777240" y="7098982"/>
            <a:ext cx="7960995" cy="527685"/>
          </a:xfrm>
          <a:prstGeom prst="rect">
            <a:avLst/>
          </a:prstGeom>
        </p:spPr>
        <p:txBody>
          <a:bodyPr anchor="t" rtlCol="false" tIns="0" lIns="0" bIns="0" rIns="0">
            <a:spAutoFit/>
          </a:bodyPr>
          <a:lstStyle/>
          <a:p>
            <a:pPr algn="l">
              <a:lnSpc>
                <a:spcPts val="3644"/>
              </a:lnSpc>
            </a:pPr>
            <a:r>
              <a:rPr lang="en-US" sz="3037" b="true">
                <a:solidFill>
                  <a:srgbClr val="168579"/>
                </a:solidFill>
                <a:latin typeface="Arial Bold"/>
                <a:ea typeface="Arial Bold"/>
                <a:cs typeface="Arial Bold"/>
                <a:sym typeface="Arial Bold"/>
              </a:rPr>
              <a:t>A larger share of family budgets</a:t>
            </a:r>
          </a:p>
        </p:txBody>
      </p:sp>
      <p:sp>
        <p:nvSpPr>
          <p:cNvPr name="TextBox 13" id="13"/>
          <p:cNvSpPr txBox="true"/>
          <p:nvPr/>
        </p:nvSpPr>
        <p:spPr>
          <a:xfrm rot="0">
            <a:off x="777240" y="7856220"/>
            <a:ext cx="7746682" cy="1356360"/>
          </a:xfrm>
          <a:prstGeom prst="rect">
            <a:avLst/>
          </a:prstGeom>
        </p:spPr>
        <p:txBody>
          <a:bodyPr anchor="t" rtlCol="false" tIns="0" lIns="0" bIns="0" rIns="0">
            <a:spAutoFit/>
          </a:bodyPr>
          <a:lstStyle/>
          <a:p>
            <a:pPr algn="l">
              <a:lnSpc>
                <a:spcPts val="3240"/>
              </a:lnSpc>
            </a:pPr>
            <a:r>
              <a:rPr lang="en-US" sz="2700">
                <a:solidFill>
                  <a:srgbClr val="163642"/>
                </a:solidFill>
                <a:latin typeface="Arial"/>
                <a:ea typeface="Arial"/>
                <a:cs typeface="Arial"/>
                <a:sym typeface="Arial"/>
              </a:rPr>
              <a:t>Healthcare absorbed a greater spending share across survey waves, suggesting more pressure on household budgets.</a:t>
            </a:r>
          </a:p>
        </p:txBody>
      </p:sp>
      <p:sp>
        <p:nvSpPr>
          <p:cNvPr name="TextBox 14" id="14"/>
          <p:cNvSpPr txBox="true"/>
          <p:nvPr/>
        </p:nvSpPr>
        <p:spPr>
          <a:xfrm rot="0">
            <a:off x="9592628" y="7098982"/>
            <a:ext cx="7960995" cy="527685"/>
          </a:xfrm>
          <a:prstGeom prst="rect">
            <a:avLst/>
          </a:prstGeom>
        </p:spPr>
        <p:txBody>
          <a:bodyPr anchor="t" rtlCol="false" tIns="0" lIns="0" bIns="0" rIns="0">
            <a:spAutoFit/>
          </a:bodyPr>
          <a:lstStyle/>
          <a:p>
            <a:pPr algn="l">
              <a:lnSpc>
                <a:spcPts val="3644"/>
              </a:lnSpc>
            </a:pPr>
            <a:r>
              <a:rPr lang="en-US" sz="3037" b="true">
                <a:solidFill>
                  <a:srgbClr val="168579"/>
                </a:solidFill>
                <a:latin typeface="Arial Bold"/>
                <a:ea typeface="Arial Bold"/>
                <a:cs typeface="Arial Bold"/>
                <a:sym typeface="Arial Bold"/>
              </a:rPr>
              <a:t>Higher public spending has limits</a:t>
            </a:r>
          </a:p>
        </p:txBody>
      </p:sp>
      <p:sp>
        <p:nvSpPr>
          <p:cNvPr name="TextBox 15" id="15"/>
          <p:cNvSpPr txBox="true"/>
          <p:nvPr/>
        </p:nvSpPr>
        <p:spPr>
          <a:xfrm rot="0">
            <a:off x="777240" y="9351645"/>
            <a:ext cx="16676370" cy="275272"/>
          </a:xfrm>
          <a:prstGeom prst="rect">
            <a:avLst/>
          </a:prstGeom>
        </p:spPr>
        <p:txBody>
          <a:bodyPr anchor="t" rtlCol="false" tIns="0" lIns="0" bIns="0" rIns="0">
            <a:spAutoFit/>
          </a:bodyPr>
          <a:lstStyle/>
          <a:p>
            <a:pPr algn="l">
              <a:lnSpc>
                <a:spcPts val="2430"/>
              </a:lnSpc>
            </a:pPr>
            <a:r>
              <a:rPr lang="en-US" sz="2025">
                <a:solidFill>
                  <a:srgbClr val="526772"/>
                </a:solidFill>
                <a:latin typeface="Arial"/>
                <a:ea typeface="Arial"/>
                <a:cs typeface="Arial"/>
                <a:sym typeface="Arial"/>
              </a:rPr>
              <a:t>Nominal values. Household data cover all households. Government series end in FY2023.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2167274" y="4900244"/>
            <a:ext cx="9245252" cy="3575101"/>
          </a:xfrm>
          <a:custGeom>
            <a:avLst/>
            <a:gdLst/>
            <a:ahLst/>
            <a:cxnLst/>
            <a:rect r="r" b="b" t="t" l="l"/>
            <a:pathLst>
              <a:path h="3575101" w="9245252">
                <a:moveTo>
                  <a:pt x="0" y="0"/>
                </a:moveTo>
                <a:lnTo>
                  <a:pt x="9245252" y="0"/>
                </a:lnTo>
                <a:lnTo>
                  <a:pt x="9245252" y="3575101"/>
                </a:lnTo>
                <a:lnTo>
                  <a:pt x="0" y="3575101"/>
                </a:lnTo>
                <a:lnTo>
                  <a:pt x="0" y="0"/>
                </a:lnTo>
                <a:close/>
              </a:path>
            </a:pathLst>
          </a:custGeom>
          <a:blipFill>
            <a:blip r:embed="rId4"/>
            <a:stretch>
              <a:fillRect l="0" t="-2983" r="0" b="-7037"/>
            </a:stretch>
          </a:blipFill>
        </p:spPr>
      </p:sp>
      <p:sp>
        <p:nvSpPr>
          <p:cNvPr name="Freeform 4" id="4"/>
          <p:cNvSpPr/>
          <p:nvPr/>
        </p:nvSpPr>
        <p:spPr>
          <a:xfrm flipH="false" flipV="false" rot="0">
            <a:off x="2167274" y="1180677"/>
            <a:ext cx="9245252" cy="3451330"/>
          </a:xfrm>
          <a:custGeom>
            <a:avLst/>
            <a:gdLst/>
            <a:ahLst/>
            <a:cxnLst/>
            <a:rect r="r" b="b" t="t" l="l"/>
            <a:pathLst>
              <a:path h="3451330" w="9245252">
                <a:moveTo>
                  <a:pt x="0" y="0"/>
                </a:moveTo>
                <a:lnTo>
                  <a:pt x="9245252" y="0"/>
                </a:lnTo>
                <a:lnTo>
                  <a:pt x="9245252" y="3451331"/>
                </a:lnTo>
                <a:lnTo>
                  <a:pt x="0" y="3451331"/>
                </a:lnTo>
                <a:lnTo>
                  <a:pt x="0" y="0"/>
                </a:lnTo>
                <a:close/>
              </a:path>
            </a:pathLst>
          </a:custGeom>
          <a:blipFill>
            <a:blip r:embed="rId5"/>
            <a:stretch>
              <a:fillRect l="-362" t="-10049" r="0" b="-5117"/>
            </a:stretch>
          </a:blipFill>
        </p:spPr>
      </p:sp>
      <p:sp>
        <p:nvSpPr>
          <p:cNvPr name="TextBox 5" id="5"/>
          <p:cNvSpPr txBox="true"/>
          <p:nvPr/>
        </p:nvSpPr>
        <p:spPr>
          <a:xfrm rot="0">
            <a:off x="691515" y="340995"/>
            <a:ext cx="16904970" cy="784860"/>
          </a:xfrm>
          <a:prstGeom prst="rect">
            <a:avLst/>
          </a:prstGeom>
        </p:spPr>
        <p:txBody>
          <a:bodyPr anchor="t" rtlCol="false" tIns="0" lIns="0" bIns="0" rIns="0">
            <a:spAutoFit/>
          </a:bodyPr>
          <a:lstStyle/>
          <a:p>
            <a:pPr algn="l">
              <a:lnSpc>
                <a:spcPts val="4860"/>
              </a:lnSpc>
            </a:pPr>
            <a:r>
              <a:rPr lang="en-US" sz="4050" b="true">
                <a:solidFill>
                  <a:srgbClr val="163642"/>
                </a:solidFill>
                <a:latin typeface="Arial Bold"/>
                <a:ea typeface="Arial Bold"/>
                <a:cs typeface="Arial Bold"/>
                <a:sym typeface="Arial Bold"/>
              </a:rPr>
              <a:t>Healthcare and TFR: a strong level association needs caution</a:t>
            </a:r>
          </a:p>
        </p:txBody>
      </p:sp>
      <p:sp>
        <p:nvSpPr>
          <p:cNvPr name="TextBox 6" id="6"/>
          <p:cNvSpPr txBox="true"/>
          <p:nvPr/>
        </p:nvSpPr>
        <p:spPr>
          <a:xfrm rot="0">
            <a:off x="12346305" y="1383982"/>
            <a:ext cx="4154226" cy="796033"/>
          </a:xfrm>
          <a:prstGeom prst="rect">
            <a:avLst/>
          </a:prstGeom>
        </p:spPr>
        <p:txBody>
          <a:bodyPr anchor="t" rtlCol="false" tIns="0" lIns="0" bIns="0" rIns="0">
            <a:spAutoFit/>
          </a:bodyPr>
          <a:lstStyle/>
          <a:p>
            <a:pPr algn="l">
              <a:lnSpc>
                <a:spcPts val="5568"/>
              </a:lnSpc>
            </a:pPr>
            <a:r>
              <a:rPr lang="en-US" sz="4640" b="true">
                <a:solidFill>
                  <a:srgbClr val="CD6A3C"/>
                </a:solidFill>
                <a:latin typeface="Arial Bold"/>
                <a:ea typeface="Arial Bold"/>
                <a:cs typeface="Arial Bold"/>
                <a:sym typeface="Arial Bold"/>
              </a:rPr>
              <a:t>r = −0.84</a:t>
            </a:r>
          </a:p>
        </p:txBody>
      </p:sp>
      <p:sp>
        <p:nvSpPr>
          <p:cNvPr name="TextBox 7" id="7"/>
          <p:cNvSpPr txBox="true"/>
          <p:nvPr/>
        </p:nvSpPr>
        <p:spPr>
          <a:xfrm rot="0">
            <a:off x="12346305" y="2712720"/>
            <a:ext cx="3318510" cy="1123950"/>
          </a:xfrm>
          <a:prstGeom prst="rect">
            <a:avLst/>
          </a:prstGeom>
        </p:spPr>
        <p:txBody>
          <a:bodyPr anchor="t" rtlCol="false" tIns="0" lIns="0" bIns="0" rIns="0">
            <a:spAutoFit/>
          </a:bodyPr>
          <a:lstStyle/>
          <a:p>
            <a:pPr algn="l">
              <a:lnSpc>
                <a:spcPts val="2970"/>
              </a:lnSpc>
            </a:pPr>
            <a:r>
              <a:rPr lang="en-US" sz="2475">
                <a:solidFill>
                  <a:srgbClr val="526772"/>
                </a:solidFill>
                <a:latin typeface="Arial"/>
                <a:ea typeface="Arial"/>
                <a:cs typeface="Arial"/>
                <a:sym typeface="Arial"/>
              </a:rPr>
              <a:t>Higher-price years generally coincide with lower TFR.</a:t>
            </a:r>
          </a:p>
        </p:txBody>
      </p:sp>
      <p:sp>
        <p:nvSpPr>
          <p:cNvPr name="TextBox 8" id="8"/>
          <p:cNvSpPr txBox="true"/>
          <p:nvPr/>
        </p:nvSpPr>
        <p:spPr>
          <a:xfrm rot="0">
            <a:off x="12346305" y="5246370"/>
            <a:ext cx="4531995" cy="865823"/>
          </a:xfrm>
          <a:prstGeom prst="rect">
            <a:avLst/>
          </a:prstGeom>
        </p:spPr>
        <p:txBody>
          <a:bodyPr anchor="t" rtlCol="false" tIns="0" lIns="0" bIns="0" rIns="0">
            <a:spAutoFit/>
          </a:bodyPr>
          <a:lstStyle/>
          <a:p>
            <a:pPr algn="l">
              <a:lnSpc>
                <a:spcPts val="6075"/>
              </a:lnSpc>
            </a:pPr>
            <a:r>
              <a:rPr lang="en-US" sz="5062" b="true">
                <a:solidFill>
                  <a:srgbClr val="168579"/>
                </a:solidFill>
                <a:latin typeface="Arial Bold"/>
                <a:ea typeface="Arial Bold"/>
                <a:cs typeface="Arial Bold"/>
                <a:sym typeface="Arial Bold"/>
              </a:rPr>
              <a:t>r = −0.03</a:t>
            </a:r>
          </a:p>
        </p:txBody>
      </p:sp>
      <p:sp>
        <p:nvSpPr>
          <p:cNvPr name="TextBox 9" id="9"/>
          <p:cNvSpPr txBox="true"/>
          <p:nvPr/>
        </p:nvSpPr>
        <p:spPr>
          <a:xfrm rot="0">
            <a:off x="12346305" y="6537355"/>
            <a:ext cx="3235642" cy="1123950"/>
          </a:xfrm>
          <a:prstGeom prst="rect">
            <a:avLst/>
          </a:prstGeom>
        </p:spPr>
        <p:txBody>
          <a:bodyPr anchor="t" rtlCol="false" tIns="0" lIns="0" bIns="0" rIns="0">
            <a:spAutoFit/>
          </a:bodyPr>
          <a:lstStyle/>
          <a:p>
            <a:pPr algn="l">
              <a:lnSpc>
                <a:spcPts val="2970"/>
              </a:lnSpc>
            </a:pPr>
            <a:r>
              <a:rPr lang="en-US" sz="2475">
                <a:solidFill>
                  <a:srgbClr val="526772"/>
                </a:solidFill>
                <a:latin typeface="Arial"/>
                <a:ea typeface="Arial"/>
                <a:cs typeface="Arial"/>
                <a:sym typeface="Arial"/>
              </a:rPr>
              <a:t>Year-to-year movements show little linear association</a:t>
            </a:r>
          </a:p>
        </p:txBody>
      </p:sp>
      <p:sp>
        <p:nvSpPr>
          <p:cNvPr name="TextBox 10" id="10"/>
          <p:cNvSpPr txBox="true"/>
          <p:nvPr/>
        </p:nvSpPr>
        <p:spPr>
          <a:xfrm rot="0">
            <a:off x="805815" y="8576310"/>
            <a:ext cx="16676370" cy="499110"/>
          </a:xfrm>
          <a:prstGeom prst="rect">
            <a:avLst/>
          </a:prstGeom>
        </p:spPr>
        <p:txBody>
          <a:bodyPr anchor="t" rtlCol="false" tIns="0" lIns="0" bIns="0" rIns="0">
            <a:spAutoFit/>
          </a:bodyPr>
          <a:lstStyle/>
          <a:p>
            <a:pPr algn="l">
              <a:lnSpc>
                <a:spcPts val="3375"/>
              </a:lnSpc>
            </a:pPr>
            <a:r>
              <a:rPr lang="en-US" sz="2812" b="true">
                <a:solidFill>
                  <a:srgbClr val="163642"/>
                </a:solidFill>
                <a:latin typeface="Arial Bold"/>
                <a:ea typeface="Arial Bold"/>
                <a:cs typeface="Arial Bold"/>
                <a:sym typeface="Arial Bold"/>
              </a:rPr>
              <a:t>The negative relationship is much weaker when comparing annual changes.</a:t>
            </a:r>
          </a:p>
        </p:txBody>
      </p:sp>
      <p:sp>
        <p:nvSpPr>
          <p:cNvPr name="TextBox 11" id="11"/>
          <p:cNvSpPr txBox="true"/>
          <p:nvPr/>
        </p:nvSpPr>
        <p:spPr>
          <a:xfrm rot="0">
            <a:off x="805815" y="9065895"/>
            <a:ext cx="17871758" cy="542925"/>
          </a:xfrm>
          <a:prstGeom prst="rect">
            <a:avLst/>
          </a:prstGeom>
        </p:spPr>
        <p:txBody>
          <a:bodyPr anchor="t" rtlCol="false" tIns="0" lIns="0" bIns="0" rIns="0">
            <a:spAutoFit/>
          </a:bodyPr>
          <a:lstStyle/>
          <a:p>
            <a:pPr algn="l">
              <a:lnSpc>
                <a:spcPts val="2970"/>
              </a:lnSpc>
            </a:pPr>
            <a:r>
              <a:rPr lang="en-US" sz="2475">
                <a:solidFill>
                  <a:srgbClr val="526772"/>
                </a:solidFill>
                <a:latin typeface="Arial"/>
                <a:ea typeface="Arial"/>
                <a:cs typeface="Arial"/>
                <a:sym typeface="Arial"/>
              </a:rPr>
              <a:t>Rising healthcare costs may add to expected expense of having children, potentially discouraging or delaying parenthood.</a:t>
            </a:r>
          </a:p>
        </p:txBody>
      </p:sp>
      <p:sp>
        <p:nvSpPr>
          <p:cNvPr name="TextBox 12" id="12"/>
          <p:cNvSpPr txBox="true"/>
          <p:nvPr/>
        </p:nvSpPr>
        <p:spPr>
          <a:xfrm rot="0">
            <a:off x="12346305" y="2170490"/>
            <a:ext cx="3318510" cy="381000"/>
          </a:xfrm>
          <a:prstGeom prst="rect">
            <a:avLst/>
          </a:prstGeom>
        </p:spPr>
        <p:txBody>
          <a:bodyPr anchor="t" rtlCol="false" tIns="0" lIns="0" bIns="0" rIns="0">
            <a:spAutoFit/>
          </a:bodyPr>
          <a:lstStyle/>
          <a:p>
            <a:pPr algn="l">
              <a:lnSpc>
                <a:spcPts val="2970"/>
              </a:lnSpc>
            </a:pPr>
            <a:r>
              <a:rPr lang="en-US" sz="2475">
                <a:solidFill>
                  <a:srgbClr val="526772"/>
                </a:solidFill>
                <a:latin typeface="Arial"/>
                <a:ea typeface="Arial"/>
                <a:cs typeface="Arial"/>
                <a:sym typeface="Arial"/>
              </a:rPr>
              <a:t>p&lt;0.001</a:t>
            </a:r>
          </a:p>
        </p:txBody>
      </p:sp>
      <p:sp>
        <p:nvSpPr>
          <p:cNvPr name="TextBox 13" id="13"/>
          <p:cNvSpPr txBox="true"/>
          <p:nvPr/>
        </p:nvSpPr>
        <p:spPr>
          <a:xfrm rot="0">
            <a:off x="12346305" y="5994430"/>
            <a:ext cx="3318510" cy="381000"/>
          </a:xfrm>
          <a:prstGeom prst="rect">
            <a:avLst/>
          </a:prstGeom>
        </p:spPr>
        <p:txBody>
          <a:bodyPr anchor="t" rtlCol="false" tIns="0" lIns="0" bIns="0" rIns="0">
            <a:spAutoFit/>
          </a:bodyPr>
          <a:lstStyle/>
          <a:p>
            <a:pPr algn="l">
              <a:lnSpc>
                <a:spcPts val="2970"/>
              </a:lnSpc>
            </a:pPr>
            <a:r>
              <a:rPr lang="en-US" sz="2475">
                <a:solidFill>
                  <a:srgbClr val="526772"/>
                </a:solidFill>
                <a:latin typeface="Arial"/>
                <a:ea typeface="Arial"/>
                <a:cs typeface="Arial"/>
                <a:sym typeface="Arial"/>
              </a:rPr>
              <a:t>p=0.918</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1219200" y="3224213"/>
            <a:ext cx="16325088" cy="457200"/>
          </a:xfrm>
          <a:prstGeom prst="rect">
            <a:avLst/>
          </a:prstGeom>
        </p:spPr>
        <p:txBody>
          <a:bodyPr anchor="t" rtlCol="false" tIns="0" lIns="0" bIns="0" rIns="0">
            <a:spAutoFit/>
          </a:bodyPr>
          <a:lstStyle/>
          <a:p>
            <a:pPr algn="l">
              <a:lnSpc>
                <a:spcPts val="2940"/>
              </a:lnSpc>
            </a:pPr>
            <a:r>
              <a:rPr lang="en-US" b="true" sz="2100" spc="299">
                <a:solidFill>
                  <a:srgbClr val="F08A5D"/>
                </a:solidFill>
                <a:latin typeface="IBM Plex Sans Bold"/>
                <a:ea typeface="IBM Plex Sans Bold"/>
                <a:cs typeface="IBM Plex Sans Bold"/>
                <a:sym typeface="IBM Plex Sans Bold"/>
              </a:rPr>
              <a:t>FACTOR 2 · INCOME &amp; INEQUALITY</a:t>
            </a:r>
          </a:p>
        </p:txBody>
      </p:sp>
      <p:sp>
        <p:nvSpPr>
          <p:cNvPr name="TextBox 3" id="3"/>
          <p:cNvSpPr txBox="true"/>
          <p:nvPr/>
        </p:nvSpPr>
        <p:spPr>
          <a:xfrm rot="0">
            <a:off x="1219200" y="4110037"/>
            <a:ext cx="16325088" cy="2166747"/>
          </a:xfrm>
          <a:prstGeom prst="rect">
            <a:avLst/>
          </a:prstGeom>
        </p:spPr>
        <p:txBody>
          <a:bodyPr anchor="t" rtlCol="false" tIns="0" lIns="0" bIns="0" rIns="0">
            <a:spAutoFit/>
          </a:bodyPr>
          <a:lstStyle/>
          <a:p>
            <a:pPr algn="l">
              <a:lnSpc>
                <a:spcPts val="8424"/>
              </a:lnSpc>
            </a:pPr>
            <a:r>
              <a:rPr lang="en-US" sz="7800" b="true">
                <a:solidFill>
                  <a:srgbClr val="F4F1EA"/>
                </a:solidFill>
                <a:latin typeface="Source Serif Pro Bold"/>
                <a:ea typeface="Source Serif Pro Bold"/>
                <a:cs typeface="Source Serif Pro Bold"/>
                <a:sym typeface="Source Serif Pro Bold"/>
              </a:rPr>
              <a:t>Does income explain</a:t>
            </a:r>
          </a:p>
          <a:p>
            <a:pPr algn="l">
              <a:lnSpc>
                <a:spcPts val="8424"/>
              </a:lnSpc>
            </a:pPr>
            <a:r>
              <a:rPr lang="en-US" sz="7800" b="true">
                <a:solidFill>
                  <a:srgbClr val="F4F1EA"/>
                </a:solidFill>
                <a:latin typeface="Source Serif Pro Bold"/>
                <a:ea typeface="Source Serif Pro Bold"/>
                <a:cs typeface="Source Serif Pro Bold"/>
                <a:sym typeface="Source Serif Pro Bold"/>
              </a:rPr>
              <a:t>the falling birth rate?</a:t>
            </a:r>
          </a:p>
        </p:txBody>
      </p:sp>
      <p:sp>
        <p:nvSpPr>
          <p:cNvPr name="TextBox 4" id="4"/>
          <p:cNvSpPr txBox="true"/>
          <p:nvPr/>
        </p:nvSpPr>
        <p:spPr>
          <a:xfrm rot="0">
            <a:off x="1219200" y="6491287"/>
            <a:ext cx="16325088" cy="455295"/>
          </a:xfrm>
          <a:prstGeom prst="rect">
            <a:avLst/>
          </a:prstGeom>
        </p:spPr>
        <p:txBody>
          <a:bodyPr anchor="t" rtlCol="false" tIns="0" lIns="0" bIns="0" rIns="0">
            <a:spAutoFit/>
          </a:bodyPr>
          <a:lstStyle/>
          <a:p>
            <a:pPr algn="l">
              <a:lnSpc>
                <a:spcPts val="3779"/>
              </a:lnSpc>
            </a:pPr>
            <a:r>
              <a:rPr lang="en-US" sz="2700">
                <a:solidFill>
                  <a:srgbClr val="C4C8D2"/>
                </a:solidFill>
                <a:latin typeface="IBM Plex Sans"/>
                <a:ea typeface="IBM Plex Sans"/>
                <a:cs typeface="IBM Plex Sans"/>
                <a:sym typeface="IBM Plex Sans"/>
              </a:rPr>
              <a:t>Income per employed household member &amp; Gini coefficient</a:t>
            </a:r>
          </a:p>
        </p:txBody>
      </p:sp>
      <p:sp>
        <p:nvSpPr>
          <p:cNvPr name="TextBox 5" id="5"/>
          <p:cNvSpPr txBox="true"/>
          <p:nvPr/>
        </p:nvSpPr>
        <p:spPr>
          <a:xfrm rot="0">
            <a:off x="1219200" y="8953500"/>
            <a:ext cx="11772900" cy="365760"/>
          </a:xfrm>
          <a:prstGeom prst="rect">
            <a:avLst/>
          </a:prstGeom>
        </p:spPr>
        <p:txBody>
          <a:bodyPr anchor="t" rtlCol="false" tIns="0" lIns="0" bIns="0" rIns="0">
            <a:spAutoFit/>
          </a:bodyPr>
          <a:lstStyle/>
          <a:p>
            <a:pPr algn="l">
              <a:lnSpc>
                <a:spcPts val="2940"/>
              </a:lnSpc>
            </a:pPr>
            <a:r>
              <a:rPr lang="en-US" sz="2100">
                <a:solidFill>
                  <a:srgbClr val="9AA1B0"/>
                </a:solidFill>
                <a:latin typeface="IBM Plex Sans"/>
                <a:ea typeface="IBM Plex Sans"/>
                <a:cs typeface="IBM Plex Sans"/>
                <a:sym typeface="IBM Plex Sans"/>
              </a:rPr>
              <a:t>Pres</a:t>
            </a:r>
            <a:r>
              <a:rPr lang="en-US" sz="2100">
                <a:solidFill>
                  <a:srgbClr val="9AA1B0"/>
                </a:solidFill>
                <a:latin typeface="IBM Plex Sans"/>
                <a:ea typeface="IBM Plex Sans"/>
                <a:cs typeface="IBM Plex Sans"/>
                <a:sym typeface="IBM Plex Sans"/>
              </a:rPr>
              <a:t>ented by Wang Gaoyang · Group 8</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AF6"/>
        </a:solidFill>
      </p:bgPr>
    </p:bg>
    <p:spTree>
      <p:nvGrpSpPr>
        <p:cNvPr id="1" name=""/>
        <p:cNvGrpSpPr/>
        <p:nvPr/>
      </p:nvGrpSpPr>
      <p:grpSpPr>
        <a:xfrm>
          <a:off x="0" y="0"/>
          <a:ext cx="0" cy="0"/>
          <a:chOff x="0" y="0"/>
          <a:chExt cx="0" cy="0"/>
        </a:xfrm>
      </p:grpSpPr>
      <p:grpSp>
        <p:nvGrpSpPr>
          <p:cNvPr name="Group 2" id="2"/>
          <p:cNvGrpSpPr/>
          <p:nvPr/>
        </p:nvGrpSpPr>
        <p:grpSpPr>
          <a:xfrm rot="0">
            <a:off x="7327445" y="1605915"/>
            <a:ext cx="9136429" cy="3537585"/>
            <a:chOff x="0" y="0"/>
            <a:chExt cx="11684000" cy="4523993"/>
          </a:xfrm>
        </p:grpSpPr>
        <p:sp>
          <p:nvSpPr>
            <p:cNvPr name="Freeform 3" id="3"/>
            <p:cNvSpPr/>
            <p:nvPr/>
          </p:nvSpPr>
          <p:spPr>
            <a:xfrm flipH="false" flipV="false" rot="0">
              <a:off x="0" y="0"/>
              <a:ext cx="11684000" cy="4523993"/>
            </a:xfrm>
            <a:custGeom>
              <a:avLst/>
              <a:gdLst/>
              <a:ahLst/>
              <a:cxnLst/>
              <a:rect r="r" b="b" t="t" l="l"/>
              <a:pathLst>
                <a:path h="4523993" w="11684000">
                  <a:moveTo>
                    <a:pt x="0" y="223802"/>
                  </a:moveTo>
                  <a:cubicBezTo>
                    <a:pt x="0" y="100231"/>
                    <a:pt x="79629" y="0"/>
                    <a:pt x="177800" y="0"/>
                  </a:cubicBezTo>
                  <a:lnTo>
                    <a:pt x="11506200" y="0"/>
                  </a:lnTo>
                  <a:cubicBezTo>
                    <a:pt x="11604371" y="0"/>
                    <a:pt x="11684000" y="100231"/>
                    <a:pt x="11684000" y="223802"/>
                  </a:cubicBezTo>
                  <a:lnTo>
                    <a:pt x="11684000" y="4300191"/>
                  </a:lnTo>
                  <a:cubicBezTo>
                    <a:pt x="11684000" y="4423762"/>
                    <a:pt x="11604371" y="4523993"/>
                    <a:pt x="11506200" y="4523993"/>
                  </a:cubicBezTo>
                  <a:lnTo>
                    <a:pt x="177800" y="4523993"/>
                  </a:lnTo>
                  <a:cubicBezTo>
                    <a:pt x="79629" y="4523993"/>
                    <a:pt x="0" y="4423762"/>
                    <a:pt x="0" y="4300191"/>
                  </a:cubicBezTo>
                  <a:close/>
                </a:path>
              </a:pathLst>
            </a:custGeom>
            <a:solidFill>
              <a:srgbClr val="F1EEE6"/>
            </a:solidFill>
          </p:spPr>
        </p:sp>
      </p:grpSp>
      <p:grpSp>
        <p:nvGrpSpPr>
          <p:cNvPr name="Group 4" id="4"/>
          <p:cNvGrpSpPr/>
          <p:nvPr/>
        </p:nvGrpSpPr>
        <p:grpSpPr>
          <a:xfrm rot="0">
            <a:off x="609600" y="5324475"/>
            <a:ext cx="8953500" cy="3505200"/>
            <a:chOff x="0" y="0"/>
            <a:chExt cx="11938000" cy="4673600"/>
          </a:xfrm>
        </p:grpSpPr>
        <p:sp>
          <p:nvSpPr>
            <p:cNvPr name="Freeform 5" id="5" descr="Three scatter plots of real median income against TFR: levels r −0.83 p &lt; 0.001; yearly change r −0.23 p 0.41; yearly change with TFR one year later r −0.08 p 0.78"/>
            <p:cNvSpPr/>
            <p:nvPr/>
          </p:nvSpPr>
          <p:spPr>
            <a:xfrm flipH="false" flipV="false" rot="0">
              <a:off x="0" y="0"/>
              <a:ext cx="11938000" cy="4673600"/>
            </a:xfrm>
            <a:custGeom>
              <a:avLst/>
              <a:gdLst/>
              <a:ahLst/>
              <a:cxnLst/>
              <a:rect r="r" b="b" t="t" l="l"/>
              <a:pathLst>
                <a:path h="4673600" w="11938000">
                  <a:moveTo>
                    <a:pt x="0" y="0"/>
                  </a:moveTo>
                  <a:lnTo>
                    <a:pt x="11938000" y="0"/>
                  </a:lnTo>
                  <a:lnTo>
                    <a:pt x="11938000" y="4673600"/>
                  </a:lnTo>
                  <a:lnTo>
                    <a:pt x="0" y="4673600"/>
                  </a:lnTo>
                  <a:lnTo>
                    <a:pt x="0" y="0"/>
                  </a:lnTo>
                  <a:close/>
                </a:path>
              </a:pathLst>
            </a:custGeom>
            <a:blipFill>
              <a:blip r:embed="rId2"/>
              <a:stretch>
                <a:fillRect l="0" t="23" r="0" b="23"/>
              </a:stretch>
            </a:blipFill>
          </p:spPr>
        </p:sp>
      </p:grpSp>
      <p:grpSp>
        <p:nvGrpSpPr>
          <p:cNvPr name="Group 6" id="6"/>
          <p:cNvGrpSpPr/>
          <p:nvPr/>
        </p:nvGrpSpPr>
        <p:grpSpPr>
          <a:xfrm rot="0">
            <a:off x="9867900" y="5570934"/>
            <a:ext cx="7810500" cy="3012281"/>
            <a:chOff x="0" y="0"/>
            <a:chExt cx="10414000" cy="4016375"/>
          </a:xfrm>
        </p:grpSpPr>
        <p:sp>
          <p:nvSpPr>
            <p:cNvPr name="Freeform 7" id="7"/>
            <p:cNvSpPr/>
            <p:nvPr/>
          </p:nvSpPr>
          <p:spPr>
            <a:xfrm flipH="false" flipV="false" rot="0">
              <a:off x="0" y="0"/>
              <a:ext cx="10414000" cy="4016375"/>
            </a:xfrm>
            <a:custGeom>
              <a:avLst/>
              <a:gdLst/>
              <a:ahLst/>
              <a:cxnLst/>
              <a:rect r="r" b="b" t="t" l="l"/>
              <a:pathLst>
                <a:path h="4016375" w="10414000">
                  <a:moveTo>
                    <a:pt x="0" y="152400"/>
                  </a:moveTo>
                  <a:cubicBezTo>
                    <a:pt x="0" y="68199"/>
                    <a:pt x="68199" y="0"/>
                    <a:pt x="152400" y="0"/>
                  </a:cubicBezTo>
                  <a:lnTo>
                    <a:pt x="10261600" y="0"/>
                  </a:lnTo>
                  <a:cubicBezTo>
                    <a:pt x="10345801" y="0"/>
                    <a:pt x="10414000" y="68199"/>
                    <a:pt x="10414000" y="152400"/>
                  </a:cubicBezTo>
                  <a:lnTo>
                    <a:pt x="10414000" y="3863975"/>
                  </a:lnTo>
                  <a:cubicBezTo>
                    <a:pt x="10414000" y="3948176"/>
                    <a:pt x="10345801" y="4016375"/>
                    <a:pt x="10261600" y="4016375"/>
                  </a:cubicBezTo>
                  <a:lnTo>
                    <a:pt x="152400" y="4016375"/>
                  </a:lnTo>
                  <a:cubicBezTo>
                    <a:pt x="68199" y="4016375"/>
                    <a:pt x="0" y="3948176"/>
                    <a:pt x="0" y="3863975"/>
                  </a:cubicBezTo>
                  <a:close/>
                </a:path>
              </a:pathLst>
            </a:custGeom>
            <a:solidFill>
              <a:srgbClr val="FFFFFF"/>
            </a:solidFill>
          </p:spPr>
        </p:sp>
      </p:grpSp>
      <p:grpSp>
        <p:nvGrpSpPr>
          <p:cNvPr name="Group 8" id="8"/>
          <p:cNvGrpSpPr/>
          <p:nvPr/>
        </p:nvGrpSpPr>
        <p:grpSpPr>
          <a:xfrm rot="0">
            <a:off x="9867900" y="5570934"/>
            <a:ext cx="7810500" cy="3012281"/>
            <a:chOff x="0" y="0"/>
            <a:chExt cx="10414000" cy="4016375"/>
          </a:xfrm>
        </p:grpSpPr>
        <p:sp>
          <p:nvSpPr>
            <p:cNvPr name="Freeform 9" id="9"/>
            <p:cNvSpPr/>
            <p:nvPr/>
          </p:nvSpPr>
          <p:spPr>
            <a:xfrm flipH="false" flipV="false" rot="0">
              <a:off x="0" y="0"/>
              <a:ext cx="10414000" cy="4016375"/>
            </a:xfrm>
            <a:custGeom>
              <a:avLst/>
              <a:gdLst/>
              <a:ahLst/>
              <a:cxnLst/>
              <a:rect r="r" b="b" t="t" l="l"/>
              <a:pathLst>
                <a:path h="4016375" w="10414000">
                  <a:moveTo>
                    <a:pt x="152400" y="4016375"/>
                  </a:moveTo>
                  <a:cubicBezTo>
                    <a:pt x="68199" y="4016375"/>
                    <a:pt x="0" y="3948176"/>
                    <a:pt x="0" y="3863975"/>
                  </a:cubicBezTo>
                  <a:lnTo>
                    <a:pt x="0" y="152400"/>
                  </a:lnTo>
                  <a:cubicBezTo>
                    <a:pt x="0" y="68199"/>
                    <a:pt x="68199" y="0"/>
                    <a:pt x="152400" y="0"/>
                  </a:cubicBezTo>
                  <a:lnTo>
                    <a:pt x="10261600" y="0"/>
                  </a:lnTo>
                  <a:cubicBezTo>
                    <a:pt x="10345801" y="0"/>
                    <a:pt x="10414000" y="68199"/>
                    <a:pt x="10414000" y="152400"/>
                  </a:cubicBezTo>
                  <a:cubicBezTo>
                    <a:pt x="10414000" y="82296"/>
                    <a:pt x="10357104" y="25400"/>
                    <a:pt x="10287000" y="25400"/>
                  </a:cubicBezTo>
                  <a:lnTo>
                    <a:pt x="152400" y="25400"/>
                  </a:lnTo>
                  <a:cubicBezTo>
                    <a:pt x="82296" y="25400"/>
                    <a:pt x="25400" y="82296"/>
                    <a:pt x="25400" y="152400"/>
                  </a:cubicBezTo>
                  <a:lnTo>
                    <a:pt x="25400" y="3863975"/>
                  </a:lnTo>
                  <a:cubicBezTo>
                    <a:pt x="25400" y="3948176"/>
                    <a:pt x="93599" y="4016375"/>
                    <a:pt x="177800" y="4016375"/>
                  </a:cubicBezTo>
                  <a:close/>
                </a:path>
              </a:pathLst>
            </a:custGeom>
            <a:solidFill>
              <a:srgbClr val="141413">
                <a:alpha val="4706"/>
              </a:srgbClr>
            </a:solidFill>
          </p:spPr>
        </p:sp>
      </p:grpSp>
      <p:grpSp>
        <p:nvGrpSpPr>
          <p:cNvPr name="Group 10" id="10"/>
          <p:cNvGrpSpPr/>
          <p:nvPr/>
        </p:nvGrpSpPr>
        <p:grpSpPr>
          <a:xfrm rot="0">
            <a:off x="9886950" y="5589984"/>
            <a:ext cx="7791450" cy="498872"/>
            <a:chOff x="0" y="0"/>
            <a:chExt cx="10388600" cy="665162"/>
          </a:xfrm>
        </p:grpSpPr>
        <p:sp>
          <p:nvSpPr>
            <p:cNvPr name="Freeform 11" id="11"/>
            <p:cNvSpPr/>
            <p:nvPr/>
          </p:nvSpPr>
          <p:spPr>
            <a:xfrm flipH="false" flipV="false" rot="0">
              <a:off x="0" y="0"/>
              <a:ext cx="10388600" cy="665099"/>
            </a:xfrm>
            <a:custGeom>
              <a:avLst/>
              <a:gdLst/>
              <a:ahLst/>
              <a:cxnLst/>
              <a:rect r="r" b="b" t="t" l="l"/>
              <a:pathLst>
                <a:path h="665099" w="10388600">
                  <a:moveTo>
                    <a:pt x="0" y="127000"/>
                  </a:moveTo>
                  <a:cubicBezTo>
                    <a:pt x="0" y="56896"/>
                    <a:pt x="56896" y="0"/>
                    <a:pt x="127000" y="0"/>
                  </a:cubicBezTo>
                  <a:lnTo>
                    <a:pt x="10236200" y="0"/>
                  </a:lnTo>
                  <a:cubicBezTo>
                    <a:pt x="10320401" y="0"/>
                    <a:pt x="10388600" y="68199"/>
                    <a:pt x="10388600" y="152400"/>
                  </a:cubicBezTo>
                  <a:lnTo>
                    <a:pt x="10388600" y="665099"/>
                  </a:lnTo>
                  <a:lnTo>
                    <a:pt x="0" y="665099"/>
                  </a:lnTo>
                  <a:close/>
                </a:path>
              </a:pathLst>
            </a:custGeom>
            <a:solidFill>
              <a:srgbClr val="ECECEC"/>
            </a:solidFill>
          </p:spPr>
        </p:sp>
      </p:grpSp>
      <p:graphicFrame>
        <p:nvGraphicFramePr>
          <p:cNvPr name="Table 12" id="12"/>
          <p:cNvGraphicFramePr>
            <a:graphicFrameLocks noGrp="true"/>
          </p:cNvGraphicFramePr>
          <p:nvPr/>
        </p:nvGraphicFramePr>
        <p:xfrm>
          <a:off x="9886950" y="5589984"/>
          <a:ext cx="7753350" cy="2978032"/>
        </p:xfrm>
        <a:graphic>
          <a:graphicData uri="http://schemas.openxmlformats.org/drawingml/2006/table">
            <a:tbl>
              <a:tblPr/>
              <a:tblGrid>
                <a:gridCol w="2776224"/>
                <a:gridCol w="2488563"/>
                <a:gridCol w="2488563"/>
              </a:tblGrid>
              <a:tr h="486813">
                <a:tc>
                  <a:txBody>
                    <a:bodyPr anchor="t" rtlCol="false"/>
                    <a:lstStyle/>
                    <a:p>
                      <a:pPr algn="l">
                        <a:lnSpc>
                          <a:spcPts val="2520"/>
                        </a:lnSpc>
                        <a:defRPr/>
                      </a:pPr>
                      <a:r>
                        <a:rPr lang="en-US" sz="1800" b="true">
                          <a:solidFill>
                            <a:srgbClr val="1D2433"/>
                          </a:solidFill>
                          <a:latin typeface="IBM Plex Sans Bold"/>
                          <a:ea typeface="IBM Plex Sans Bold"/>
                          <a:cs typeface="IBM Plex Sans Bold"/>
                          <a:sym typeface="IBM Plex Sans Bold"/>
                        </a:rPr>
                        <a:t>Correlation </a:t>
                      </a:r>
                      <a:r>
                        <a:rPr lang="en-US" sz="1800" b="true">
                          <a:solidFill>
                            <a:srgbClr val="1D2433"/>
                          </a:solidFill>
                          <a:latin typeface="IBM Plex Sans Bold"/>
                          <a:ea typeface="IBM Plex Sans Bold"/>
                          <a:cs typeface="IBM Plex Sans Bold"/>
                          <a:sym typeface="IBM Plex Sans Bold"/>
                        </a:rPr>
                        <a:t>r (p) vs TFR</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c>
                  <a:txBody>
                    <a:bodyPr anchor="t" rtlCol="false"/>
                    <a:lstStyle/>
                    <a:p>
                      <a:pPr algn="r">
                        <a:lnSpc>
                          <a:spcPts val="2520"/>
                        </a:lnSpc>
                        <a:defRPr/>
                      </a:pPr>
                      <a:r>
                        <a:rPr lang="en-US" sz="1800" b="true">
                          <a:solidFill>
                            <a:srgbClr val="1D2433"/>
                          </a:solidFill>
                          <a:latin typeface="IBM Plex Sans Bold"/>
                          <a:ea typeface="IBM Plex Sans Bold"/>
                          <a:cs typeface="IBM Plex Sans Bold"/>
                          <a:sym typeface="IBM Plex Sans Bold"/>
                        </a:rPr>
                        <a:t>Median, nominal</a:t>
                      </a:r>
                      <a:endParaRPr lang="en-US" sz="1100"/>
                    </a:p>
                  </a:txBody>
                  <a:tcPr marL="53340" marR="53340" marT="53340" marB="5334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c>
                  <a:txBody>
                    <a:bodyPr anchor="t" rtlCol="false"/>
                    <a:lstStyle/>
                    <a:p>
                      <a:pPr algn="r">
                        <a:lnSpc>
                          <a:spcPts val="2520"/>
                        </a:lnSpc>
                        <a:defRPr/>
                      </a:pPr>
                      <a:r>
                        <a:rPr lang="en-US" sz="1800" b="true">
                          <a:solidFill>
                            <a:srgbClr val="1D2433"/>
                          </a:solidFill>
                          <a:latin typeface="IBM Plex Sans Bold"/>
                          <a:ea typeface="IBM Plex Sans Bold"/>
                          <a:cs typeface="IBM Plex Sans Bold"/>
                          <a:sym typeface="IBM Plex Sans Bold"/>
                        </a:rPr>
                        <a:t>Median, real</a:t>
                      </a:r>
                      <a:endParaRPr lang="en-US" sz="1100"/>
                    </a:p>
                  </a:txBody>
                  <a:tcPr marL="53340" marR="53340" marT="53340" marB="5334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r>
              <a:tr h="498244">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Levels</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−0.88 (&lt;0.001)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−0.83 (&lt;0.001)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4">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−0.29 (0.29)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−0.23 (0.41)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4">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−0.20 (0.49)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−0.08 (0.78)</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4">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+0.11 (0.73)</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+0.31 (0.31)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4">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−0.09 (0.78)</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+0.07 (0.83)</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Freeform 13" id="13"/>
          <p:cNvSpPr/>
          <p:nvPr/>
        </p:nvSpPr>
        <p:spPr>
          <a:xfrm flipH="false" flipV="false" rot="0">
            <a:off x="1028700" y="1479232"/>
            <a:ext cx="5473762" cy="3790950"/>
          </a:xfrm>
          <a:custGeom>
            <a:avLst/>
            <a:gdLst/>
            <a:ahLst/>
            <a:cxnLst/>
            <a:rect r="r" b="b" t="t" l="l"/>
            <a:pathLst>
              <a:path h="3790950" w="5473762">
                <a:moveTo>
                  <a:pt x="0" y="0"/>
                </a:moveTo>
                <a:lnTo>
                  <a:pt x="5473762" y="0"/>
                </a:lnTo>
                <a:lnTo>
                  <a:pt x="5473762" y="3790950"/>
                </a:lnTo>
                <a:lnTo>
                  <a:pt x="0" y="3790950"/>
                </a:lnTo>
                <a:lnTo>
                  <a:pt x="0" y="0"/>
                </a:lnTo>
                <a:close/>
              </a:path>
            </a:pathLst>
          </a:custGeom>
          <a:blipFill>
            <a:blip r:embed="rId3"/>
            <a:stretch>
              <a:fillRect l="0" t="0" r="0" b="0"/>
            </a:stretch>
          </a:blipFill>
        </p:spPr>
      </p:sp>
      <p:sp>
        <p:nvSpPr>
          <p:cNvPr name="TextBox 14" id="14"/>
          <p:cNvSpPr txBox="true"/>
          <p:nvPr/>
        </p:nvSpPr>
        <p:spPr>
          <a:xfrm rot="0">
            <a:off x="609600" y="419100"/>
            <a:ext cx="17580864" cy="390525"/>
          </a:xfrm>
          <a:prstGeom prst="rect">
            <a:avLst/>
          </a:prstGeom>
        </p:spPr>
        <p:txBody>
          <a:bodyPr anchor="t" rtlCol="false" tIns="0" lIns="0" bIns="0" rIns="0">
            <a:spAutoFit/>
          </a:bodyPr>
          <a:lstStyle/>
          <a:p>
            <a:pPr algn="l">
              <a:lnSpc>
                <a:spcPts val="2520"/>
              </a:lnSpc>
            </a:pPr>
            <a:r>
              <a:rPr lang="en-US" b="true" sz="1800" spc="225">
                <a:solidFill>
                  <a:srgbClr val="C2522A"/>
                </a:solidFill>
                <a:latin typeface="IBM Plex Sans Bold"/>
                <a:ea typeface="IBM Plex Sans Bold"/>
                <a:cs typeface="IBM Plex Sans Bold"/>
                <a:sym typeface="IBM Plex Sans Bold"/>
              </a:rPr>
              <a:t>1 · INCOME</a:t>
            </a:r>
          </a:p>
        </p:txBody>
      </p:sp>
      <p:sp>
        <p:nvSpPr>
          <p:cNvPr name="TextBox 15" id="15"/>
          <p:cNvSpPr txBox="true"/>
          <p:nvPr/>
        </p:nvSpPr>
        <p:spPr>
          <a:xfrm rot="0">
            <a:off x="609600" y="962025"/>
            <a:ext cx="12994630" cy="502920"/>
          </a:xfrm>
          <a:prstGeom prst="rect">
            <a:avLst/>
          </a:prstGeom>
        </p:spPr>
        <p:txBody>
          <a:bodyPr anchor="t" rtlCol="false" tIns="0" lIns="0" bIns="0" rIns="0">
            <a:spAutoFit/>
          </a:bodyPr>
          <a:lstStyle/>
          <a:p>
            <a:pPr algn="l">
              <a:lnSpc>
                <a:spcPts val="3960"/>
              </a:lnSpc>
            </a:pPr>
            <a:r>
              <a:rPr lang="en-US" sz="3600" b="true">
                <a:solidFill>
                  <a:srgbClr val="1D2433"/>
                </a:solidFill>
                <a:latin typeface="Source Serif Pro Bold"/>
                <a:ea typeface="Source Serif Pro Bold"/>
                <a:cs typeface="Source Serif Pro Bold"/>
                <a:sym typeface="Source Serif Pro Bold"/>
              </a:rPr>
              <a:t>Incomes rose, even after inflation — but don’t move with TFR </a:t>
            </a:r>
          </a:p>
        </p:txBody>
      </p:sp>
      <p:sp>
        <p:nvSpPr>
          <p:cNvPr name="TextBox 16" id="16"/>
          <p:cNvSpPr txBox="true"/>
          <p:nvPr/>
        </p:nvSpPr>
        <p:spPr>
          <a:xfrm rot="0">
            <a:off x="7594145" y="1824990"/>
            <a:ext cx="8869729" cy="737235"/>
          </a:xfrm>
          <a:prstGeom prst="rect">
            <a:avLst/>
          </a:prstGeom>
        </p:spPr>
        <p:txBody>
          <a:bodyPr anchor="t" rtlCol="false" tIns="0" lIns="0" bIns="0" rIns="0">
            <a:spAutoFit/>
          </a:bodyPr>
          <a:lstStyle/>
          <a:p>
            <a:pPr algn="l">
              <a:lnSpc>
                <a:spcPts val="2940"/>
              </a:lnSpc>
            </a:pPr>
            <a:r>
              <a:rPr lang="en-US" sz="2100" b="true">
                <a:solidFill>
                  <a:srgbClr val="1D2433"/>
                </a:solidFill>
                <a:latin typeface="IBM Plex Sans Bold"/>
                <a:ea typeface="IBM Plex Sans Bold"/>
                <a:cs typeface="IBM Plex Sans Bold"/>
                <a:sym typeface="IBM Plex Sans Bold"/>
              </a:rPr>
              <a:t>Median income per member:</a:t>
            </a:r>
            <a:r>
              <a:rPr lang="en-US" sz="2100">
                <a:solidFill>
                  <a:srgbClr val="1D2433"/>
                </a:solidFill>
                <a:latin typeface="IBM Plex Sans"/>
                <a:ea typeface="IBM Plex Sans"/>
                <a:cs typeface="IBM Plex Sans"/>
                <a:sym typeface="IBM Plex Sans"/>
              </a:rPr>
              <a:t> </a:t>
            </a:r>
            <a:r>
              <a:rPr lang="en-US" sz="2100" b="true">
                <a:solidFill>
                  <a:srgbClr val="F1744F"/>
                </a:solidFill>
                <a:latin typeface="IBM Plex Sans Bold"/>
                <a:ea typeface="IBM Plex Sans Bold"/>
                <a:cs typeface="IBM Plex Sans Bold"/>
                <a:sym typeface="IBM Plex Sans Bold"/>
              </a:rPr>
              <a:t>+111% nominal</a:t>
            </a:r>
            <a:r>
              <a:rPr lang="en-US" sz="2100">
                <a:solidFill>
                  <a:srgbClr val="1D2433"/>
                </a:solidFill>
                <a:latin typeface="IBM Plex Sans"/>
                <a:ea typeface="IBM Plex Sans"/>
                <a:cs typeface="IBM Plex Sans"/>
                <a:sym typeface="IBM Plex Sans"/>
              </a:rPr>
              <a:t>, </a:t>
            </a:r>
            <a:r>
              <a:rPr lang="en-US" sz="2100" b="true">
                <a:solidFill>
                  <a:srgbClr val="42B787"/>
                </a:solidFill>
                <a:latin typeface="IBM Plex Sans Bold"/>
                <a:ea typeface="IBM Plex Sans Bold"/>
                <a:cs typeface="IBM Plex Sans Bold"/>
                <a:sym typeface="IBM Plex Sans Bold"/>
              </a:rPr>
              <a:t>+57% real </a:t>
            </a:r>
            <a:r>
              <a:rPr lang="en-US" sz="2100">
                <a:solidFill>
                  <a:srgbClr val="1D2433"/>
                </a:solidFill>
                <a:latin typeface="IBM Plex Sans"/>
                <a:ea typeface="IBM Plex Sans"/>
                <a:cs typeface="IBM Plex Sans"/>
                <a:sym typeface="IBM Plex Sans"/>
              </a:rPr>
              <a:t>(since 2010).</a:t>
            </a:r>
          </a:p>
          <a:p>
            <a:pPr algn="l">
              <a:lnSpc>
                <a:spcPts val="2940"/>
              </a:lnSpc>
            </a:pPr>
            <a:r>
              <a:rPr lang="en-US" sz="2100">
                <a:solidFill>
                  <a:srgbClr val="1D2433"/>
                </a:solidFill>
                <a:latin typeface="IBM Plex Sans"/>
                <a:ea typeface="IBM Plex Sans"/>
                <a:cs typeface="IBM Plex Sans"/>
                <a:sym typeface="IBM Plex Sans"/>
              </a:rPr>
              <a:t>Real median income fell in only one year (2020). </a:t>
            </a:r>
          </a:p>
        </p:txBody>
      </p:sp>
      <p:sp>
        <p:nvSpPr>
          <p:cNvPr name="TextBox 17" id="17"/>
          <p:cNvSpPr txBox="true"/>
          <p:nvPr/>
        </p:nvSpPr>
        <p:spPr>
          <a:xfrm rot="0">
            <a:off x="7594145" y="2906078"/>
            <a:ext cx="8476488" cy="365760"/>
          </a:xfrm>
          <a:prstGeom prst="rect">
            <a:avLst/>
          </a:prstGeom>
        </p:spPr>
        <p:txBody>
          <a:bodyPr anchor="t" rtlCol="false" tIns="0" lIns="0" bIns="0" rIns="0">
            <a:spAutoFit/>
          </a:bodyPr>
          <a:lstStyle/>
          <a:p>
            <a:pPr algn="l">
              <a:lnSpc>
                <a:spcPts val="2940"/>
              </a:lnSpc>
            </a:pPr>
            <a:r>
              <a:rPr lang="en-US" sz="2100" b="true">
                <a:solidFill>
                  <a:srgbClr val="1D2433"/>
                </a:solidFill>
                <a:latin typeface="IBM Plex Sans Bold"/>
                <a:ea typeface="IBM Plex Sans Bold"/>
                <a:cs typeface="IBM Plex Sans Bold"/>
                <a:sym typeface="IBM Plex Sans Bold"/>
              </a:rPr>
              <a:t>TFR fell 1.15 → 0.87. (−24%)</a:t>
            </a:r>
          </a:p>
        </p:txBody>
      </p:sp>
      <p:sp>
        <p:nvSpPr>
          <p:cNvPr name="TextBox 18" id="18"/>
          <p:cNvSpPr txBox="true"/>
          <p:nvPr/>
        </p:nvSpPr>
        <p:spPr>
          <a:xfrm rot="0">
            <a:off x="7594145" y="3615690"/>
            <a:ext cx="8476488" cy="737235"/>
          </a:xfrm>
          <a:prstGeom prst="rect">
            <a:avLst/>
          </a:prstGeom>
        </p:spPr>
        <p:txBody>
          <a:bodyPr anchor="t" rtlCol="false" tIns="0" lIns="0" bIns="0" rIns="0">
            <a:spAutoFit/>
          </a:bodyPr>
          <a:lstStyle/>
          <a:p>
            <a:pPr algn="l">
              <a:lnSpc>
                <a:spcPts val="2940"/>
              </a:lnSpc>
            </a:pPr>
            <a:r>
              <a:rPr lang="en-US" sz="2100" b="true">
                <a:solidFill>
                  <a:srgbClr val="FF3131"/>
                </a:solidFill>
                <a:latin typeface="IBM Plex Sans Bold"/>
                <a:ea typeface="IBM Plex Sans Bold"/>
                <a:cs typeface="IBM Plex Sans Bold"/>
                <a:sym typeface="IBM Plex Sans Bold"/>
              </a:rPr>
              <a:t>Strong r only in levels; </a:t>
            </a:r>
          </a:p>
          <a:p>
            <a:pPr algn="l">
              <a:lnSpc>
                <a:spcPts val="2940"/>
              </a:lnSpc>
            </a:pPr>
            <a:r>
              <a:rPr lang="en-US" sz="2100" b="true">
                <a:solidFill>
                  <a:srgbClr val="20201E"/>
                </a:solidFill>
                <a:latin typeface="IBM Plex Sans Bold"/>
                <a:ea typeface="IBM Plex Sans Bold"/>
                <a:cs typeface="IBM Plex Sans Bold"/>
                <a:sym typeface="IBM Plex Sans Bold"/>
              </a:rPr>
              <a:t>yearly and with 1–3-yr lags, every p &gt; 0.2.</a:t>
            </a:r>
          </a:p>
        </p:txBody>
      </p:sp>
      <p:sp>
        <p:nvSpPr>
          <p:cNvPr name="TextBox 19" id="19"/>
          <p:cNvSpPr txBox="true"/>
          <p:nvPr/>
        </p:nvSpPr>
        <p:spPr>
          <a:xfrm rot="0">
            <a:off x="609600" y="9515475"/>
            <a:ext cx="17678400" cy="306705"/>
          </a:xfrm>
          <a:prstGeom prst="rect">
            <a:avLst/>
          </a:prstGeom>
        </p:spPr>
        <p:txBody>
          <a:bodyPr anchor="t" rtlCol="false" tIns="0" lIns="0" bIns="0" rIns="0">
            <a:spAutoFit/>
          </a:bodyPr>
          <a:lstStyle/>
          <a:p>
            <a:pPr algn="l">
              <a:lnSpc>
                <a:spcPts val="2520"/>
              </a:lnSpc>
            </a:pPr>
            <a:r>
              <a:rPr lang="en-US" sz="1800">
                <a:solidFill>
                  <a:srgbClr val="6B7280"/>
                </a:solidFill>
                <a:latin typeface="IBM Plex Sans"/>
                <a:ea typeface="IBM Plex Sans"/>
                <a:cs typeface="IBM Plex Sans"/>
                <a:sym typeface="IBM Plex Sans"/>
              </a:rPr>
              <a:t>SingStat 17872 , M213751 (CPI, 2010 = 100), M810091. Real = nominal ÷ CPI × 100. </a:t>
            </a:r>
          </a:p>
        </p:txBody>
      </p:sp>
      <p:sp>
        <p:nvSpPr>
          <p:cNvPr name="TextBox 20" id="20"/>
          <p:cNvSpPr txBox="true"/>
          <p:nvPr/>
        </p:nvSpPr>
        <p:spPr>
          <a:xfrm rot="0">
            <a:off x="9867900" y="8973741"/>
            <a:ext cx="8164152" cy="457200"/>
          </a:xfrm>
          <a:prstGeom prst="rect">
            <a:avLst/>
          </a:prstGeom>
        </p:spPr>
        <p:txBody>
          <a:bodyPr anchor="t" rtlCol="false" tIns="0" lIns="0" bIns="0" rIns="0">
            <a:spAutoFit/>
          </a:bodyPr>
          <a:lstStyle/>
          <a:p>
            <a:pPr algn="l" marL="323850" indent="-161925" lvl="1">
              <a:lnSpc>
                <a:spcPts val="1800"/>
              </a:lnSpc>
              <a:buFont typeface="Arial"/>
              <a:buChar char="•"/>
            </a:pPr>
            <a:r>
              <a:rPr lang="en-US" b="true" sz="1500">
                <a:solidFill>
                  <a:srgbClr val="6B7280"/>
                </a:solidFill>
                <a:latin typeface="IBM Plex Sans Bold"/>
                <a:ea typeface="IBM Plex Sans Bold"/>
                <a:cs typeface="IBM Plex Sans Bold"/>
                <a:sym typeface="IBM Plex Sans Bold"/>
              </a:rPr>
              <a:t>r from −1 to +1: closer to +1 = move together, closer to −1 = move in opposite directions.</a:t>
            </a:r>
          </a:p>
          <a:p>
            <a:pPr algn="l" marL="323850" indent="-161925" lvl="1">
              <a:lnSpc>
                <a:spcPts val="1800"/>
              </a:lnSpc>
              <a:spcBef>
                <a:spcPct val="0"/>
              </a:spcBef>
              <a:buFont typeface="Arial"/>
              <a:buChar char="•"/>
            </a:pPr>
            <a:r>
              <a:rPr lang="en-US" b="true" sz="1500">
                <a:solidFill>
                  <a:srgbClr val="6B7280"/>
                </a:solidFill>
                <a:latin typeface="IBM Plex Sans Bold"/>
                <a:ea typeface="IBM Plex Sans Bold"/>
                <a:cs typeface="IBM Plex Sans Bold"/>
                <a:sym typeface="IBM Plex Sans Bold"/>
              </a:rPr>
              <a:t> </a:t>
            </a:r>
            <a:r>
              <a:rPr lang="en-US" b="true" sz="1500">
                <a:solidFill>
                  <a:srgbClr val="6B7280"/>
                </a:solidFill>
                <a:latin typeface="IBM Plex Sans Bold"/>
                <a:ea typeface="IBM Plex Sans Bold"/>
                <a:cs typeface="IBM Plex Sans Bold"/>
                <a:sym typeface="IBM Plex Sans Bold"/>
              </a:rPr>
              <a:t>p &lt; 0.05 = significant.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AF6"/>
        </a:solidFill>
      </p:bgPr>
    </p:bg>
    <p:spTree>
      <p:nvGrpSpPr>
        <p:cNvPr id="1" name=""/>
        <p:cNvGrpSpPr/>
        <p:nvPr/>
      </p:nvGrpSpPr>
      <p:grpSpPr>
        <a:xfrm>
          <a:off x="0" y="0"/>
          <a:ext cx="0" cy="0"/>
          <a:chOff x="0" y="0"/>
          <a:chExt cx="0" cy="0"/>
        </a:xfrm>
      </p:grpSpPr>
      <p:grpSp>
        <p:nvGrpSpPr>
          <p:cNvPr name="Group 2" id="2"/>
          <p:cNvGrpSpPr/>
          <p:nvPr/>
        </p:nvGrpSpPr>
        <p:grpSpPr>
          <a:xfrm rot="0">
            <a:off x="8610600" y="1647825"/>
            <a:ext cx="9067800" cy="3012281"/>
            <a:chOff x="0" y="0"/>
            <a:chExt cx="12090400" cy="4016375"/>
          </a:xfrm>
        </p:grpSpPr>
        <p:sp>
          <p:nvSpPr>
            <p:cNvPr name="Freeform 3" id="3"/>
            <p:cNvSpPr/>
            <p:nvPr/>
          </p:nvSpPr>
          <p:spPr>
            <a:xfrm flipH="false" flipV="false" rot="0">
              <a:off x="0" y="0"/>
              <a:ext cx="12090400" cy="4016375"/>
            </a:xfrm>
            <a:custGeom>
              <a:avLst/>
              <a:gdLst/>
              <a:ahLst/>
              <a:cxnLst/>
              <a:rect r="r" b="b" t="t" l="l"/>
              <a:pathLst>
                <a:path h="4016375" w="12090400">
                  <a:moveTo>
                    <a:pt x="0" y="152400"/>
                  </a:moveTo>
                  <a:cubicBezTo>
                    <a:pt x="0" y="68199"/>
                    <a:pt x="68199" y="0"/>
                    <a:pt x="152400" y="0"/>
                  </a:cubicBezTo>
                  <a:lnTo>
                    <a:pt x="11938000" y="0"/>
                  </a:lnTo>
                  <a:cubicBezTo>
                    <a:pt x="12022201" y="0"/>
                    <a:pt x="12090400" y="68199"/>
                    <a:pt x="12090400" y="152400"/>
                  </a:cubicBezTo>
                  <a:lnTo>
                    <a:pt x="12090400" y="3863975"/>
                  </a:lnTo>
                  <a:cubicBezTo>
                    <a:pt x="12090400" y="3948176"/>
                    <a:pt x="12022201" y="4016375"/>
                    <a:pt x="11938000" y="4016375"/>
                  </a:cubicBezTo>
                  <a:lnTo>
                    <a:pt x="152400" y="4016375"/>
                  </a:lnTo>
                  <a:cubicBezTo>
                    <a:pt x="68199" y="4016375"/>
                    <a:pt x="0" y="3948176"/>
                    <a:pt x="0" y="3863975"/>
                  </a:cubicBezTo>
                  <a:close/>
                </a:path>
              </a:pathLst>
            </a:custGeom>
            <a:solidFill>
              <a:srgbClr val="FFFFFF"/>
            </a:solidFill>
          </p:spPr>
        </p:sp>
      </p:grpSp>
      <p:grpSp>
        <p:nvGrpSpPr>
          <p:cNvPr name="Group 4" id="4"/>
          <p:cNvGrpSpPr/>
          <p:nvPr/>
        </p:nvGrpSpPr>
        <p:grpSpPr>
          <a:xfrm rot="0">
            <a:off x="8610600" y="1647825"/>
            <a:ext cx="9067800" cy="3012281"/>
            <a:chOff x="0" y="0"/>
            <a:chExt cx="12090400" cy="4016375"/>
          </a:xfrm>
        </p:grpSpPr>
        <p:sp>
          <p:nvSpPr>
            <p:cNvPr name="Freeform 5" id="5"/>
            <p:cNvSpPr/>
            <p:nvPr/>
          </p:nvSpPr>
          <p:spPr>
            <a:xfrm flipH="false" flipV="false" rot="0">
              <a:off x="0" y="0"/>
              <a:ext cx="12090400" cy="4016375"/>
            </a:xfrm>
            <a:custGeom>
              <a:avLst/>
              <a:gdLst/>
              <a:ahLst/>
              <a:cxnLst/>
              <a:rect r="r" b="b" t="t" l="l"/>
              <a:pathLst>
                <a:path h="4016375" w="12090400">
                  <a:moveTo>
                    <a:pt x="152400" y="4016375"/>
                  </a:moveTo>
                  <a:cubicBezTo>
                    <a:pt x="68199" y="4016375"/>
                    <a:pt x="0" y="3948176"/>
                    <a:pt x="0" y="3863975"/>
                  </a:cubicBezTo>
                  <a:lnTo>
                    <a:pt x="0" y="152400"/>
                  </a:lnTo>
                  <a:cubicBezTo>
                    <a:pt x="0" y="68199"/>
                    <a:pt x="68199" y="0"/>
                    <a:pt x="152400" y="0"/>
                  </a:cubicBezTo>
                  <a:lnTo>
                    <a:pt x="11938000" y="0"/>
                  </a:lnTo>
                  <a:cubicBezTo>
                    <a:pt x="12022201" y="0"/>
                    <a:pt x="12090400" y="68199"/>
                    <a:pt x="12090400" y="152400"/>
                  </a:cubicBezTo>
                  <a:cubicBezTo>
                    <a:pt x="12090400" y="82296"/>
                    <a:pt x="12033504" y="25400"/>
                    <a:pt x="11963400" y="25400"/>
                  </a:cubicBezTo>
                  <a:lnTo>
                    <a:pt x="152400" y="25400"/>
                  </a:lnTo>
                  <a:cubicBezTo>
                    <a:pt x="82296" y="25400"/>
                    <a:pt x="25400" y="82296"/>
                    <a:pt x="25400" y="152400"/>
                  </a:cubicBezTo>
                  <a:lnTo>
                    <a:pt x="25400" y="3863975"/>
                  </a:lnTo>
                  <a:cubicBezTo>
                    <a:pt x="25400" y="3948176"/>
                    <a:pt x="93599" y="4016375"/>
                    <a:pt x="177800" y="4016375"/>
                  </a:cubicBezTo>
                  <a:close/>
                </a:path>
              </a:pathLst>
            </a:custGeom>
            <a:solidFill>
              <a:srgbClr val="141413">
                <a:alpha val="4706"/>
              </a:srgbClr>
            </a:solidFill>
          </p:spPr>
        </p:sp>
      </p:grpSp>
      <p:grpSp>
        <p:nvGrpSpPr>
          <p:cNvPr name="Group 6" id="6"/>
          <p:cNvGrpSpPr/>
          <p:nvPr/>
        </p:nvGrpSpPr>
        <p:grpSpPr>
          <a:xfrm rot="0">
            <a:off x="8629650" y="1666875"/>
            <a:ext cx="9048750" cy="498872"/>
            <a:chOff x="0" y="0"/>
            <a:chExt cx="12065000" cy="665162"/>
          </a:xfrm>
        </p:grpSpPr>
        <p:sp>
          <p:nvSpPr>
            <p:cNvPr name="Freeform 7" id="7"/>
            <p:cNvSpPr/>
            <p:nvPr/>
          </p:nvSpPr>
          <p:spPr>
            <a:xfrm flipH="false" flipV="false" rot="0">
              <a:off x="0" y="0"/>
              <a:ext cx="12065000" cy="665099"/>
            </a:xfrm>
            <a:custGeom>
              <a:avLst/>
              <a:gdLst/>
              <a:ahLst/>
              <a:cxnLst/>
              <a:rect r="r" b="b" t="t" l="l"/>
              <a:pathLst>
                <a:path h="665099" w="12065000">
                  <a:moveTo>
                    <a:pt x="0" y="127000"/>
                  </a:moveTo>
                  <a:cubicBezTo>
                    <a:pt x="0" y="56896"/>
                    <a:pt x="56896" y="0"/>
                    <a:pt x="127000" y="0"/>
                  </a:cubicBezTo>
                  <a:lnTo>
                    <a:pt x="11912600" y="0"/>
                  </a:lnTo>
                  <a:cubicBezTo>
                    <a:pt x="11996801" y="0"/>
                    <a:pt x="12065000" y="68199"/>
                    <a:pt x="12065000" y="152400"/>
                  </a:cubicBezTo>
                  <a:lnTo>
                    <a:pt x="12065000" y="665099"/>
                  </a:lnTo>
                  <a:lnTo>
                    <a:pt x="0" y="665099"/>
                  </a:lnTo>
                  <a:close/>
                </a:path>
              </a:pathLst>
            </a:custGeom>
            <a:solidFill>
              <a:srgbClr val="ECECEC"/>
            </a:solidFill>
          </p:spPr>
        </p:sp>
      </p:grpSp>
      <p:graphicFrame>
        <p:nvGraphicFramePr>
          <p:cNvPr name="Table 8" id="8"/>
          <p:cNvGraphicFramePr>
            <a:graphicFrameLocks noGrp="true"/>
          </p:cNvGraphicFramePr>
          <p:nvPr/>
        </p:nvGraphicFramePr>
        <p:xfrm>
          <a:off x="8629650" y="1666875"/>
          <a:ext cx="9048750" cy="2971800"/>
        </p:xfrm>
        <a:graphic>
          <a:graphicData uri="http://schemas.openxmlformats.org/drawingml/2006/table">
            <a:tbl>
              <a:tblPr/>
              <a:tblGrid>
                <a:gridCol w="3242469"/>
                <a:gridCol w="2903141"/>
                <a:gridCol w="2903141"/>
              </a:tblGrid>
              <a:tr h="480570">
                <a:tc>
                  <a:txBody>
                    <a:bodyPr anchor="t" rtlCol="false"/>
                    <a:lstStyle/>
                    <a:p>
                      <a:pPr algn="l">
                        <a:lnSpc>
                          <a:spcPts val="2520"/>
                        </a:lnSpc>
                        <a:defRPr/>
                      </a:pPr>
                      <a:r>
                        <a:rPr lang="en-US" sz="1800" b="true">
                          <a:solidFill>
                            <a:srgbClr val="1D2433"/>
                          </a:solidFill>
                          <a:latin typeface="IBM Plex Sans Bold"/>
                          <a:ea typeface="IBM Plex Sans Bold"/>
                          <a:cs typeface="IBM Plex Sans Bold"/>
                          <a:sym typeface="IBM Plex Sans Bold"/>
                        </a:rPr>
                        <a:t>r (p) vs TFR</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c>
                  <a:txBody>
                    <a:bodyPr anchor="t" rtlCol="false"/>
                    <a:lstStyle/>
                    <a:p>
                      <a:pPr algn="r">
                        <a:lnSpc>
                          <a:spcPts val="2520"/>
                        </a:lnSpc>
                        <a:defRPr/>
                      </a:pPr>
                      <a:r>
                        <a:rPr lang="en-US" sz="1800" b="true">
                          <a:solidFill>
                            <a:srgbClr val="1D2433"/>
                          </a:solidFill>
                          <a:latin typeface="IBM Plex Sans Bold"/>
                          <a:ea typeface="IBM Plex Sans Bold"/>
                          <a:cs typeface="IBM Plex Sans Bold"/>
                          <a:sym typeface="IBM Plex Sans Bold"/>
                        </a:rPr>
                        <a:t>Gini, before</a:t>
                      </a:r>
                      <a:endParaRPr lang="en-US" sz="1100"/>
                    </a:p>
                  </a:txBody>
                  <a:tcPr marL="53340" marR="53340" marT="53340" marB="5334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c>
                  <a:txBody>
                    <a:bodyPr anchor="t" rtlCol="false"/>
                    <a:lstStyle/>
                    <a:p>
                      <a:pPr algn="r">
                        <a:lnSpc>
                          <a:spcPts val="2520"/>
                        </a:lnSpc>
                        <a:defRPr/>
                      </a:pPr>
                      <a:r>
                        <a:rPr lang="en-US" sz="1800" b="true">
                          <a:solidFill>
                            <a:srgbClr val="1D2433"/>
                          </a:solidFill>
                          <a:latin typeface="IBM Plex Sans Bold"/>
                          <a:ea typeface="IBM Plex Sans Bold"/>
                          <a:cs typeface="IBM Plex Sans Bold"/>
                          <a:sym typeface="IBM Plex Sans Bold"/>
                        </a:rPr>
                        <a:t>Gini, after</a:t>
                      </a:r>
                      <a:endParaRPr lang="en-US" sz="1100"/>
                    </a:p>
                  </a:txBody>
                  <a:tcPr marL="53340" marR="53340" marT="53340" marB="5334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CBCBC"/>
                      </a:solidFill>
                      <a:prstDash val="solid"/>
                      <a:round/>
                      <a:headEnd type="none" w="med" len="med"/>
                      <a:tailEnd type="none" w="med" len="med"/>
                    </a:lnB>
                  </a:tcPr>
                </a:tc>
              </a:tr>
              <a:tr h="498246">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Levels</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+0.91 (&lt;0.001)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+0.89 (&lt;0.001)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6">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+0.70 (0.003)</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b="true" sz="1800">
                          <a:solidFill>
                            <a:srgbClr val="FF3131"/>
                          </a:solidFill>
                          <a:latin typeface="IBM Plex Sans Bold"/>
                          <a:ea typeface="IBM Plex Sans Bold"/>
                          <a:cs typeface="IBM Plex Sans Bold"/>
                          <a:sym typeface="IBM Plex Sans Bold"/>
                        </a:rPr>
                        <a:t>+0.65 (0.009)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6">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−0.21 (0.47)</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−0.48 (0.08)</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6">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+0.02 (0.94)</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+0.19 (0.54)</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8246">
                <a:tc>
                  <a:txBody>
                    <a:bodyPr anchor="t" rtlCol="false"/>
                    <a:lstStyle/>
                    <a:p>
                      <a:pPr algn="l">
                        <a:lnSpc>
                          <a:spcPts val="2520"/>
                        </a:lnSpc>
                        <a:defRPr/>
                      </a:pPr>
                      <a:r>
                        <a:rPr lang="en-US" sz="1800">
                          <a:solidFill>
                            <a:srgbClr val="1D2433"/>
                          </a:solidFill>
                          <a:latin typeface="IBM Plex Sans"/>
                          <a:ea typeface="IBM Plex Sans"/>
                          <a:cs typeface="IBM Plex Sans"/>
                          <a:sym typeface="IBM Plex Sans"/>
                        </a:rPr>
                        <a:t>Yearly Δ, lag 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+0.29 (0.36)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r">
                        <a:lnSpc>
                          <a:spcPts val="2520"/>
                        </a:lnSpc>
                        <a:defRPr/>
                      </a:pPr>
                      <a:r>
                        <a:rPr lang="en-US" sz="1800">
                          <a:solidFill>
                            <a:srgbClr val="1D2433"/>
                          </a:solidFill>
                          <a:latin typeface="IBM Plex Sans"/>
                          <a:ea typeface="IBM Plex Sans"/>
                          <a:cs typeface="IBM Plex Sans"/>
                          <a:sym typeface="IBM Plex Sans"/>
                        </a:rPr>
                        <a:t>+0.41 (0.19)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9" id="9"/>
          <p:cNvGrpSpPr/>
          <p:nvPr/>
        </p:nvGrpSpPr>
        <p:grpSpPr>
          <a:xfrm rot="0">
            <a:off x="8629650" y="5662164"/>
            <a:ext cx="9067800" cy="3446386"/>
            <a:chOff x="0" y="0"/>
            <a:chExt cx="12090400" cy="4595181"/>
          </a:xfrm>
        </p:grpSpPr>
        <p:sp>
          <p:nvSpPr>
            <p:cNvPr name="Freeform 10" id="10"/>
            <p:cNvSpPr/>
            <p:nvPr/>
          </p:nvSpPr>
          <p:spPr>
            <a:xfrm flipH="false" flipV="false" rot="0">
              <a:off x="0" y="0"/>
              <a:ext cx="12090400" cy="4595181"/>
            </a:xfrm>
            <a:custGeom>
              <a:avLst/>
              <a:gdLst/>
              <a:ahLst/>
              <a:cxnLst/>
              <a:rect r="r" b="b" t="t" l="l"/>
              <a:pathLst>
                <a:path h="4595181" w="12090400">
                  <a:moveTo>
                    <a:pt x="0" y="245544"/>
                  </a:moveTo>
                  <a:cubicBezTo>
                    <a:pt x="0" y="109969"/>
                    <a:pt x="79629" y="0"/>
                    <a:pt x="177800" y="0"/>
                  </a:cubicBezTo>
                  <a:lnTo>
                    <a:pt x="11912600" y="0"/>
                  </a:lnTo>
                  <a:cubicBezTo>
                    <a:pt x="12010771" y="0"/>
                    <a:pt x="12090400" y="109969"/>
                    <a:pt x="12090400" y="245544"/>
                  </a:cubicBezTo>
                  <a:lnTo>
                    <a:pt x="12090400" y="4349637"/>
                  </a:lnTo>
                  <a:cubicBezTo>
                    <a:pt x="12090400" y="4485212"/>
                    <a:pt x="12010771" y="4595181"/>
                    <a:pt x="11912600" y="4595181"/>
                  </a:cubicBezTo>
                  <a:lnTo>
                    <a:pt x="177800" y="4595181"/>
                  </a:lnTo>
                  <a:cubicBezTo>
                    <a:pt x="79629" y="4595181"/>
                    <a:pt x="0" y="4485212"/>
                    <a:pt x="0" y="4349637"/>
                  </a:cubicBezTo>
                  <a:close/>
                </a:path>
              </a:pathLst>
            </a:custGeom>
            <a:solidFill>
              <a:srgbClr val="F1EEE6"/>
            </a:solidFill>
          </p:spPr>
        </p:sp>
      </p:grpSp>
      <p:sp>
        <p:nvSpPr>
          <p:cNvPr name="Freeform 11" id="11"/>
          <p:cNvSpPr/>
          <p:nvPr/>
        </p:nvSpPr>
        <p:spPr>
          <a:xfrm flipH="false" flipV="false" rot="0">
            <a:off x="1223762" y="1788949"/>
            <a:ext cx="5923543" cy="5060581"/>
          </a:xfrm>
          <a:custGeom>
            <a:avLst/>
            <a:gdLst/>
            <a:ahLst/>
            <a:cxnLst/>
            <a:rect r="r" b="b" t="t" l="l"/>
            <a:pathLst>
              <a:path h="5060581" w="5923543">
                <a:moveTo>
                  <a:pt x="0" y="0"/>
                </a:moveTo>
                <a:lnTo>
                  <a:pt x="5923543" y="0"/>
                </a:lnTo>
                <a:lnTo>
                  <a:pt x="5923543" y="5060580"/>
                </a:lnTo>
                <a:lnTo>
                  <a:pt x="0" y="5060580"/>
                </a:lnTo>
                <a:lnTo>
                  <a:pt x="0" y="0"/>
                </a:lnTo>
                <a:close/>
              </a:path>
            </a:pathLst>
          </a:custGeom>
          <a:blipFill>
            <a:blip r:embed="rId2"/>
            <a:stretch>
              <a:fillRect l="0" t="0" r="0" b="0"/>
            </a:stretch>
          </a:blipFill>
        </p:spPr>
      </p:sp>
      <p:sp>
        <p:nvSpPr>
          <p:cNvPr name="TextBox 12" id="12"/>
          <p:cNvSpPr txBox="true"/>
          <p:nvPr/>
        </p:nvSpPr>
        <p:spPr>
          <a:xfrm rot="0">
            <a:off x="609600" y="495300"/>
            <a:ext cx="17580864" cy="390525"/>
          </a:xfrm>
          <a:prstGeom prst="rect">
            <a:avLst/>
          </a:prstGeom>
        </p:spPr>
        <p:txBody>
          <a:bodyPr anchor="t" rtlCol="false" tIns="0" lIns="0" bIns="0" rIns="0">
            <a:spAutoFit/>
          </a:bodyPr>
          <a:lstStyle/>
          <a:p>
            <a:pPr algn="l">
              <a:lnSpc>
                <a:spcPts val="2520"/>
              </a:lnSpc>
            </a:pPr>
            <a:r>
              <a:rPr lang="en-US" b="true" sz="1800" spc="225">
                <a:solidFill>
                  <a:srgbClr val="C2522A"/>
                </a:solidFill>
                <a:latin typeface="IBM Plex Sans Bold"/>
                <a:ea typeface="IBM Plex Sans Bold"/>
                <a:cs typeface="IBM Plex Sans Bold"/>
                <a:sym typeface="IBM Plex Sans Bold"/>
              </a:rPr>
              <a:t>2 · INEQUALITY</a:t>
            </a:r>
          </a:p>
        </p:txBody>
      </p:sp>
      <p:sp>
        <p:nvSpPr>
          <p:cNvPr name="TextBox 13" id="13"/>
          <p:cNvSpPr txBox="true"/>
          <p:nvPr/>
        </p:nvSpPr>
        <p:spPr>
          <a:xfrm rot="0">
            <a:off x="609600" y="1038225"/>
            <a:ext cx="10459045" cy="502920"/>
          </a:xfrm>
          <a:prstGeom prst="rect">
            <a:avLst/>
          </a:prstGeom>
        </p:spPr>
        <p:txBody>
          <a:bodyPr anchor="t" rtlCol="false" tIns="0" lIns="0" bIns="0" rIns="0">
            <a:spAutoFit/>
          </a:bodyPr>
          <a:lstStyle/>
          <a:p>
            <a:pPr algn="l">
              <a:lnSpc>
                <a:spcPts val="3960"/>
              </a:lnSpc>
            </a:pPr>
            <a:r>
              <a:rPr lang="en-US" sz="3600" b="true">
                <a:solidFill>
                  <a:srgbClr val="1D2433"/>
                </a:solidFill>
                <a:latin typeface="Source Serif Pro Bold"/>
                <a:ea typeface="Source Serif Pro Bold"/>
                <a:cs typeface="Source Serif Pro Bold"/>
                <a:sym typeface="Source Serif Pro Bold"/>
              </a:rPr>
              <a:t>Income became more equal — and TFR fell with it</a:t>
            </a:r>
          </a:p>
        </p:txBody>
      </p:sp>
      <p:sp>
        <p:nvSpPr>
          <p:cNvPr name="TextBox 14" id="14"/>
          <p:cNvSpPr txBox="true"/>
          <p:nvPr/>
        </p:nvSpPr>
        <p:spPr>
          <a:xfrm rot="0">
            <a:off x="8858250" y="5833614"/>
            <a:ext cx="8868918" cy="621030"/>
          </a:xfrm>
          <a:prstGeom prst="rect">
            <a:avLst/>
          </a:prstGeom>
        </p:spPr>
        <p:txBody>
          <a:bodyPr anchor="t" rtlCol="false" tIns="0" lIns="0" bIns="0" rIns="0">
            <a:spAutoFit/>
          </a:bodyPr>
          <a:lstStyle/>
          <a:p>
            <a:pPr algn="l">
              <a:lnSpc>
                <a:spcPts val="2520"/>
              </a:lnSpc>
            </a:pPr>
            <a:r>
              <a:rPr lang="en-US" sz="1800" b="true">
                <a:solidFill>
                  <a:srgbClr val="1D2433"/>
                </a:solidFill>
                <a:latin typeface="IBM Plex Sans Bold"/>
                <a:ea typeface="IBM Plex Sans Bold"/>
                <a:cs typeface="IBM Plex Sans Bold"/>
                <a:sym typeface="IBM Plex Sans Bold"/>
              </a:rPr>
              <a:t>Finding:</a:t>
            </a:r>
            <a:r>
              <a:rPr lang="en-US" sz="1800">
                <a:solidFill>
                  <a:srgbClr val="1D2433"/>
                </a:solidFill>
                <a:latin typeface="IBM Plex Sans"/>
                <a:ea typeface="IBM Plex Sans"/>
                <a:cs typeface="IBM Plex Sans"/>
                <a:sym typeface="IBM Plex Sans"/>
              </a:rPr>
              <a:t> Both trend down together. Also, in years when inequality rose more than usual, TFR also rose . But with a 1–3-year lag, the link disappears.</a:t>
            </a:r>
          </a:p>
        </p:txBody>
      </p:sp>
      <p:sp>
        <p:nvSpPr>
          <p:cNvPr name="TextBox 15" id="15"/>
          <p:cNvSpPr txBox="true"/>
          <p:nvPr/>
        </p:nvSpPr>
        <p:spPr>
          <a:xfrm rot="0">
            <a:off x="8828532" y="6903503"/>
            <a:ext cx="8868918" cy="621030"/>
          </a:xfrm>
          <a:prstGeom prst="rect">
            <a:avLst/>
          </a:prstGeom>
        </p:spPr>
        <p:txBody>
          <a:bodyPr anchor="t" rtlCol="false" tIns="0" lIns="0" bIns="0" rIns="0">
            <a:spAutoFit/>
          </a:bodyPr>
          <a:lstStyle/>
          <a:p>
            <a:pPr algn="l">
              <a:lnSpc>
                <a:spcPts val="2520"/>
              </a:lnSpc>
            </a:pPr>
            <a:r>
              <a:rPr lang="en-US" sz="1800" b="true">
                <a:solidFill>
                  <a:srgbClr val="1D2433"/>
                </a:solidFill>
                <a:latin typeface="IBM Plex Sans Bold"/>
                <a:ea typeface="IBM Plex Sans Bold"/>
                <a:cs typeface="IBM Plex Sans Bold"/>
                <a:sym typeface="IBM Plex Sans Bold"/>
              </a:rPr>
              <a:t>Why:</a:t>
            </a:r>
            <a:r>
              <a:rPr lang="en-US" sz="1800">
                <a:solidFill>
                  <a:srgbClr val="1D2433"/>
                </a:solidFill>
                <a:latin typeface="IBM Plex Sans"/>
                <a:ea typeface="IBM Plex Sans"/>
                <a:cs typeface="IBM Plex Sans"/>
                <a:sym typeface="IBM Plex Sans"/>
              </a:rPr>
              <a:t> This may driven by high-income group, where their real income growth faster than other income group. Good years lift top pay and births. </a:t>
            </a:r>
          </a:p>
        </p:txBody>
      </p:sp>
      <p:sp>
        <p:nvSpPr>
          <p:cNvPr name="TextBox 16" id="16"/>
          <p:cNvSpPr txBox="true"/>
          <p:nvPr/>
        </p:nvSpPr>
        <p:spPr>
          <a:xfrm rot="0">
            <a:off x="8858250" y="7885531"/>
            <a:ext cx="8868918" cy="621030"/>
          </a:xfrm>
          <a:prstGeom prst="rect">
            <a:avLst/>
          </a:prstGeom>
        </p:spPr>
        <p:txBody>
          <a:bodyPr anchor="t" rtlCol="false" tIns="0" lIns="0" bIns="0" rIns="0">
            <a:spAutoFit/>
          </a:bodyPr>
          <a:lstStyle/>
          <a:p>
            <a:pPr algn="l">
              <a:lnSpc>
                <a:spcPts val="2520"/>
              </a:lnSpc>
            </a:pPr>
            <a:r>
              <a:rPr lang="en-US" sz="1800">
                <a:solidFill>
                  <a:srgbClr val="C2522A"/>
                </a:solidFill>
                <a:latin typeface="IBM Plex Sans"/>
                <a:ea typeface="IBM Plex Sans"/>
                <a:cs typeface="IBM Plex Sans"/>
                <a:sym typeface="IBM Plex Sans"/>
              </a:rPr>
              <a:t>A shared economic cycle, not “inequality raises births”. </a:t>
            </a:r>
            <a:r>
              <a:rPr lang="en-US" sz="1800">
                <a:solidFill>
                  <a:srgbClr val="000000"/>
                </a:solidFill>
                <a:latin typeface="IBM Plex Sans"/>
                <a:ea typeface="IBM Plex Sans"/>
                <a:cs typeface="IBM Plex Sans"/>
                <a:sym typeface="IBM Plex Sans"/>
              </a:rPr>
              <a:t>The link is removed with 1 year lagged. </a:t>
            </a:r>
            <a:r>
              <a:rPr lang="en-US" sz="1800">
                <a:solidFill>
                  <a:srgbClr val="C2522A"/>
                </a:solidFill>
                <a:latin typeface="IBM Plex Sans"/>
                <a:ea typeface="IBM Plex Sans"/>
                <a:cs typeface="IBM Plex Sans"/>
                <a:sym typeface="IBM Plex Sans"/>
              </a:rPr>
              <a:t> </a:t>
            </a:r>
          </a:p>
        </p:txBody>
      </p:sp>
      <p:sp>
        <p:nvSpPr>
          <p:cNvPr name="TextBox 17" id="17"/>
          <p:cNvSpPr txBox="true"/>
          <p:nvPr/>
        </p:nvSpPr>
        <p:spPr>
          <a:xfrm rot="0">
            <a:off x="609600" y="9201150"/>
            <a:ext cx="17580864" cy="306705"/>
          </a:xfrm>
          <a:prstGeom prst="rect">
            <a:avLst/>
          </a:prstGeom>
        </p:spPr>
        <p:txBody>
          <a:bodyPr anchor="t" rtlCol="false" tIns="0" lIns="0" bIns="0" rIns="0">
            <a:spAutoFit/>
          </a:bodyPr>
          <a:lstStyle/>
          <a:p>
            <a:pPr algn="l">
              <a:lnSpc>
                <a:spcPts val="2520"/>
              </a:lnSpc>
            </a:pPr>
            <a:r>
              <a:rPr lang="en-US" sz="1800">
                <a:solidFill>
                  <a:srgbClr val="6B7280"/>
                </a:solidFill>
                <a:latin typeface="IBM Plex Sans"/>
                <a:ea typeface="IBM Plex Sans"/>
                <a:cs typeface="IBM Plex Sans"/>
                <a:sym typeface="IBM Plex Sans"/>
              </a:rPr>
              <a:t>SingStat 17892 , M810361 , M810091. </a:t>
            </a:r>
          </a:p>
        </p:txBody>
      </p:sp>
      <p:sp>
        <p:nvSpPr>
          <p:cNvPr name="TextBox 18" id="18"/>
          <p:cNvSpPr txBox="true"/>
          <p:nvPr/>
        </p:nvSpPr>
        <p:spPr>
          <a:xfrm rot="0">
            <a:off x="1447800" y="7245871"/>
            <a:ext cx="5258562" cy="821055"/>
          </a:xfrm>
          <a:prstGeom prst="rect">
            <a:avLst/>
          </a:prstGeom>
        </p:spPr>
        <p:txBody>
          <a:bodyPr anchor="t" rtlCol="false" tIns="0" lIns="0" bIns="0" rIns="0">
            <a:spAutoFit/>
          </a:bodyPr>
          <a:lstStyle/>
          <a:p>
            <a:pPr algn="l">
              <a:lnSpc>
                <a:spcPts val="6719"/>
              </a:lnSpc>
            </a:pPr>
            <a:r>
              <a:rPr lang="en-US" sz="4800" b="true">
                <a:solidFill>
                  <a:srgbClr val="4D5FBF"/>
                </a:solidFill>
                <a:latin typeface="Source Serif Pro Bold"/>
                <a:ea typeface="Source Serif Pro Bold"/>
                <a:cs typeface="Source Serif Pro Bold"/>
                <a:sym typeface="Source Serif Pro Bold"/>
              </a:rPr>
              <a:t>-9.7</a:t>
            </a:r>
            <a:r>
              <a:rPr lang="en-US" sz="4800" b="true">
                <a:solidFill>
                  <a:srgbClr val="4D5FBF"/>
                </a:solidFill>
                <a:latin typeface="Source Serif Pro Bold"/>
                <a:ea typeface="Source Serif Pro Bold"/>
                <a:cs typeface="Source Serif Pro Bold"/>
                <a:sym typeface="Source Serif Pro Bold"/>
              </a:rPr>
              <a:t>%</a:t>
            </a:r>
          </a:p>
        </p:txBody>
      </p:sp>
      <p:sp>
        <p:nvSpPr>
          <p:cNvPr name="TextBox 19" id="19"/>
          <p:cNvSpPr txBox="true"/>
          <p:nvPr/>
        </p:nvSpPr>
        <p:spPr>
          <a:xfrm rot="0">
            <a:off x="1028700" y="8174670"/>
            <a:ext cx="5258562" cy="331470"/>
          </a:xfrm>
          <a:prstGeom prst="rect">
            <a:avLst/>
          </a:prstGeom>
        </p:spPr>
        <p:txBody>
          <a:bodyPr anchor="t" rtlCol="false" tIns="0" lIns="0" bIns="0" rIns="0">
            <a:spAutoFit/>
          </a:bodyPr>
          <a:lstStyle/>
          <a:p>
            <a:pPr algn="l">
              <a:lnSpc>
                <a:spcPts val="2729"/>
              </a:lnSpc>
            </a:pPr>
            <a:r>
              <a:rPr lang="en-US" sz="1950">
                <a:solidFill>
                  <a:srgbClr val="4A5263"/>
                </a:solidFill>
                <a:latin typeface="IBM Plex Sans"/>
                <a:ea typeface="IBM Plex Sans"/>
                <a:cs typeface="IBM Plex Sans"/>
                <a:sym typeface="IBM Plex Sans"/>
              </a:rPr>
              <a:t>Gini before transfers &amp; tax</a:t>
            </a:r>
          </a:p>
        </p:txBody>
      </p:sp>
      <p:sp>
        <p:nvSpPr>
          <p:cNvPr name="TextBox 20" id="20"/>
          <p:cNvSpPr txBox="true"/>
          <p:nvPr/>
        </p:nvSpPr>
        <p:spPr>
          <a:xfrm rot="0">
            <a:off x="4518024" y="7245871"/>
            <a:ext cx="5258562" cy="821055"/>
          </a:xfrm>
          <a:prstGeom prst="rect">
            <a:avLst/>
          </a:prstGeom>
        </p:spPr>
        <p:txBody>
          <a:bodyPr anchor="t" rtlCol="false" tIns="0" lIns="0" bIns="0" rIns="0">
            <a:spAutoFit/>
          </a:bodyPr>
          <a:lstStyle/>
          <a:p>
            <a:pPr algn="l">
              <a:lnSpc>
                <a:spcPts val="6719"/>
              </a:lnSpc>
            </a:pPr>
            <a:r>
              <a:rPr lang="en-US" sz="4800" b="true">
                <a:solidFill>
                  <a:srgbClr val="CF962F"/>
                </a:solidFill>
                <a:latin typeface="Source Serif Pro Bold"/>
                <a:ea typeface="Source Serif Pro Bold"/>
                <a:cs typeface="Source Serif Pro Bold"/>
                <a:sym typeface="Source Serif Pro Bold"/>
              </a:rPr>
              <a:t>-15.5</a:t>
            </a:r>
            <a:r>
              <a:rPr lang="en-US" sz="4800" b="true">
                <a:solidFill>
                  <a:srgbClr val="CF962F"/>
                </a:solidFill>
                <a:latin typeface="Source Serif Pro Bold"/>
                <a:ea typeface="Source Serif Pro Bold"/>
                <a:cs typeface="Source Serif Pro Bold"/>
                <a:sym typeface="Source Serif Pro Bold"/>
              </a:rPr>
              <a:t>%</a:t>
            </a:r>
          </a:p>
        </p:txBody>
      </p:sp>
      <p:sp>
        <p:nvSpPr>
          <p:cNvPr name="TextBox 21" id="21"/>
          <p:cNvSpPr txBox="true"/>
          <p:nvPr/>
        </p:nvSpPr>
        <p:spPr>
          <a:xfrm rot="0">
            <a:off x="4518024" y="8169796"/>
            <a:ext cx="5258562" cy="331470"/>
          </a:xfrm>
          <a:prstGeom prst="rect">
            <a:avLst/>
          </a:prstGeom>
        </p:spPr>
        <p:txBody>
          <a:bodyPr anchor="t" rtlCol="false" tIns="0" lIns="0" bIns="0" rIns="0">
            <a:spAutoFit/>
          </a:bodyPr>
          <a:lstStyle/>
          <a:p>
            <a:pPr algn="l">
              <a:lnSpc>
                <a:spcPts val="2729"/>
              </a:lnSpc>
            </a:pPr>
            <a:r>
              <a:rPr lang="en-US" sz="1950">
                <a:solidFill>
                  <a:srgbClr val="4A5263"/>
                </a:solidFill>
                <a:latin typeface="IBM Plex Sans"/>
                <a:ea typeface="IBM Plex Sans"/>
                <a:cs typeface="IBM Plex Sans"/>
                <a:sym typeface="IBM Plex Sans"/>
              </a:rPr>
              <a:t>Gini after transfers &amp; tax</a:t>
            </a:r>
          </a:p>
        </p:txBody>
      </p:sp>
      <p:sp>
        <p:nvSpPr>
          <p:cNvPr name="TextBox 22" id="22"/>
          <p:cNvSpPr txBox="true"/>
          <p:nvPr/>
        </p:nvSpPr>
        <p:spPr>
          <a:xfrm rot="0">
            <a:off x="9000660" y="4833489"/>
            <a:ext cx="8258640" cy="685800"/>
          </a:xfrm>
          <a:prstGeom prst="rect">
            <a:avLst/>
          </a:prstGeom>
        </p:spPr>
        <p:txBody>
          <a:bodyPr anchor="t" rtlCol="false" tIns="0" lIns="0" bIns="0" rIns="0">
            <a:spAutoFit/>
          </a:bodyPr>
          <a:lstStyle/>
          <a:p>
            <a:pPr algn="l" marL="323850" indent="-161925" lvl="1">
              <a:lnSpc>
                <a:spcPts val="1800"/>
              </a:lnSpc>
              <a:buFont typeface="Arial"/>
              <a:buChar char="•"/>
            </a:pPr>
            <a:r>
              <a:rPr lang="en-US" b="true" sz="1500">
                <a:solidFill>
                  <a:srgbClr val="6B7280"/>
                </a:solidFill>
                <a:latin typeface="IBM Plex Sans Bold"/>
                <a:ea typeface="IBM Plex Sans Bold"/>
                <a:cs typeface="IBM Plex Sans Bold"/>
                <a:sym typeface="IBM Plex Sans Bold"/>
              </a:rPr>
              <a:t>r from −1 to +1: closer to +1 = move together, closer to −1 = move in opposite directions.</a:t>
            </a:r>
          </a:p>
          <a:p>
            <a:pPr algn="l" marL="323850" indent="-161925" lvl="1">
              <a:lnSpc>
                <a:spcPts val="1800"/>
              </a:lnSpc>
              <a:buFont typeface="Arial"/>
              <a:buChar char="•"/>
            </a:pPr>
            <a:r>
              <a:rPr lang="en-US" b="true" sz="1500">
                <a:solidFill>
                  <a:srgbClr val="6B7280"/>
                </a:solidFill>
                <a:latin typeface="IBM Plex Sans Bold"/>
                <a:ea typeface="IBM Plex Sans Bold"/>
                <a:cs typeface="IBM Plex Sans Bold"/>
                <a:sym typeface="IBM Plex Sans Bold"/>
              </a:rPr>
              <a:t> p &lt; 0.05 = significant.</a:t>
            </a:r>
          </a:p>
          <a:p>
            <a:pPr algn="l">
              <a:lnSpc>
                <a:spcPts val="18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419100"/>
          </a:xfrm>
          <a:prstGeom prst="rect">
            <a:avLst/>
          </a:prstGeom>
        </p:spPr>
        <p:txBody>
          <a:bodyPr anchor="t" rtlCol="false" tIns="0" lIns="0" bIns="0" rIns="0">
            <a:spAutoFit/>
          </a:bodyPr>
          <a:lstStyle/>
          <a:p>
            <a:pPr algn="l">
              <a:lnSpc>
                <a:spcPts val="2729"/>
              </a:lnSpc>
            </a:pPr>
            <a:r>
              <a:rPr lang="en-US" b="true" sz="1950" spc="225">
                <a:solidFill>
                  <a:srgbClr val="F08A5D"/>
                </a:solidFill>
                <a:latin typeface="IBM Plex Sans Bold"/>
                <a:ea typeface="IBM Plex Sans Bold"/>
                <a:cs typeface="IBM Plex Sans Bold"/>
                <a:sym typeface="IBM Plex Sans Bold"/>
              </a:rPr>
              <a:t>SO WHAT FOR MANAGEMENT</a:t>
            </a:r>
          </a:p>
        </p:txBody>
      </p:sp>
      <p:sp>
        <p:nvSpPr>
          <p:cNvPr name="TextBox 3" id="3"/>
          <p:cNvSpPr txBox="true"/>
          <p:nvPr/>
        </p:nvSpPr>
        <p:spPr>
          <a:xfrm rot="0">
            <a:off x="1219200" y="2009775"/>
            <a:ext cx="16325088" cy="1845945"/>
          </a:xfrm>
          <a:prstGeom prst="rect">
            <a:avLst/>
          </a:prstGeom>
        </p:spPr>
        <p:txBody>
          <a:bodyPr anchor="t" rtlCol="false" tIns="0" lIns="0" bIns="0" rIns="0">
            <a:spAutoFit/>
          </a:bodyPr>
          <a:lstStyle/>
          <a:p>
            <a:pPr algn="l">
              <a:lnSpc>
                <a:spcPts val="7260"/>
              </a:lnSpc>
            </a:pPr>
            <a:r>
              <a:rPr lang="en-US" sz="6600" b="true">
                <a:solidFill>
                  <a:srgbClr val="F4F1EA"/>
                </a:solidFill>
                <a:latin typeface="Source Serif Pro Bold"/>
                <a:ea typeface="Source Serif Pro Bold"/>
                <a:cs typeface="Source Serif Pro Bold"/>
                <a:sym typeface="Source Serif Pro Bold"/>
              </a:rPr>
              <a:t>No — income doesn’t explain</a:t>
            </a:r>
          </a:p>
          <a:p>
            <a:pPr algn="l">
              <a:lnSpc>
                <a:spcPts val="7260"/>
              </a:lnSpc>
            </a:pPr>
            <a:r>
              <a:rPr lang="en-US" sz="6600" b="true">
                <a:solidFill>
                  <a:srgbClr val="F4F1EA"/>
                </a:solidFill>
                <a:latin typeface="Source Serif Pro Bold"/>
                <a:ea typeface="Source Serif Pro Bold"/>
                <a:cs typeface="Source Serif Pro Bold"/>
                <a:sym typeface="Source Serif Pro Bold"/>
              </a:rPr>
              <a:t>the falling birth rate.</a:t>
            </a:r>
          </a:p>
        </p:txBody>
      </p:sp>
      <p:sp>
        <p:nvSpPr>
          <p:cNvPr name="TextBox 4" id="4"/>
          <p:cNvSpPr txBox="true"/>
          <p:nvPr/>
        </p:nvSpPr>
        <p:spPr>
          <a:xfrm rot="0">
            <a:off x="1219200" y="4389437"/>
            <a:ext cx="16325088" cy="372745"/>
          </a:xfrm>
          <a:prstGeom prst="rect">
            <a:avLst/>
          </a:prstGeom>
        </p:spPr>
        <p:txBody>
          <a:bodyPr anchor="t" rtlCol="false" tIns="0" lIns="0" bIns="0" rIns="0">
            <a:spAutoFit/>
          </a:bodyPr>
          <a:lstStyle/>
          <a:p>
            <a:pPr algn="l">
              <a:lnSpc>
                <a:spcPts val="3079"/>
              </a:lnSpc>
            </a:pPr>
            <a:r>
              <a:rPr lang="en-US" sz="2199">
                <a:solidFill>
                  <a:srgbClr val="C4C8D2"/>
                </a:solidFill>
                <a:latin typeface="IBM Plex Sans"/>
                <a:ea typeface="IBM Plex Sans"/>
                <a:cs typeface="IBM Plex Sans"/>
                <a:sym typeface="IBM Plex Sans"/>
              </a:rPr>
              <a:t>Once the shared trend is removed (yearly change) and births are given 1–3 years to respond (lag), income shows no link with TFR.</a:t>
            </a:r>
          </a:p>
        </p:txBody>
      </p:sp>
      <p:grpSp>
        <p:nvGrpSpPr>
          <p:cNvPr name="Group 5" id="5"/>
          <p:cNvGrpSpPr/>
          <p:nvPr/>
        </p:nvGrpSpPr>
        <p:grpSpPr>
          <a:xfrm rot="0">
            <a:off x="1219200" y="5334000"/>
            <a:ext cx="5079949" cy="2895600"/>
            <a:chOff x="0" y="0"/>
            <a:chExt cx="6773266" cy="3860800"/>
          </a:xfrm>
        </p:grpSpPr>
        <p:sp>
          <p:nvSpPr>
            <p:cNvPr name="Freeform 6" id="6"/>
            <p:cNvSpPr/>
            <p:nvPr/>
          </p:nvSpPr>
          <p:spPr>
            <a:xfrm flipH="false" flipV="false" rot="0">
              <a:off x="0" y="0"/>
              <a:ext cx="6773291" cy="3860800"/>
            </a:xfrm>
            <a:custGeom>
              <a:avLst/>
              <a:gdLst/>
              <a:ahLst/>
              <a:cxnLst/>
              <a:rect r="r" b="b" t="t" l="l"/>
              <a:pathLst>
                <a:path h="3860800" w="6773291">
                  <a:moveTo>
                    <a:pt x="0" y="203200"/>
                  </a:moveTo>
                  <a:cubicBezTo>
                    <a:pt x="0" y="90932"/>
                    <a:pt x="90932" y="0"/>
                    <a:pt x="203200" y="0"/>
                  </a:cubicBezTo>
                  <a:lnTo>
                    <a:pt x="6570091" y="0"/>
                  </a:lnTo>
                  <a:cubicBezTo>
                    <a:pt x="6682360" y="0"/>
                    <a:pt x="6773291" y="90932"/>
                    <a:pt x="6773291" y="203200"/>
                  </a:cubicBezTo>
                  <a:lnTo>
                    <a:pt x="6773291" y="3657600"/>
                  </a:lnTo>
                  <a:cubicBezTo>
                    <a:pt x="6773291" y="3769868"/>
                    <a:pt x="6682360" y="3860800"/>
                    <a:pt x="6570091" y="3860800"/>
                  </a:cubicBezTo>
                  <a:lnTo>
                    <a:pt x="203200" y="3860800"/>
                  </a:lnTo>
                  <a:cubicBezTo>
                    <a:pt x="90932" y="3860800"/>
                    <a:pt x="0" y="3769868"/>
                    <a:pt x="0" y="3657600"/>
                  </a:cubicBezTo>
                  <a:close/>
                </a:path>
              </a:pathLst>
            </a:custGeom>
            <a:solidFill>
              <a:srgbClr val="283147"/>
            </a:solidFill>
          </p:spPr>
        </p:sp>
      </p:grpSp>
      <p:sp>
        <p:nvSpPr>
          <p:cNvPr name="TextBox 7" id="7"/>
          <p:cNvSpPr txBox="true"/>
          <p:nvPr/>
        </p:nvSpPr>
        <p:spPr>
          <a:xfrm rot="0">
            <a:off x="1562100" y="5676900"/>
            <a:ext cx="4525975" cy="400050"/>
          </a:xfrm>
          <a:prstGeom prst="rect">
            <a:avLst/>
          </a:prstGeom>
        </p:spPr>
        <p:txBody>
          <a:bodyPr anchor="t" rtlCol="false" tIns="0" lIns="0" bIns="0" rIns="0">
            <a:spAutoFit/>
          </a:bodyPr>
          <a:lstStyle/>
          <a:p>
            <a:pPr algn="l">
              <a:lnSpc>
                <a:spcPts val="2879"/>
              </a:lnSpc>
            </a:pPr>
            <a:r>
              <a:rPr lang="en-US" sz="2400" b="true">
                <a:solidFill>
                  <a:srgbClr val="F4F1EA"/>
                </a:solidFill>
                <a:latin typeface="IBM Plex Sans Bold"/>
                <a:ea typeface="IBM Plex Sans Bold"/>
                <a:cs typeface="IBM Plex Sans Bold"/>
                <a:sym typeface="IBM Plex Sans Bold"/>
              </a:rPr>
              <a:t>Income</a:t>
            </a:r>
          </a:p>
        </p:txBody>
      </p:sp>
      <p:sp>
        <p:nvSpPr>
          <p:cNvPr name="TextBox 8" id="8"/>
          <p:cNvSpPr txBox="true"/>
          <p:nvPr/>
        </p:nvSpPr>
        <p:spPr>
          <a:xfrm rot="0">
            <a:off x="1562100" y="6115050"/>
            <a:ext cx="4525975" cy="762000"/>
          </a:xfrm>
          <a:prstGeom prst="rect">
            <a:avLst/>
          </a:prstGeom>
        </p:spPr>
        <p:txBody>
          <a:bodyPr anchor="t" rtlCol="false" tIns="0" lIns="0" bIns="0" rIns="0">
            <a:spAutoFit/>
          </a:bodyPr>
          <a:lstStyle/>
          <a:p>
            <a:pPr algn="l">
              <a:lnSpc>
                <a:spcPts val="2729"/>
              </a:lnSpc>
            </a:pPr>
            <a:r>
              <a:rPr lang="en-US" sz="1950">
                <a:solidFill>
                  <a:srgbClr val="C4C8D2"/>
                </a:solidFill>
                <a:latin typeface="IBM Plex Sans"/>
                <a:ea typeface="IBM Plex Sans"/>
                <a:cs typeface="IBM Plex Sans"/>
                <a:sym typeface="IBM Plex Sans"/>
              </a:rPr>
              <a:t>Real median +57%, TFR −24%. No yearly or lagged link (all p &gt; 0.2).</a:t>
            </a:r>
          </a:p>
        </p:txBody>
      </p:sp>
      <p:grpSp>
        <p:nvGrpSpPr>
          <p:cNvPr name="Group 9" id="9"/>
          <p:cNvGrpSpPr/>
          <p:nvPr/>
        </p:nvGrpSpPr>
        <p:grpSpPr>
          <a:xfrm rot="0">
            <a:off x="6603949" y="5334000"/>
            <a:ext cx="5079949" cy="2895600"/>
            <a:chOff x="0" y="0"/>
            <a:chExt cx="6773266" cy="3860800"/>
          </a:xfrm>
        </p:grpSpPr>
        <p:sp>
          <p:nvSpPr>
            <p:cNvPr name="Freeform 10" id="10"/>
            <p:cNvSpPr/>
            <p:nvPr/>
          </p:nvSpPr>
          <p:spPr>
            <a:xfrm flipH="false" flipV="false" rot="0">
              <a:off x="0" y="0"/>
              <a:ext cx="6773291" cy="3860800"/>
            </a:xfrm>
            <a:custGeom>
              <a:avLst/>
              <a:gdLst/>
              <a:ahLst/>
              <a:cxnLst/>
              <a:rect r="r" b="b" t="t" l="l"/>
              <a:pathLst>
                <a:path h="3860800" w="6773291">
                  <a:moveTo>
                    <a:pt x="0" y="203200"/>
                  </a:moveTo>
                  <a:cubicBezTo>
                    <a:pt x="0" y="90932"/>
                    <a:pt x="90932" y="0"/>
                    <a:pt x="203200" y="0"/>
                  </a:cubicBezTo>
                  <a:lnTo>
                    <a:pt x="6570091" y="0"/>
                  </a:lnTo>
                  <a:cubicBezTo>
                    <a:pt x="6682360" y="0"/>
                    <a:pt x="6773291" y="90932"/>
                    <a:pt x="6773291" y="203200"/>
                  </a:cubicBezTo>
                  <a:lnTo>
                    <a:pt x="6773291" y="3657600"/>
                  </a:lnTo>
                  <a:cubicBezTo>
                    <a:pt x="6773291" y="3769868"/>
                    <a:pt x="6682360" y="3860800"/>
                    <a:pt x="6570091" y="3860800"/>
                  </a:cubicBezTo>
                  <a:lnTo>
                    <a:pt x="203200" y="3860800"/>
                  </a:lnTo>
                  <a:cubicBezTo>
                    <a:pt x="90932" y="3860800"/>
                    <a:pt x="0" y="3769868"/>
                    <a:pt x="0" y="3657600"/>
                  </a:cubicBezTo>
                  <a:close/>
                </a:path>
              </a:pathLst>
            </a:custGeom>
            <a:solidFill>
              <a:srgbClr val="283147"/>
            </a:solidFill>
          </p:spPr>
        </p:sp>
      </p:grpSp>
      <p:sp>
        <p:nvSpPr>
          <p:cNvPr name="TextBox 11" id="11"/>
          <p:cNvSpPr txBox="true"/>
          <p:nvPr/>
        </p:nvSpPr>
        <p:spPr>
          <a:xfrm rot="0">
            <a:off x="6946849" y="5676900"/>
            <a:ext cx="4525975" cy="762000"/>
          </a:xfrm>
          <a:prstGeom prst="rect">
            <a:avLst/>
          </a:prstGeom>
        </p:spPr>
        <p:txBody>
          <a:bodyPr anchor="t" rtlCol="false" tIns="0" lIns="0" bIns="0" rIns="0">
            <a:spAutoFit/>
          </a:bodyPr>
          <a:lstStyle/>
          <a:p>
            <a:pPr algn="l">
              <a:lnSpc>
                <a:spcPts val="2879"/>
              </a:lnSpc>
            </a:pPr>
            <a:r>
              <a:rPr lang="en-US" sz="2400" b="true">
                <a:solidFill>
                  <a:srgbClr val="F4F1EA"/>
                </a:solidFill>
                <a:latin typeface="IBM Plex Sans Bold"/>
                <a:ea typeface="IBM Plex Sans Bold"/>
                <a:cs typeface="IBM Plex Sans Bold"/>
                <a:sym typeface="IBM Plex Sans Bold"/>
              </a:rPr>
              <a:t>Inequality (Gini after taxes &amp; transfers)</a:t>
            </a:r>
          </a:p>
        </p:txBody>
      </p:sp>
      <p:sp>
        <p:nvSpPr>
          <p:cNvPr name="TextBox 12" id="12"/>
          <p:cNvSpPr txBox="true"/>
          <p:nvPr/>
        </p:nvSpPr>
        <p:spPr>
          <a:xfrm rot="0">
            <a:off x="6946849" y="6477000"/>
            <a:ext cx="4525975" cy="1360170"/>
          </a:xfrm>
          <a:prstGeom prst="rect">
            <a:avLst/>
          </a:prstGeom>
        </p:spPr>
        <p:txBody>
          <a:bodyPr anchor="t" rtlCol="false" tIns="0" lIns="0" bIns="0" rIns="0">
            <a:spAutoFit/>
          </a:bodyPr>
          <a:lstStyle/>
          <a:p>
            <a:pPr algn="l">
              <a:lnSpc>
                <a:spcPts val="2729"/>
              </a:lnSpc>
            </a:pPr>
            <a:r>
              <a:rPr lang="en-US" sz="1950">
                <a:solidFill>
                  <a:srgbClr val="C4C8D2"/>
                </a:solidFill>
                <a:latin typeface="IBM Plex Sans"/>
                <a:ea typeface="IBM Plex Sans"/>
                <a:cs typeface="IBM Plex Sans"/>
                <a:sym typeface="IBM Plex Sans"/>
              </a:rPr>
              <a:t>Higher Gini goes with higher TFR year to year (p = 0.009), likely because both follow the economy cycle. The link is gone with a 1-year lag. </a:t>
            </a:r>
          </a:p>
        </p:txBody>
      </p:sp>
      <p:grpSp>
        <p:nvGrpSpPr>
          <p:cNvPr name="Group 13" id="13"/>
          <p:cNvGrpSpPr/>
          <p:nvPr/>
        </p:nvGrpSpPr>
        <p:grpSpPr>
          <a:xfrm rot="0">
            <a:off x="11988698" y="5334000"/>
            <a:ext cx="5080102" cy="2895600"/>
            <a:chOff x="0" y="0"/>
            <a:chExt cx="6773469" cy="3860800"/>
          </a:xfrm>
        </p:grpSpPr>
        <p:sp>
          <p:nvSpPr>
            <p:cNvPr name="Freeform 14" id="14"/>
            <p:cNvSpPr/>
            <p:nvPr/>
          </p:nvSpPr>
          <p:spPr>
            <a:xfrm flipH="false" flipV="false" rot="0">
              <a:off x="0" y="0"/>
              <a:ext cx="6773418" cy="3860800"/>
            </a:xfrm>
            <a:custGeom>
              <a:avLst/>
              <a:gdLst/>
              <a:ahLst/>
              <a:cxnLst/>
              <a:rect r="r" b="b" t="t" l="l"/>
              <a:pathLst>
                <a:path h="3860800" w="6773418">
                  <a:moveTo>
                    <a:pt x="0" y="203200"/>
                  </a:moveTo>
                  <a:cubicBezTo>
                    <a:pt x="0" y="90932"/>
                    <a:pt x="90932" y="0"/>
                    <a:pt x="203200" y="0"/>
                  </a:cubicBezTo>
                  <a:lnTo>
                    <a:pt x="6570218" y="0"/>
                  </a:lnTo>
                  <a:cubicBezTo>
                    <a:pt x="6682487" y="0"/>
                    <a:pt x="6773418" y="90932"/>
                    <a:pt x="6773418" y="203200"/>
                  </a:cubicBezTo>
                  <a:lnTo>
                    <a:pt x="6773418" y="3657600"/>
                  </a:lnTo>
                  <a:cubicBezTo>
                    <a:pt x="6773418" y="3769868"/>
                    <a:pt x="6682487" y="3860800"/>
                    <a:pt x="6570218" y="3860800"/>
                  </a:cubicBezTo>
                  <a:lnTo>
                    <a:pt x="203200" y="3860800"/>
                  </a:lnTo>
                  <a:cubicBezTo>
                    <a:pt x="90932" y="3860800"/>
                    <a:pt x="0" y="3769868"/>
                    <a:pt x="0" y="3657600"/>
                  </a:cubicBezTo>
                  <a:close/>
                </a:path>
              </a:pathLst>
            </a:custGeom>
            <a:solidFill>
              <a:srgbClr val="283147"/>
            </a:solidFill>
          </p:spPr>
        </p:sp>
      </p:grpSp>
      <p:sp>
        <p:nvSpPr>
          <p:cNvPr name="TextBox 15" id="15"/>
          <p:cNvSpPr txBox="true"/>
          <p:nvPr/>
        </p:nvSpPr>
        <p:spPr>
          <a:xfrm rot="0">
            <a:off x="12331598" y="5676900"/>
            <a:ext cx="4526128" cy="400050"/>
          </a:xfrm>
          <a:prstGeom prst="rect">
            <a:avLst/>
          </a:prstGeom>
        </p:spPr>
        <p:txBody>
          <a:bodyPr anchor="t" rtlCol="false" tIns="0" lIns="0" bIns="0" rIns="0">
            <a:spAutoFit/>
          </a:bodyPr>
          <a:lstStyle/>
          <a:p>
            <a:pPr algn="l">
              <a:lnSpc>
                <a:spcPts val="2879"/>
              </a:lnSpc>
            </a:pPr>
            <a:r>
              <a:rPr lang="en-US" sz="2400" b="true">
                <a:solidFill>
                  <a:srgbClr val="F08A5D"/>
                </a:solidFill>
                <a:latin typeface="IBM Plex Sans Bold"/>
                <a:ea typeface="IBM Plex Sans Bold"/>
                <a:cs typeface="IBM Plex Sans Bold"/>
                <a:sym typeface="IBM Plex Sans Bold"/>
              </a:rPr>
              <a:t>What passes the test</a:t>
            </a:r>
          </a:p>
        </p:txBody>
      </p:sp>
      <p:sp>
        <p:nvSpPr>
          <p:cNvPr name="TextBox 16" id="16"/>
          <p:cNvSpPr txBox="true"/>
          <p:nvPr/>
        </p:nvSpPr>
        <p:spPr>
          <a:xfrm rot="0">
            <a:off x="12331598" y="6115050"/>
            <a:ext cx="4737202" cy="331470"/>
          </a:xfrm>
          <a:prstGeom prst="rect">
            <a:avLst/>
          </a:prstGeom>
        </p:spPr>
        <p:txBody>
          <a:bodyPr anchor="t" rtlCol="false" tIns="0" lIns="0" bIns="0" rIns="0">
            <a:spAutoFit/>
          </a:bodyPr>
          <a:lstStyle/>
          <a:p>
            <a:pPr algn="l">
              <a:lnSpc>
                <a:spcPts val="2729"/>
              </a:lnSpc>
            </a:pPr>
            <a:r>
              <a:rPr lang="en-US" sz="1950">
                <a:solidFill>
                  <a:srgbClr val="C4C8D2"/>
                </a:solidFill>
                <a:latin typeface="IBM Plex Sans"/>
                <a:ea typeface="IBM Plex Sans"/>
                <a:cs typeface="IBM Plex Sans"/>
                <a:sym typeface="IBM Plex Sans"/>
              </a:rPr>
              <a:t>Look at </a:t>
            </a:r>
            <a:r>
              <a:rPr lang="en-US" sz="1950" b="true">
                <a:solidFill>
                  <a:srgbClr val="C4C8D2"/>
                </a:solidFill>
                <a:latin typeface="IBM Plex Sans Bold"/>
                <a:ea typeface="IBM Plex Sans Bold"/>
                <a:cs typeface="IBM Plex Sans Bold"/>
                <a:sym typeface="IBM Plex Sans Bold"/>
              </a:rPr>
              <a:t>marriage timing</a:t>
            </a:r>
            <a:r>
              <a:rPr lang="en-US" sz="1950">
                <a:solidFill>
                  <a:srgbClr val="C4C8D2"/>
                </a:solidFill>
                <a:latin typeface="IBM Plex Sans"/>
                <a:ea typeface="IBM Plex Sans"/>
                <a:cs typeface="IBM Plex Sans"/>
                <a:sym typeface="IBM Plex Sans"/>
              </a:rPr>
              <a:t> in the next part.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D2433"/>
        </a:solidFill>
      </p:bgPr>
    </p:bg>
    <p:spTree>
      <p:nvGrpSpPr>
        <p:cNvPr id="1" name=""/>
        <p:cNvGrpSpPr/>
        <p:nvPr/>
      </p:nvGrpSpPr>
      <p:grpSpPr>
        <a:xfrm>
          <a:off x="0" y="0"/>
          <a:ext cx="0" cy="0"/>
          <a:chOff x="0" y="0"/>
          <a:chExt cx="0" cy="0"/>
        </a:xfrm>
      </p:grpSpPr>
      <p:sp>
        <p:nvSpPr>
          <p:cNvPr name="Freeform 2" id="2"/>
          <p:cNvSpPr/>
          <p:nvPr/>
        </p:nvSpPr>
        <p:spPr>
          <a:xfrm flipH="false" flipV="false" rot="0">
            <a:off x="-436949" y="-276936"/>
            <a:ext cx="19345741" cy="10944881"/>
          </a:xfrm>
          <a:custGeom>
            <a:avLst/>
            <a:gdLst/>
            <a:ahLst/>
            <a:cxnLst/>
            <a:rect r="r" b="b" t="t" l="l"/>
            <a:pathLst>
              <a:path h="10944881" w="19345741">
                <a:moveTo>
                  <a:pt x="0" y="0"/>
                </a:moveTo>
                <a:lnTo>
                  <a:pt x="19345741" y="0"/>
                </a:lnTo>
                <a:lnTo>
                  <a:pt x="19345741" y="10944881"/>
                </a:lnTo>
                <a:lnTo>
                  <a:pt x="0" y="10944881"/>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878843" y="553717"/>
            <a:ext cx="16581120" cy="734063"/>
          </a:xfrm>
          <a:prstGeom prst="rect">
            <a:avLst/>
          </a:prstGeom>
        </p:spPr>
        <p:txBody>
          <a:bodyPr anchor="t" rtlCol="false" tIns="0" lIns="0" bIns="0" rIns="0">
            <a:spAutoFit/>
          </a:bodyPr>
          <a:lstStyle/>
          <a:p>
            <a:pPr algn="l">
              <a:lnSpc>
                <a:spcPts val="5519"/>
              </a:lnSpc>
            </a:pPr>
            <a:r>
              <a:rPr lang="en-US" sz="4599" b="true">
                <a:solidFill>
                  <a:srgbClr val="242424"/>
                </a:solidFill>
                <a:latin typeface="Aptos Bold"/>
                <a:ea typeface="Aptos Bold"/>
                <a:cs typeface="Aptos Bold"/>
                <a:sym typeface="Aptos Bold"/>
              </a:rPr>
              <a:t>Housing prices rose as fertility fell</a:t>
            </a:r>
          </a:p>
        </p:txBody>
      </p:sp>
      <p:sp>
        <p:nvSpPr>
          <p:cNvPr name="TextBox 3" id="3"/>
          <p:cNvSpPr txBox="true"/>
          <p:nvPr/>
        </p:nvSpPr>
        <p:spPr>
          <a:xfrm rot="0">
            <a:off x="916943" y="1557023"/>
            <a:ext cx="16327117" cy="416557"/>
          </a:xfrm>
          <a:prstGeom prst="rect">
            <a:avLst/>
          </a:prstGeom>
        </p:spPr>
        <p:txBody>
          <a:bodyPr anchor="t" rtlCol="false" tIns="0" lIns="0" bIns="0" rIns="0">
            <a:spAutoFit/>
          </a:bodyPr>
          <a:lstStyle/>
          <a:p>
            <a:pPr algn="l">
              <a:lnSpc>
                <a:spcPts val="3120"/>
              </a:lnSpc>
            </a:pPr>
            <a:r>
              <a:rPr lang="en-US" sz="2600">
                <a:solidFill>
                  <a:srgbClr val="555555"/>
                </a:solidFill>
                <a:latin typeface="Aptos"/>
                <a:ea typeface="Aptos"/>
                <a:cs typeface="Aptos"/>
                <a:sym typeface="Aptos"/>
              </a:rPr>
              <a:t>2010–2025. Housing indices and national TFR</a:t>
            </a:r>
          </a:p>
        </p:txBody>
      </p:sp>
      <p:sp>
        <p:nvSpPr>
          <p:cNvPr name="TextBox 4" id="4"/>
          <p:cNvSpPr txBox="true"/>
          <p:nvPr/>
        </p:nvSpPr>
        <p:spPr>
          <a:xfrm rot="0">
            <a:off x="929640" y="2420617"/>
            <a:ext cx="5151120" cy="416557"/>
          </a:xfrm>
          <a:prstGeom prst="rect">
            <a:avLst/>
          </a:prstGeom>
        </p:spPr>
        <p:txBody>
          <a:bodyPr anchor="t" rtlCol="false" tIns="0" lIns="0" bIns="0" rIns="0">
            <a:spAutoFit/>
          </a:bodyPr>
          <a:lstStyle/>
          <a:p>
            <a:pPr algn="l">
              <a:lnSpc>
                <a:spcPts val="3359"/>
              </a:lnSpc>
            </a:pPr>
            <a:r>
              <a:rPr lang="en-US" sz="2799" b="true">
                <a:solidFill>
                  <a:srgbClr val="242424"/>
                </a:solidFill>
                <a:latin typeface="Aptos Bold"/>
                <a:ea typeface="Aptos Bold"/>
                <a:cs typeface="Aptos Bold"/>
                <a:sym typeface="Aptos Bold"/>
              </a:rPr>
              <a:t>Price trends</a:t>
            </a:r>
          </a:p>
        </p:txBody>
      </p:sp>
      <p:sp>
        <p:nvSpPr>
          <p:cNvPr name="TextBox 5" id="5"/>
          <p:cNvSpPr txBox="true"/>
          <p:nvPr/>
        </p:nvSpPr>
        <p:spPr>
          <a:xfrm rot="0">
            <a:off x="6631943" y="2420617"/>
            <a:ext cx="5151120" cy="416557"/>
          </a:xfrm>
          <a:prstGeom prst="rect">
            <a:avLst/>
          </a:prstGeom>
        </p:spPr>
        <p:txBody>
          <a:bodyPr anchor="t" rtlCol="false" tIns="0" lIns="0" bIns="0" rIns="0">
            <a:spAutoFit/>
          </a:bodyPr>
          <a:lstStyle/>
          <a:p>
            <a:pPr algn="l">
              <a:lnSpc>
                <a:spcPts val="3359"/>
              </a:lnSpc>
            </a:pPr>
            <a:r>
              <a:rPr lang="en-US" sz="2799" b="true">
                <a:solidFill>
                  <a:srgbClr val="242424"/>
                </a:solidFill>
                <a:latin typeface="Aptos Bold"/>
                <a:ea typeface="Aptos Bold"/>
                <a:cs typeface="Aptos Bold"/>
                <a:sym typeface="Aptos Bold"/>
              </a:rPr>
              <a:t>HDB prices vs TFR</a:t>
            </a:r>
          </a:p>
        </p:txBody>
      </p:sp>
      <p:grpSp>
        <p:nvGrpSpPr>
          <p:cNvPr name="Group 6" id="6"/>
          <p:cNvGrpSpPr/>
          <p:nvPr/>
        </p:nvGrpSpPr>
        <p:grpSpPr>
          <a:xfrm rot="0">
            <a:off x="993686" y="2984497"/>
            <a:ext cx="4997625" cy="4953000"/>
            <a:chOff x="0" y="0"/>
            <a:chExt cx="6663499" cy="6604000"/>
          </a:xfrm>
        </p:grpSpPr>
        <p:sp>
          <p:nvSpPr>
            <p:cNvPr name="Freeform 7" id="7"/>
            <p:cNvSpPr/>
            <p:nvPr/>
          </p:nvSpPr>
          <p:spPr>
            <a:xfrm flipH="false" flipV="false" rot="0">
              <a:off x="0" y="0"/>
              <a:ext cx="6663436" cy="6604000"/>
            </a:xfrm>
            <a:custGeom>
              <a:avLst/>
              <a:gdLst/>
              <a:ahLst/>
              <a:cxnLst/>
              <a:rect r="r" b="b" t="t" l="l"/>
              <a:pathLst>
                <a:path h="6604000" w="6663436">
                  <a:moveTo>
                    <a:pt x="0" y="0"/>
                  </a:moveTo>
                  <a:lnTo>
                    <a:pt x="6663436" y="0"/>
                  </a:lnTo>
                  <a:lnTo>
                    <a:pt x="6663436" y="6604000"/>
                  </a:lnTo>
                  <a:lnTo>
                    <a:pt x="0" y="6604000"/>
                  </a:lnTo>
                  <a:lnTo>
                    <a:pt x="0" y="0"/>
                  </a:lnTo>
                  <a:close/>
                </a:path>
              </a:pathLst>
            </a:custGeom>
            <a:blipFill>
              <a:blip r:embed="rId3"/>
              <a:stretch>
                <a:fillRect l="0" t="0" r="0" b="0"/>
              </a:stretch>
            </a:blipFill>
          </p:spPr>
        </p:sp>
      </p:grpSp>
      <p:grpSp>
        <p:nvGrpSpPr>
          <p:cNvPr name="Group 8" id="8"/>
          <p:cNvGrpSpPr/>
          <p:nvPr/>
        </p:nvGrpSpPr>
        <p:grpSpPr>
          <a:xfrm rot="0">
            <a:off x="6477000" y="3036456"/>
            <a:ext cx="5334000" cy="4849092"/>
            <a:chOff x="0" y="0"/>
            <a:chExt cx="7112000" cy="6465456"/>
          </a:xfrm>
        </p:grpSpPr>
        <p:sp>
          <p:nvSpPr>
            <p:cNvPr name="Freeform 9" id="9"/>
            <p:cNvSpPr/>
            <p:nvPr/>
          </p:nvSpPr>
          <p:spPr>
            <a:xfrm flipH="false" flipV="false" rot="0">
              <a:off x="0" y="0"/>
              <a:ext cx="7112000" cy="6465443"/>
            </a:xfrm>
            <a:custGeom>
              <a:avLst/>
              <a:gdLst/>
              <a:ahLst/>
              <a:cxnLst/>
              <a:rect r="r" b="b" t="t" l="l"/>
              <a:pathLst>
                <a:path h="6465443" w="7112000">
                  <a:moveTo>
                    <a:pt x="0" y="0"/>
                  </a:moveTo>
                  <a:lnTo>
                    <a:pt x="7112000" y="0"/>
                  </a:lnTo>
                  <a:lnTo>
                    <a:pt x="7112000" y="6465443"/>
                  </a:lnTo>
                  <a:lnTo>
                    <a:pt x="0" y="6465443"/>
                  </a:lnTo>
                  <a:lnTo>
                    <a:pt x="0" y="0"/>
                  </a:lnTo>
                  <a:close/>
                </a:path>
              </a:pathLst>
            </a:custGeom>
            <a:blipFill>
              <a:blip r:embed="rId4"/>
              <a:stretch>
                <a:fillRect l="0" t="0" r="0" b="0"/>
              </a:stretch>
            </a:blipFill>
          </p:spPr>
        </p:sp>
      </p:grpSp>
      <p:sp>
        <p:nvSpPr>
          <p:cNvPr name="TextBox 10" id="10"/>
          <p:cNvSpPr txBox="true"/>
          <p:nvPr/>
        </p:nvSpPr>
        <p:spPr>
          <a:xfrm rot="0">
            <a:off x="12626340" y="2458717"/>
            <a:ext cx="4770120" cy="480060"/>
          </a:xfrm>
          <a:prstGeom prst="rect">
            <a:avLst/>
          </a:prstGeom>
        </p:spPr>
        <p:txBody>
          <a:bodyPr anchor="t" rtlCol="false" tIns="0" lIns="0" bIns="0" rIns="0">
            <a:spAutoFit/>
          </a:bodyPr>
          <a:lstStyle/>
          <a:p>
            <a:pPr algn="l">
              <a:lnSpc>
                <a:spcPts val="3240"/>
              </a:lnSpc>
            </a:pPr>
            <a:r>
              <a:rPr lang="en-US" sz="2700" b="true">
                <a:solidFill>
                  <a:srgbClr val="242424"/>
                </a:solidFill>
                <a:latin typeface="Aptos Bold"/>
                <a:ea typeface="Aptos Bold"/>
                <a:cs typeface="Aptos Bold"/>
                <a:sym typeface="Aptos Bold"/>
              </a:rPr>
              <a:t>Price growth since 2010</a:t>
            </a:r>
          </a:p>
        </p:txBody>
      </p:sp>
      <p:sp>
        <p:nvSpPr>
          <p:cNvPr name="TextBox 11" id="11"/>
          <p:cNvSpPr txBox="true"/>
          <p:nvPr/>
        </p:nvSpPr>
        <p:spPr>
          <a:xfrm rot="0">
            <a:off x="12626340" y="5722620"/>
            <a:ext cx="4770120" cy="568957"/>
          </a:xfrm>
          <a:prstGeom prst="rect">
            <a:avLst/>
          </a:prstGeom>
        </p:spPr>
        <p:txBody>
          <a:bodyPr anchor="t" rtlCol="false" tIns="0" lIns="0" bIns="0" rIns="0">
            <a:spAutoFit/>
          </a:bodyPr>
          <a:lstStyle/>
          <a:p>
            <a:pPr algn="l">
              <a:lnSpc>
                <a:spcPts val="2879"/>
              </a:lnSpc>
            </a:pPr>
            <a:r>
              <a:rPr lang="en-US" sz="2400" b="true">
                <a:solidFill>
                  <a:srgbClr val="242424"/>
                </a:solidFill>
                <a:latin typeface="Aptos Bold"/>
                <a:ea typeface="Aptos Bold"/>
                <a:cs typeface="Aptos Bold"/>
                <a:sym typeface="Aptos Bold"/>
              </a:rPr>
              <a:t>Same-year correlation, r (p)</a:t>
            </a:r>
          </a:p>
        </p:txBody>
      </p:sp>
      <p:graphicFrame>
        <p:nvGraphicFramePr>
          <p:cNvPr name="Table 12" id="12"/>
          <p:cNvGraphicFramePr>
            <a:graphicFrameLocks noGrp="true"/>
          </p:cNvGraphicFramePr>
          <p:nvPr/>
        </p:nvGraphicFramePr>
        <p:xfrm>
          <a:off x="12446000" y="6426200"/>
          <a:ext cx="4995333" cy="1828800"/>
        </p:xfrm>
        <a:graphic>
          <a:graphicData uri="http://schemas.openxmlformats.org/drawingml/2006/table">
            <a:tbl>
              <a:tblPr/>
              <a:tblGrid>
                <a:gridCol w="1840518"/>
                <a:gridCol w="3154815"/>
              </a:tblGrid>
              <a:tr h="462798">
                <a:tc>
                  <a:txBody>
                    <a:bodyPr anchor="t" rtlCol="false"/>
                    <a:lstStyle/>
                    <a:p>
                      <a:pPr algn="l">
                        <a:lnSpc>
                          <a:spcPts val="2639"/>
                        </a:lnSpc>
                        <a:defRPr/>
                      </a:pPr>
                      <a:r>
                        <a:rPr lang="en-US" sz="2199" b="true">
                          <a:solidFill>
                            <a:srgbClr val="303030"/>
                          </a:solidFill>
                          <a:latin typeface="Aptos Bold"/>
                          <a:ea typeface="Aptos Bold"/>
                          <a:cs typeface="Aptos Bold"/>
                          <a:sym typeface="Aptos Bold"/>
                        </a:rPr>
                        <a:t>Housing</a:t>
                      </a:r>
                      <a:endParaRPr lang="en-US" sz="1100"/>
                    </a:p>
                  </a:txBody>
                  <a:tcPr marL="91440" marR="91440" marT="91440" marB="91440" anchor="t">
                    <a:lnL cmpd="sng" algn="ctr" cap="flat" w="5715">
                      <a:solidFill>
                        <a:srgbClr val="D5D5D5"/>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5715">
                      <a:solidFill>
                        <a:srgbClr val="D5D5D5"/>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EAECEE"/>
                    </a:solidFill>
                  </a:tcPr>
                </a:tc>
                <a:tc>
                  <a:txBody>
                    <a:bodyPr anchor="t" rtlCol="false"/>
                    <a:lstStyle/>
                    <a:p>
                      <a:pPr algn="l">
                        <a:lnSpc>
                          <a:spcPts val="2639"/>
                        </a:lnSpc>
                        <a:defRPr/>
                      </a:pPr>
                      <a:r>
                        <a:rPr lang="en-US" sz="2199" b="true">
                          <a:solidFill>
                            <a:srgbClr val="303030"/>
                          </a:solidFill>
                          <a:latin typeface="Aptos Bold"/>
                          <a:ea typeface="Aptos Bold"/>
                          <a:cs typeface="Aptos Bold"/>
                          <a:sym typeface="Aptos Bold"/>
                        </a:rPr>
                        <a:t>Levels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5715">
                      <a:solidFill>
                        <a:srgbClr val="D5D5D5"/>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EAECEE"/>
                    </a:solidFill>
                  </a:tcPr>
                </a:tc>
              </a:tr>
              <a:tr h="455334">
                <a:tc>
                  <a:txBody>
                    <a:bodyPr anchor="t" rtlCol="false"/>
                    <a:lstStyle/>
                    <a:p>
                      <a:pPr algn="l">
                        <a:lnSpc>
                          <a:spcPts val="2639"/>
                        </a:lnSpc>
                        <a:defRPr/>
                      </a:pPr>
                      <a:r>
                        <a:rPr lang="en-US" sz="2199">
                          <a:solidFill>
                            <a:srgbClr val="303030"/>
                          </a:solidFill>
                          <a:latin typeface="Aptos"/>
                          <a:ea typeface="Aptos"/>
                          <a:cs typeface="Aptos"/>
                          <a:sym typeface="Aptos"/>
                        </a:rPr>
                        <a:t>HDB</a:t>
                      </a:r>
                      <a:endParaRPr lang="en-US" sz="1100"/>
                    </a:p>
                  </a:txBody>
                  <a:tcPr marL="91440" marR="91440" marT="91440" marB="91440" anchor="t">
                    <a:lnL cmpd="sng" algn="ctr" cap="flat" w="5715">
                      <a:solidFill>
                        <a:srgbClr val="D5D5D5"/>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c>
                  <a:txBody>
                    <a:bodyPr anchor="t" rtlCol="false"/>
                    <a:lstStyle/>
                    <a:p>
                      <a:pPr algn="l">
                        <a:lnSpc>
                          <a:spcPts val="2639"/>
                        </a:lnSpc>
                        <a:defRPr/>
                      </a:pPr>
                      <a:r>
                        <a:rPr lang="en-US" sz="2199">
                          <a:solidFill>
                            <a:srgbClr val="303030"/>
                          </a:solidFill>
                          <a:latin typeface="Aptos"/>
                          <a:ea typeface="Aptos"/>
                          <a:cs typeface="Aptos"/>
                          <a:sym typeface="Aptos"/>
                        </a:rPr>
                        <a:t>−0.83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r>
              <a:tr h="455334">
                <a:tc>
                  <a:txBody>
                    <a:bodyPr anchor="t" rtlCol="false"/>
                    <a:lstStyle/>
                    <a:p>
                      <a:pPr algn="l">
                        <a:lnSpc>
                          <a:spcPts val="2639"/>
                        </a:lnSpc>
                        <a:defRPr/>
                      </a:pPr>
                      <a:r>
                        <a:rPr lang="en-US" sz="2199">
                          <a:solidFill>
                            <a:srgbClr val="303030"/>
                          </a:solidFill>
                          <a:latin typeface="Aptos"/>
                          <a:ea typeface="Aptos"/>
                          <a:cs typeface="Aptos"/>
                          <a:sym typeface="Aptos"/>
                        </a:rPr>
                        <a:t>Condo</a:t>
                      </a:r>
                      <a:endParaRPr lang="en-US" sz="1100"/>
                    </a:p>
                  </a:txBody>
                  <a:tcPr marL="91440" marR="91440" marT="91440" marB="91440" anchor="t">
                    <a:lnL cmpd="sng" algn="ctr" cap="flat" w="5715">
                      <a:solidFill>
                        <a:srgbClr val="D5D5D5"/>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c>
                  <a:txBody>
                    <a:bodyPr anchor="t" rtlCol="false"/>
                    <a:lstStyle/>
                    <a:p>
                      <a:pPr algn="l">
                        <a:lnSpc>
                          <a:spcPts val="2639"/>
                        </a:lnSpc>
                        <a:defRPr/>
                      </a:pPr>
                      <a:r>
                        <a:rPr lang="en-US" sz="2199">
                          <a:solidFill>
                            <a:srgbClr val="303030"/>
                          </a:solidFill>
                          <a:latin typeface="Aptos"/>
                          <a:ea typeface="Aptos"/>
                          <a:cs typeface="Aptos"/>
                          <a:sym typeface="Aptos"/>
                        </a:rPr>
                        <a:t>−0.90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r>
              <a:tr h="455334">
                <a:tc>
                  <a:txBody>
                    <a:bodyPr anchor="t" rtlCol="false"/>
                    <a:lstStyle/>
                    <a:p>
                      <a:pPr algn="l">
                        <a:lnSpc>
                          <a:spcPts val="2639"/>
                        </a:lnSpc>
                        <a:defRPr/>
                      </a:pPr>
                      <a:r>
                        <a:rPr lang="en-US" sz="2199">
                          <a:solidFill>
                            <a:srgbClr val="303030"/>
                          </a:solidFill>
                          <a:latin typeface="Aptos"/>
                          <a:ea typeface="Aptos"/>
                          <a:cs typeface="Aptos"/>
                          <a:sym typeface="Aptos"/>
                        </a:rPr>
                        <a:t>Landed</a:t>
                      </a:r>
                      <a:endParaRPr lang="en-US" sz="1100"/>
                    </a:p>
                  </a:txBody>
                  <a:tcPr marL="91440" marR="91440" marT="91440" marB="91440" anchor="t">
                    <a:lnL cmpd="sng" algn="ctr" cap="flat" w="5715">
                      <a:solidFill>
                        <a:srgbClr val="D5D5D5"/>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c>
                  <a:txBody>
                    <a:bodyPr anchor="t" rtlCol="false"/>
                    <a:lstStyle/>
                    <a:p>
                      <a:pPr algn="l">
                        <a:lnSpc>
                          <a:spcPts val="2639"/>
                        </a:lnSpc>
                        <a:defRPr/>
                      </a:pPr>
                      <a:r>
                        <a:rPr lang="en-US" sz="2199">
                          <a:solidFill>
                            <a:srgbClr val="303030"/>
                          </a:solidFill>
                          <a:latin typeface="Aptos"/>
                          <a:ea typeface="Aptos"/>
                          <a:cs typeface="Aptos"/>
                          <a:sym typeface="Aptos"/>
                        </a:rPr>
                        <a:t>−0.83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5D5D5"/>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5D5D5"/>
                      </a:solidFill>
                      <a:prstDash val="solid"/>
                      <a:round/>
                      <a:headEnd type="none" w="med" len="med"/>
                      <a:tailEnd type="none" w="med" len="med"/>
                    </a:lnB>
                    <a:solidFill>
                      <a:srgbClr val="F7F7F5"/>
                    </a:solidFill>
                  </a:tcPr>
                </a:tc>
              </a:tr>
            </a:tbl>
          </a:graphicData>
        </a:graphic>
      </p:graphicFrame>
      <p:sp>
        <p:nvSpPr>
          <p:cNvPr name="TextBox 13" id="13"/>
          <p:cNvSpPr txBox="true"/>
          <p:nvPr/>
        </p:nvSpPr>
        <p:spPr>
          <a:xfrm rot="0">
            <a:off x="916943" y="8818245"/>
            <a:ext cx="16581120" cy="559432"/>
          </a:xfrm>
          <a:prstGeom prst="rect">
            <a:avLst/>
          </a:prstGeom>
        </p:spPr>
        <p:txBody>
          <a:bodyPr anchor="t" rtlCol="false" tIns="0" lIns="0" bIns="0" rIns="0">
            <a:spAutoFit/>
          </a:bodyPr>
          <a:lstStyle/>
          <a:p>
            <a:pPr algn="l">
              <a:lnSpc>
                <a:spcPts val="3480"/>
              </a:lnSpc>
            </a:pPr>
            <a:r>
              <a:rPr lang="en-US" sz="2900" b="true">
                <a:solidFill>
                  <a:srgbClr val="242424"/>
                </a:solidFill>
                <a:latin typeface="Aptos Bold"/>
                <a:ea typeface="Aptos Bold"/>
                <a:cs typeface="Aptos Bold"/>
                <a:sym typeface="Aptos Bold"/>
              </a:rPr>
              <a:t>The negative association appears across housing types, strongest for condo prices.</a:t>
            </a:r>
          </a:p>
        </p:txBody>
      </p:sp>
      <p:sp>
        <p:nvSpPr>
          <p:cNvPr name="TextBox 14" id="14"/>
          <p:cNvSpPr txBox="true"/>
          <p:nvPr/>
        </p:nvSpPr>
        <p:spPr>
          <a:xfrm rot="0">
            <a:off x="916943" y="9583417"/>
            <a:ext cx="16581120" cy="353063"/>
          </a:xfrm>
          <a:prstGeom prst="rect">
            <a:avLst/>
          </a:prstGeom>
        </p:spPr>
        <p:txBody>
          <a:bodyPr anchor="t" rtlCol="false" tIns="0" lIns="0" bIns="0" rIns="0">
            <a:spAutoFit/>
          </a:bodyPr>
          <a:lstStyle/>
          <a:p>
            <a:pPr algn="l">
              <a:lnSpc>
                <a:spcPts val="2639"/>
              </a:lnSpc>
            </a:pPr>
            <a:r>
              <a:rPr lang="en-US" sz="2199">
                <a:solidFill>
                  <a:srgbClr val="666666"/>
                </a:solidFill>
                <a:latin typeface="Aptos"/>
                <a:ea typeface="Aptos"/>
                <a:cs typeface="Aptos"/>
                <a:sym typeface="Aptos"/>
              </a:rPr>
              <a:t>Price indices do not measure affordability. Shared time trends can exaggerate level associations.</a:t>
            </a:r>
          </a:p>
        </p:txBody>
      </p:sp>
      <p:sp>
        <p:nvSpPr>
          <p:cNvPr name="TextBox 15" id="15"/>
          <p:cNvSpPr txBox="true"/>
          <p:nvPr/>
        </p:nvSpPr>
        <p:spPr>
          <a:xfrm rot="0">
            <a:off x="12584430" y="3161347"/>
            <a:ext cx="4000496" cy="481466"/>
          </a:xfrm>
          <a:prstGeom prst="rect">
            <a:avLst/>
          </a:prstGeom>
        </p:spPr>
        <p:txBody>
          <a:bodyPr anchor="t" rtlCol="false" tIns="0" lIns="0" bIns="0" rIns="0">
            <a:spAutoFit/>
          </a:bodyPr>
          <a:lstStyle/>
          <a:p>
            <a:pPr algn="l">
              <a:lnSpc>
                <a:spcPts val="3465"/>
              </a:lnSpc>
            </a:pPr>
            <a:r>
              <a:rPr lang="en-US" sz="2888" b="true">
                <a:solidFill>
                  <a:srgbClr val="F3652B"/>
                </a:solidFill>
                <a:latin typeface="DejaVu Sans Bold"/>
                <a:ea typeface="DejaVu Sans Bold"/>
                <a:cs typeface="DejaVu Sans Bold"/>
                <a:sym typeface="DejaVu Sans Bold"/>
              </a:rPr>
              <a:t>+71% HDB resale</a:t>
            </a:r>
          </a:p>
        </p:txBody>
      </p:sp>
      <p:sp>
        <p:nvSpPr>
          <p:cNvPr name="TextBox 16" id="16"/>
          <p:cNvSpPr txBox="true"/>
          <p:nvPr/>
        </p:nvSpPr>
        <p:spPr>
          <a:xfrm rot="0">
            <a:off x="12584430" y="4017199"/>
            <a:ext cx="4000496" cy="417074"/>
          </a:xfrm>
          <a:prstGeom prst="rect">
            <a:avLst/>
          </a:prstGeom>
        </p:spPr>
        <p:txBody>
          <a:bodyPr anchor="t" rtlCol="false" tIns="0" lIns="0" bIns="0" rIns="0">
            <a:spAutoFit/>
          </a:bodyPr>
          <a:lstStyle/>
          <a:p>
            <a:pPr algn="l">
              <a:lnSpc>
                <a:spcPts val="3234"/>
              </a:lnSpc>
            </a:pPr>
            <a:r>
              <a:rPr lang="en-US" sz="2695" b="true">
                <a:solidFill>
                  <a:srgbClr val="17A97F"/>
                </a:solidFill>
                <a:latin typeface="DejaVu Sans Bold"/>
                <a:ea typeface="DejaVu Sans Bold"/>
                <a:cs typeface="DejaVu Sans Bold"/>
                <a:sym typeface="DejaVu Sans Bold"/>
              </a:rPr>
              <a:t>+59% Condo </a:t>
            </a:r>
          </a:p>
        </p:txBody>
      </p:sp>
      <p:sp>
        <p:nvSpPr>
          <p:cNvPr name="TextBox 17" id="17"/>
          <p:cNvSpPr txBox="true"/>
          <p:nvPr/>
        </p:nvSpPr>
        <p:spPr>
          <a:xfrm rot="0">
            <a:off x="12584430" y="4873051"/>
            <a:ext cx="4000496" cy="481466"/>
          </a:xfrm>
          <a:prstGeom prst="rect">
            <a:avLst/>
          </a:prstGeom>
        </p:spPr>
        <p:txBody>
          <a:bodyPr anchor="t" rtlCol="false" tIns="0" lIns="0" bIns="0" rIns="0">
            <a:spAutoFit/>
          </a:bodyPr>
          <a:lstStyle/>
          <a:p>
            <a:pPr algn="l">
              <a:lnSpc>
                <a:spcPts val="3465"/>
              </a:lnSpc>
            </a:pPr>
            <a:r>
              <a:rPr lang="en-US" sz="2888" b="true">
                <a:solidFill>
                  <a:srgbClr val="5138AA"/>
                </a:solidFill>
                <a:latin typeface="DejaVu Sans Bold"/>
                <a:ea typeface="DejaVu Sans Bold"/>
                <a:cs typeface="DejaVu Sans Bold"/>
                <a:sym typeface="DejaVu Sans Bold"/>
              </a:rPr>
              <a:t>+72% landed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878843" y="563242"/>
            <a:ext cx="16581120" cy="638175"/>
          </a:xfrm>
          <a:prstGeom prst="rect">
            <a:avLst/>
          </a:prstGeom>
        </p:spPr>
        <p:txBody>
          <a:bodyPr anchor="t" rtlCol="false" tIns="0" lIns="0" bIns="0" rIns="0">
            <a:spAutoFit/>
          </a:bodyPr>
          <a:lstStyle/>
          <a:p>
            <a:pPr algn="l">
              <a:lnSpc>
                <a:spcPts val="5159"/>
              </a:lnSpc>
            </a:pPr>
            <a:r>
              <a:rPr lang="en-US" sz="4299" b="true">
                <a:solidFill>
                  <a:srgbClr val="242424"/>
                </a:solidFill>
                <a:latin typeface="Aptos Bold"/>
                <a:ea typeface="Aptos Bold"/>
                <a:cs typeface="Aptos Bold"/>
                <a:sym typeface="Aptos Bold"/>
              </a:rPr>
              <a:t>Housing and TFR</a:t>
            </a:r>
          </a:p>
        </p:txBody>
      </p:sp>
      <p:sp>
        <p:nvSpPr>
          <p:cNvPr name="TextBox 3" id="3"/>
          <p:cNvSpPr txBox="true"/>
          <p:nvPr/>
        </p:nvSpPr>
        <p:spPr>
          <a:xfrm rot="0">
            <a:off x="929640" y="1544317"/>
            <a:ext cx="16327117" cy="416557"/>
          </a:xfrm>
          <a:prstGeom prst="rect">
            <a:avLst/>
          </a:prstGeom>
        </p:spPr>
        <p:txBody>
          <a:bodyPr anchor="t" rtlCol="false" tIns="0" lIns="0" bIns="0" rIns="0">
            <a:spAutoFit/>
          </a:bodyPr>
          <a:lstStyle/>
          <a:p>
            <a:pPr algn="l">
              <a:lnSpc>
                <a:spcPts val="3120"/>
              </a:lnSpc>
            </a:pPr>
            <a:r>
              <a:rPr lang="en-US" sz="2600">
                <a:solidFill>
                  <a:srgbClr val="555555"/>
                </a:solidFill>
                <a:latin typeface="Aptos"/>
                <a:ea typeface="Aptos"/>
                <a:cs typeface="Aptos"/>
                <a:sym typeface="Aptos"/>
              </a:rPr>
              <a:t>Same-year and lagged comparisons, 2010–2025</a:t>
            </a:r>
          </a:p>
        </p:txBody>
      </p:sp>
      <p:sp>
        <p:nvSpPr>
          <p:cNvPr name="TextBox 4" id="4"/>
          <p:cNvSpPr txBox="true"/>
          <p:nvPr/>
        </p:nvSpPr>
        <p:spPr>
          <a:xfrm rot="0">
            <a:off x="929640" y="2557148"/>
            <a:ext cx="6167123" cy="407032"/>
          </a:xfrm>
          <a:prstGeom prst="rect">
            <a:avLst/>
          </a:prstGeom>
        </p:spPr>
        <p:txBody>
          <a:bodyPr anchor="t" rtlCol="false" tIns="0" lIns="0" bIns="0" rIns="0">
            <a:spAutoFit/>
          </a:bodyPr>
          <a:lstStyle/>
          <a:p>
            <a:pPr algn="l">
              <a:lnSpc>
                <a:spcPts val="2999"/>
              </a:lnSpc>
            </a:pPr>
            <a:r>
              <a:rPr lang="en-US" sz="2499" b="true">
                <a:solidFill>
                  <a:srgbClr val="242424"/>
                </a:solidFill>
                <a:latin typeface="Aptos Bold"/>
                <a:ea typeface="Aptos Bold"/>
                <a:cs typeface="Aptos Bold"/>
                <a:sym typeface="Aptos Bold"/>
              </a:rPr>
              <a:t>HDB yearly change, TFR 1 year later</a:t>
            </a:r>
          </a:p>
        </p:txBody>
      </p:sp>
      <p:grpSp>
        <p:nvGrpSpPr>
          <p:cNvPr name="Group 5" id="5"/>
          <p:cNvGrpSpPr/>
          <p:nvPr/>
        </p:nvGrpSpPr>
        <p:grpSpPr>
          <a:xfrm rot="0">
            <a:off x="826103" y="3238500"/>
            <a:ext cx="6412287" cy="4851397"/>
            <a:chOff x="0" y="0"/>
            <a:chExt cx="8549716" cy="6468529"/>
          </a:xfrm>
        </p:grpSpPr>
        <p:sp>
          <p:nvSpPr>
            <p:cNvPr name="Freeform 6" id="6"/>
            <p:cNvSpPr/>
            <p:nvPr/>
          </p:nvSpPr>
          <p:spPr>
            <a:xfrm flipH="false" flipV="false" rot="0">
              <a:off x="0" y="0"/>
              <a:ext cx="8549767" cy="6468491"/>
            </a:xfrm>
            <a:custGeom>
              <a:avLst/>
              <a:gdLst/>
              <a:ahLst/>
              <a:cxnLst/>
              <a:rect r="r" b="b" t="t" l="l"/>
              <a:pathLst>
                <a:path h="6468491" w="8549767">
                  <a:moveTo>
                    <a:pt x="0" y="0"/>
                  </a:moveTo>
                  <a:lnTo>
                    <a:pt x="8549767" y="0"/>
                  </a:lnTo>
                  <a:lnTo>
                    <a:pt x="8549767" y="6468491"/>
                  </a:lnTo>
                  <a:lnTo>
                    <a:pt x="0" y="6468491"/>
                  </a:lnTo>
                  <a:lnTo>
                    <a:pt x="0" y="0"/>
                  </a:lnTo>
                  <a:close/>
                </a:path>
              </a:pathLst>
            </a:custGeom>
            <a:blipFill>
              <a:blip r:embed="rId3"/>
              <a:stretch>
                <a:fillRect l="0" t="0" r="0" b="0"/>
              </a:stretch>
            </a:blipFill>
          </p:spPr>
        </p:sp>
      </p:grpSp>
      <p:graphicFrame>
        <p:nvGraphicFramePr>
          <p:cNvPr name="Table 7" id="7"/>
          <p:cNvGraphicFramePr>
            <a:graphicFrameLocks noGrp="true"/>
          </p:cNvGraphicFramePr>
          <p:nvPr/>
        </p:nvGraphicFramePr>
        <p:xfrm>
          <a:off x="7620000" y="2565400"/>
          <a:ext cx="9804400" cy="4165600"/>
        </p:xfrm>
        <a:graphic>
          <a:graphicData uri="http://schemas.openxmlformats.org/drawingml/2006/table">
            <a:tbl>
              <a:tblPr/>
              <a:tblGrid>
                <a:gridCol w="3392474"/>
                <a:gridCol w="2137309"/>
                <a:gridCol w="2137309"/>
                <a:gridCol w="2137309"/>
              </a:tblGrid>
              <a:tr h="700443">
                <a:tc>
                  <a:txBody>
                    <a:bodyPr anchor="t" rtlCol="false"/>
                    <a:lstStyle/>
                    <a:p>
                      <a:pPr algn="l">
                        <a:lnSpc>
                          <a:spcPts val="2520"/>
                        </a:lnSpc>
                        <a:defRPr/>
                      </a:pPr>
                      <a:r>
                        <a:rPr lang="en-US" sz="2100" b="true">
                          <a:solidFill>
                            <a:srgbClr val="303030"/>
                          </a:solidFill>
                          <a:latin typeface="Aptos Bold"/>
                          <a:ea typeface="Aptos Bold"/>
                          <a:cs typeface="Aptos Bold"/>
                          <a:sym typeface="Aptos Bold"/>
                        </a:rPr>
                        <a:t>r (p) vs TFR</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5715">
                      <a:solidFill>
                        <a:srgbClr val="D0D0D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EAECEE"/>
                    </a:solidFill>
                  </a:tcPr>
                </a:tc>
                <a:tc>
                  <a:txBody>
                    <a:bodyPr anchor="t" rtlCol="false"/>
                    <a:lstStyle/>
                    <a:p>
                      <a:pPr algn="l">
                        <a:lnSpc>
                          <a:spcPts val="2520"/>
                        </a:lnSpc>
                        <a:defRPr/>
                      </a:pPr>
                      <a:r>
                        <a:rPr lang="en-US" sz="2100" b="true">
                          <a:solidFill>
                            <a:srgbClr val="303030"/>
                          </a:solidFill>
                          <a:latin typeface="Aptos Bold"/>
                          <a:ea typeface="Aptos Bold"/>
                          <a:cs typeface="Aptos Bold"/>
                          <a:sym typeface="Aptos Bold"/>
                        </a:rPr>
                        <a:t>HDB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5715">
                      <a:solidFill>
                        <a:srgbClr val="D0D0D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EAECEE"/>
                    </a:solidFill>
                  </a:tcPr>
                </a:tc>
                <a:tc>
                  <a:txBody>
                    <a:bodyPr anchor="t" rtlCol="false"/>
                    <a:lstStyle/>
                    <a:p>
                      <a:pPr algn="l">
                        <a:lnSpc>
                          <a:spcPts val="2520"/>
                        </a:lnSpc>
                        <a:defRPr/>
                      </a:pPr>
                      <a:r>
                        <a:rPr lang="en-US" sz="2100" b="true">
                          <a:solidFill>
                            <a:srgbClr val="303030"/>
                          </a:solidFill>
                          <a:latin typeface="Aptos Bold"/>
                          <a:ea typeface="Aptos Bold"/>
                          <a:cs typeface="Aptos Bold"/>
                          <a:sym typeface="Aptos Bold"/>
                        </a:rPr>
                        <a:t>Condo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5715">
                      <a:solidFill>
                        <a:srgbClr val="D0D0D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EAECEE"/>
                    </a:solidFill>
                  </a:tcPr>
                </a:tc>
                <a:tc>
                  <a:txBody>
                    <a:bodyPr anchor="t" rtlCol="false"/>
                    <a:lstStyle/>
                    <a:p>
                      <a:pPr algn="l">
                        <a:lnSpc>
                          <a:spcPts val="2520"/>
                        </a:lnSpc>
                        <a:defRPr/>
                      </a:pPr>
                      <a:r>
                        <a:rPr lang="en-US" sz="2100" b="true">
                          <a:solidFill>
                            <a:srgbClr val="303030"/>
                          </a:solidFill>
                          <a:latin typeface="Aptos Bold"/>
                          <a:ea typeface="Aptos Bold"/>
                          <a:cs typeface="Aptos Bold"/>
                          <a:sym typeface="Aptos Bold"/>
                        </a:rPr>
                        <a:t>Landed</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5715">
                      <a:solidFill>
                        <a:srgbClr val="D0D0D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EAECEE"/>
                    </a:solidFill>
                  </a:tcPr>
                </a:tc>
              </a:tr>
              <a:tr h="693031">
                <a:tc>
                  <a:txBody>
                    <a:bodyPr anchor="t" rtlCol="false"/>
                    <a:lstStyle/>
                    <a:p>
                      <a:pPr algn="l">
                        <a:lnSpc>
                          <a:spcPts val="2520"/>
                        </a:lnSpc>
                        <a:defRPr/>
                      </a:pPr>
                      <a:r>
                        <a:rPr lang="en-US" sz="2100">
                          <a:solidFill>
                            <a:srgbClr val="303030"/>
                          </a:solidFill>
                          <a:latin typeface="Aptos"/>
                          <a:ea typeface="Aptos"/>
                          <a:cs typeface="Aptos"/>
                          <a:sym typeface="Aptos"/>
                        </a:rPr>
                        <a:t>Levels</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b="true">
                          <a:solidFill>
                            <a:srgbClr val="2463B4"/>
                          </a:solidFill>
                          <a:latin typeface="Aptos Bold"/>
                          <a:ea typeface="Aptos Bold"/>
                          <a:cs typeface="Aptos Bold"/>
                          <a:sym typeface="Aptos Bold"/>
                        </a:rPr>
                        <a:t>−0.83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b="true">
                          <a:solidFill>
                            <a:srgbClr val="2463B4"/>
                          </a:solidFill>
                          <a:latin typeface="Aptos Bold"/>
                          <a:ea typeface="Aptos Bold"/>
                          <a:cs typeface="Aptos Bold"/>
                          <a:sym typeface="Aptos Bold"/>
                        </a:rPr>
                        <a:t>−0.90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b="true">
                          <a:solidFill>
                            <a:srgbClr val="2463B4"/>
                          </a:solidFill>
                          <a:latin typeface="Aptos Bold"/>
                          <a:ea typeface="Aptos Bold"/>
                          <a:cs typeface="Aptos Bold"/>
                          <a:sym typeface="Aptos Bold"/>
                        </a:rPr>
                        <a:t>−0.83 (&lt;0.001)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r>
              <a:tr h="693031">
                <a:tc>
                  <a:txBody>
                    <a:bodyPr anchor="t" rtlCol="false"/>
                    <a:lstStyle/>
                    <a:p>
                      <a:pPr algn="l">
                        <a:lnSpc>
                          <a:spcPts val="2520"/>
                        </a:lnSpc>
                        <a:defRPr/>
                      </a:pPr>
                      <a:r>
                        <a:rPr lang="en-US" sz="2100">
                          <a:solidFill>
                            <a:srgbClr val="303030"/>
                          </a:solidFill>
                          <a:latin typeface="Aptos"/>
                          <a:ea typeface="Aptos"/>
                          <a:cs typeface="Aptos"/>
                          <a:sym typeface="Aptos"/>
                        </a:rPr>
                        <a:t>Yearly change</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−0.15 (0.60)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−0.27 (0.34)</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−0.03 (0.93)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r>
              <a:tr h="693031">
                <a:tc>
                  <a:txBody>
                    <a:bodyPr anchor="t" rtlCol="false"/>
                    <a:lstStyle/>
                    <a:p>
                      <a:pPr algn="l">
                        <a:lnSpc>
                          <a:spcPts val="2520"/>
                        </a:lnSpc>
                        <a:defRPr/>
                      </a:pPr>
                      <a:r>
                        <a:rPr lang="en-US" sz="2100">
                          <a:solidFill>
                            <a:srgbClr val="303030"/>
                          </a:solidFill>
                          <a:latin typeface="Aptos"/>
                          <a:ea typeface="Aptos"/>
                          <a:cs typeface="Aptos"/>
                          <a:sym typeface="Aptos"/>
                        </a:rPr>
                        <a:t>Yearly change, lag 1</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−0.17 (0.57)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−0.03 (0.91)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+0.14 (0.63)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r>
              <a:tr h="693031">
                <a:tc>
                  <a:txBody>
                    <a:bodyPr anchor="t" rtlCol="false"/>
                    <a:lstStyle/>
                    <a:p>
                      <a:pPr algn="l">
                        <a:lnSpc>
                          <a:spcPts val="2520"/>
                        </a:lnSpc>
                        <a:defRPr/>
                      </a:pPr>
                      <a:r>
                        <a:rPr lang="en-US" sz="2100">
                          <a:solidFill>
                            <a:srgbClr val="303030"/>
                          </a:solidFill>
                          <a:latin typeface="Aptos"/>
                          <a:ea typeface="Aptos"/>
                          <a:cs typeface="Aptos"/>
                          <a:sym typeface="Aptos"/>
                        </a:rPr>
                        <a:t>Yearly change, lag 2</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−0.17 (0.58)</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−0.27 (0.38)</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−0.36 (0.22)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r>
              <a:tr h="693031">
                <a:tc>
                  <a:txBody>
                    <a:bodyPr anchor="t" rtlCol="false"/>
                    <a:lstStyle/>
                    <a:p>
                      <a:pPr algn="l">
                        <a:lnSpc>
                          <a:spcPts val="2520"/>
                        </a:lnSpc>
                        <a:defRPr/>
                      </a:pPr>
                      <a:r>
                        <a:rPr lang="en-US" sz="2100">
                          <a:solidFill>
                            <a:srgbClr val="303030"/>
                          </a:solidFill>
                          <a:latin typeface="Aptos"/>
                          <a:ea typeface="Aptos"/>
                          <a:cs typeface="Aptos"/>
                          <a:sym typeface="Aptos"/>
                        </a:rPr>
                        <a:t>Yearly change, lag 3</a:t>
                      </a:r>
                      <a:endParaRPr lang="en-US" sz="1100"/>
                    </a:p>
                  </a:txBody>
                  <a:tcPr marL="91440" marR="91440" marT="91440" marB="91440" anchor="t">
                    <a:lnL cmpd="sng" algn="ctr" cap="flat" w="5715">
                      <a:solidFill>
                        <a:srgbClr val="D0D0D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+0.08 (0.80)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+0.04 (0.89)</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c>
                  <a:txBody>
                    <a:bodyPr anchor="t" rtlCol="false"/>
                    <a:lstStyle/>
                    <a:p>
                      <a:pPr algn="l">
                        <a:lnSpc>
                          <a:spcPts val="2520"/>
                        </a:lnSpc>
                        <a:defRPr/>
                      </a:pPr>
                      <a:r>
                        <a:rPr lang="en-US" sz="2100">
                          <a:solidFill>
                            <a:srgbClr val="303030"/>
                          </a:solidFill>
                          <a:latin typeface="Aptos"/>
                          <a:ea typeface="Aptos"/>
                          <a:cs typeface="Aptos"/>
                          <a:sym typeface="Aptos"/>
                        </a:rPr>
                        <a:t>+0.15 (0.64)</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5715">
                      <a:solidFill>
                        <a:srgbClr val="D0D0D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5715">
                      <a:solidFill>
                        <a:srgbClr val="D0D0D0"/>
                      </a:solidFill>
                      <a:prstDash val="solid"/>
                      <a:round/>
                      <a:headEnd type="none" w="med" len="med"/>
                      <a:tailEnd type="none" w="med" len="med"/>
                    </a:lnB>
                    <a:solidFill>
                      <a:srgbClr val="F7F7F5"/>
                    </a:solidFill>
                  </a:tcPr>
                </a:tc>
              </a:tr>
            </a:tbl>
          </a:graphicData>
        </a:graphic>
      </p:graphicFrame>
      <p:sp>
        <p:nvSpPr>
          <p:cNvPr name="TextBox 8" id="8"/>
          <p:cNvSpPr txBox="true"/>
          <p:nvPr/>
        </p:nvSpPr>
        <p:spPr>
          <a:xfrm rot="0">
            <a:off x="7863840" y="7322820"/>
            <a:ext cx="9469117" cy="492757"/>
          </a:xfrm>
          <a:prstGeom prst="rect">
            <a:avLst/>
          </a:prstGeom>
        </p:spPr>
        <p:txBody>
          <a:bodyPr anchor="t" rtlCol="false" tIns="0" lIns="0" bIns="0" rIns="0">
            <a:spAutoFit/>
          </a:bodyPr>
          <a:lstStyle/>
          <a:p>
            <a:pPr algn="l">
              <a:lnSpc>
                <a:spcPts val="3359"/>
              </a:lnSpc>
            </a:pPr>
            <a:r>
              <a:rPr lang="en-US" sz="2799" b="true">
                <a:solidFill>
                  <a:srgbClr val="242424"/>
                </a:solidFill>
                <a:latin typeface="Aptos Bold"/>
                <a:ea typeface="Aptos Bold"/>
                <a:cs typeface="Aptos Bold"/>
                <a:sym typeface="Aptos Bold"/>
              </a:rPr>
              <a:t>All yearly-change p-values exceed 0.05</a:t>
            </a:r>
          </a:p>
        </p:txBody>
      </p:sp>
      <p:sp>
        <p:nvSpPr>
          <p:cNvPr name="TextBox 9" id="9"/>
          <p:cNvSpPr txBox="true"/>
          <p:nvPr/>
        </p:nvSpPr>
        <p:spPr>
          <a:xfrm rot="0">
            <a:off x="7863840" y="7983217"/>
            <a:ext cx="9405623" cy="1051560"/>
          </a:xfrm>
          <a:prstGeom prst="rect">
            <a:avLst/>
          </a:prstGeom>
        </p:spPr>
        <p:txBody>
          <a:bodyPr anchor="t" rtlCol="false" tIns="0" lIns="0" bIns="0" rIns="0">
            <a:spAutoFit/>
          </a:bodyPr>
          <a:lstStyle/>
          <a:p>
            <a:pPr algn="l">
              <a:lnSpc>
                <a:spcPts val="3120"/>
              </a:lnSpc>
            </a:pPr>
            <a:r>
              <a:rPr lang="en-US" sz="2600">
                <a:solidFill>
                  <a:srgbClr val="555555"/>
                </a:solidFill>
                <a:latin typeface="Aptos"/>
                <a:ea typeface="Aptos"/>
                <a:cs typeface="Aptos"/>
                <a:sym typeface="Aptos"/>
              </a:rPr>
              <a:t>Allowing 1–3 years for fertility to respond does not reveal a statistically significant relationship.</a:t>
            </a:r>
          </a:p>
        </p:txBody>
      </p:sp>
      <p:sp>
        <p:nvSpPr>
          <p:cNvPr name="TextBox 10" id="10"/>
          <p:cNvSpPr txBox="true"/>
          <p:nvPr/>
        </p:nvSpPr>
        <p:spPr>
          <a:xfrm rot="0">
            <a:off x="916943" y="9319898"/>
            <a:ext cx="16428720" cy="324488"/>
          </a:xfrm>
          <a:prstGeom prst="rect">
            <a:avLst/>
          </a:prstGeom>
        </p:spPr>
        <p:txBody>
          <a:bodyPr anchor="t" rtlCol="false" tIns="0" lIns="0" bIns="0" rIns="0">
            <a:spAutoFit/>
          </a:bodyPr>
          <a:lstStyle/>
          <a:p>
            <a:pPr algn="l">
              <a:lnSpc>
                <a:spcPts val="2400"/>
              </a:lnSpc>
            </a:pPr>
            <a:r>
              <a:rPr lang="en-US" sz="2000">
                <a:solidFill>
                  <a:srgbClr val="666666"/>
                </a:solidFill>
                <a:latin typeface="Aptos"/>
                <a:ea typeface="Aptos"/>
                <a:cs typeface="Aptos"/>
                <a:sym typeface="Aptos"/>
              </a:rPr>
              <a:t>Lag k pairs housing changes in year t with TFR changes in year t + k. Yearly n = 15, 14, 13, 12.</a:t>
            </a:r>
          </a:p>
        </p:txBody>
      </p:sp>
      <p:sp>
        <p:nvSpPr>
          <p:cNvPr name="TextBox 11" id="11"/>
          <p:cNvSpPr txBox="true"/>
          <p:nvPr/>
        </p:nvSpPr>
        <p:spPr>
          <a:xfrm rot="0">
            <a:off x="916943" y="9761220"/>
            <a:ext cx="16581120" cy="276863"/>
          </a:xfrm>
          <a:prstGeom prst="rect">
            <a:avLst/>
          </a:prstGeom>
        </p:spPr>
        <p:txBody>
          <a:bodyPr anchor="t" rtlCol="false" tIns="0" lIns="0" bIns="0" rIns="0">
            <a:spAutoFit/>
          </a:bodyPr>
          <a:lstStyle/>
          <a:p>
            <a:pPr algn="l">
              <a:lnSpc>
                <a:spcPts val="2160"/>
              </a:lnSpc>
            </a:pPr>
            <a:r>
              <a:rPr lang="en-US" sz="1800">
                <a:solidFill>
                  <a:srgbClr val="666666"/>
                </a:solidFill>
                <a:latin typeface="Aptos"/>
                <a:ea typeface="Aptos"/>
                <a:cs typeface="Aptos"/>
                <a:sym typeface="Aptos"/>
              </a:rPr>
              <a:t>Source: supplied dashboard, SingStat M212161, M212261 and M810091. Bold blue: p &lt; 0.05. Level results may reflect shared trends.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1E2533"/>
        </a:solidFill>
      </p:bgPr>
    </p:bg>
    <p:spTree>
      <p:nvGrpSpPr>
        <p:cNvPr id="1" name=""/>
        <p:cNvGrpSpPr/>
        <p:nvPr/>
      </p:nvGrpSpPr>
      <p:grpSpPr>
        <a:xfrm>
          <a:off x="0" y="0"/>
          <a:ext cx="0" cy="0"/>
          <a:chOff x="0" y="0"/>
          <a:chExt cx="0" cy="0"/>
        </a:xfrm>
      </p:grpSpPr>
      <p:sp>
        <p:nvSpPr>
          <p:cNvPr name="TextBox 2" id="2"/>
          <p:cNvSpPr txBox="true"/>
          <p:nvPr/>
        </p:nvSpPr>
        <p:spPr>
          <a:xfrm rot="0">
            <a:off x="1291590" y="1183958"/>
            <a:ext cx="15247620" cy="384810"/>
          </a:xfrm>
          <a:prstGeom prst="rect">
            <a:avLst/>
          </a:prstGeom>
        </p:spPr>
        <p:txBody>
          <a:bodyPr anchor="t" rtlCol="false" tIns="0" lIns="0" bIns="0" rIns="0">
            <a:spAutoFit/>
          </a:bodyPr>
          <a:lstStyle/>
          <a:p>
            <a:pPr algn="l">
              <a:lnSpc>
                <a:spcPts val="2430"/>
              </a:lnSpc>
            </a:pPr>
            <a:r>
              <a:rPr lang="en-US" sz="2025" b="true">
                <a:solidFill>
                  <a:srgbClr val="FF8A54"/>
                </a:solidFill>
                <a:latin typeface="DejaVu Sans Bold"/>
                <a:ea typeface="DejaVu Sans Bold"/>
                <a:cs typeface="DejaVu Sans Bold"/>
                <a:sym typeface="DejaVu Sans Bold"/>
              </a:rPr>
              <a:t>HOUSING AND FERTILITY</a:t>
            </a:r>
          </a:p>
        </p:txBody>
      </p:sp>
      <p:sp>
        <p:nvSpPr>
          <p:cNvPr name="TextBox 3" id="3"/>
          <p:cNvSpPr txBox="true"/>
          <p:nvPr/>
        </p:nvSpPr>
        <p:spPr>
          <a:xfrm rot="0">
            <a:off x="1291590" y="2022158"/>
            <a:ext cx="15676245" cy="1032510"/>
          </a:xfrm>
          <a:prstGeom prst="rect">
            <a:avLst/>
          </a:prstGeom>
        </p:spPr>
        <p:txBody>
          <a:bodyPr anchor="t" rtlCol="false" tIns="0" lIns="0" bIns="0" rIns="0">
            <a:spAutoFit/>
          </a:bodyPr>
          <a:lstStyle/>
          <a:p>
            <a:pPr algn="l">
              <a:lnSpc>
                <a:spcPts val="7425"/>
              </a:lnSpc>
            </a:pPr>
            <a:r>
              <a:rPr lang="en-US" sz="6187" b="true">
                <a:solidFill>
                  <a:srgbClr val="F6F3EC"/>
                </a:solidFill>
                <a:latin typeface="DejaVu Serif Bold"/>
                <a:ea typeface="DejaVu Serif Bold"/>
                <a:cs typeface="DejaVu Serif Bold"/>
                <a:sym typeface="DejaVu Serif Bold"/>
              </a:rPr>
              <a:t>Housing costs rose.</a:t>
            </a:r>
          </a:p>
        </p:txBody>
      </p:sp>
      <p:sp>
        <p:nvSpPr>
          <p:cNvPr name="TextBox 4" id="4"/>
          <p:cNvSpPr txBox="true"/>
          <p:nvPr/>
        </p:nvSpPr>
        <p:spPr>
          <a:xfrm rot="0">
            <a:off x="1291590" y="3093720"/>
            <a:ext cx="15961995" cy="1089660"/>
          </a:xfrm>
          <a:prstGeom prst="rect">
            <a:avLst/>
          </a:prstGeom>
        </p:spPr>
        <p:txBody>
          <a:bodyPr anchor="t" rtlCol="false" tIns="0" lIns="0" bIns="0" rIns="0">
            <a:spAutoFit/>
          </a:bodyPr>
          <a:lstStyle/>
          <a:p>
            <a:pPr algn="l">
              <a:lnSpc>
                <a:spcPts val="6480"/>
              </a:lnSpc>
            </a:pPr>
            <a:r>
              <a:rPr lang="en-US" sz="5400" b="true">
                <a:solidFill>
                  <a:srgbClr val="FF8A54"/>
                </a:solidFill>
                <a:latin typeface="DejaVu Serif Bold"/>
                <a:ea typeface="DejaVu Serif Bold"/>
                <a:cs typeface="DejaVu Serif Bold"/>
                <a:sym typeface="DejaVu Serif Bold"/>
              </a:rPr>
              <a:t>Their role in fertility is less clear.</a:t>
            </a:r>
          </a:p>
        </p:txBody>
      </p:sp>
      <p:grpSp>
        <p:nvGrpSpPr>
          <p:cNvPr name="Group 5" id="5"/>
          <p:cNvGrpSpPr/>
          <p:nvPr/>
        </p:nvGrpSpPr>
        <p:grpSpPr>
          <a:xfrm rot="0">
            <a:off x="1200150" y="4700588"/>
            <a:ext cx="5057775" cy="2214562"/>
            <a:chOff x="0" y="0"/>
            <a:chExt cx="6743700" cy="2952750"/>
          </a:xfrm>
        </p:grpSpPr>
        <p:sp>
          <p:nvSpPr>
            <p:cNvPr name="Freeform 6" id="6"/>
            <p:cNvSpPr/>
            <p:nvPr/>
          </p:nvSpPr>
          <p:spPr>
            <a:xfrm flipH="false" flipV="false" rot="0">
              <a:off x="0" y="0"/>
              <a:ext cx="6743700" cy="2952750"/>
            </a:xfrm>
            <a:custGeom>
              <a:avLst/>
              <a:gdLst/>
              <a:ahLst/>
              <a:cxnLst/>
              <a:rect r="r" b="b" t="t" l="l"/>
              <a:pathLst>
                <a:path h="2952750" w="6743700">
                  <a:moveTo>
                    <a:pt x="0" y="190500"/>
                  </a:moveTo>
                  <a:cubicBezTo>
                    <a:pt x="0" y="85344"/>
                    <a:pt x="85344" y="0"/>
                    <a:pt x="190500" y="0"/>
                  </a:cubicBezTo>
                  <a:lnTo>
                    <a:pt x="6553200" y="0"/>
                  </a:lnTo>
                  <a:cubicBezTo>
                    <a:pt x="6658356" y="0"/>
                    <a:pt x="6743700" y="85344"/>
                    <a:pt x="6743700" y="190500"/>
                  </a:cubicBezTo>
                  <a:lnTo>
                    <a:pt x="6743700" y="2762250"/>
                  </a:lnTo>
                  <a:cubicBezTo>
                    <a:pt x="6743700" y="2867406"/>
                    <a:pt x="6658356" y="2952750"/>
                    <a:pt x="6553200" y="2952750"/>
                  </a:cubicBezTo>
                  <a:lnTo>
                    <a:pt x="190500" y="2952750"/>
                  </a:lnTo>
                  <a:cubicBezTo>
                    <a:pt x="85344" y="2952750"/>
                    <a:pt x="0" y="2867406"/>
                    <a:pt x="0" y="2762250"/>
                  </a:cubicBezTo>
                  <a:close/>
                </a:path>
              </a:pathLst>
            </a:custGeom>
            <a:solidFill>
              <a:srgbClr val="273145"/>
            </a:solidFill>
          </p:spPr>
        </p:sp>
      </p:grpSp>
      <p:sp>
        <p:nvSpPr>
          <p:cNvPr name="TextBox 7" id="7"/>
          <p:cNvSpPr txBox="true"/>
          <p:nvPr/>
        </p:nvSpPr>
        <p:spPr>
          <a:xfrm rot="0">
            <a:off x="1577340" y="5055870"/>
            <a:ext cx="4331970" cy="499110"/>
          </a:xfrm>
          <a:prstGeom prst="rect">
            <a:avLst/>
          </a:prstGeom>
        </p:spPr>
        <p:txBody>
          <a:bodyPr anchor="t" rtlCol="false" tIns="0" lIns="0" bIns="0" rIns="0">
            <a:spAutoFit/>
          </a:bodyPr>
          <a:lstStyle/>
          <a:p>
            <a:pPr algn="l">
              <a:lnSpc>
                <a:spcPts val="2835"/>
              </a:lnSpc>
            </a:pPr>
            <a:r>
              <a:rPr lang="en-US" sz="2362" b="true">
                <a:solidFill>
                  <a:srgbClr val="F6F3EC"/>
                </a:solidFill>
                <a:latin typeface="DejaVu Sans Bold"/>
                <a:ea typeface="DejaVu Sans Bold"/>
                <a:cs typeface="DejaVu Sans Bold"/>
                <a:sym typeface="DejaVu Sans Bold"/>
              </a:rPr>
              <a:t>Shared long-term trends</a:t>
            </a:r>
          </a:p>
        </p:txBody>
      </p:sp>
      <p:sp>
        <p:nvSpPr>
          <p:cNvPr name="TextBox 8" id="8"/>
          <p:cNvSpPr txBox="true"/>
          <p:nvPr/>
        </p:nvSpPr>
        <p:spPr>
          <a:xfrm rot="0">
            <a:off x="1577340" y="5727382"/>
            <a:ext cx="4331970" cy="1042035"/>
          </a:xfrm>
          <a:prstGeom prst="rect">
            <a:avLst/>
          </a:prstGeom>
        </p:spPr>
        <p:txBody>
          <a:bodyPr anchor="t" rtlCol="false" tIns="0" lIns="0" bIns="0" rIns="0">
            <a:spAutoFit/>
          </a:bodyPr>
          <a:lstStyle/>
          <a:p>
            <a:pPr algn="l">
              <a:lnSpc>
                <a:spcPts val="2430"/>
              </a:lnSpc>
            </a:pPr>
            <a:r>
              <a:rPr lang="en-US" sz="2025">
                <a:solidFill>
                  <a:srgbClr val="C2C7D1"/>
                </a:solidFill>
                <a:latin typeface="DejaVu Sans Light"/>
                <a:ea typeface="DejaVu Sans Light"/>
                <a:cs typeface="DejaVu Sans Light"/>
                <a:sym typeface="DejaVu Sans Light"/>
              </a:rPr>
              <a:t>HDB prices rose 71% since 2010.</a:t>
            </a:r>
          </a:p>
          <a:p>
            <a:pPr algn="l">
              <a:lnSpc>
                <a:spcPts val="2430"/>
              </a:lnSpc>
            </a:pPr>
            <a:r>
              <a:rPr lang="en-US" sz="2025">
                <a:solidFill>
                  <a:srgbClr val="C2C7D1"/>
                </a:solidFill>
                <a:latin typeface="DejaVu Sans Light"/>
                <a:ea typeface="DejaVu Sans Light"/>
                <a:cs typeface="DejaVu Sans Light"/>
                <a:sym typeface="DejaVu Sans Light"/>
              </a:rPr>
              <a:t>Fertility generally declined.</a:t>
            </a:r>
          </a:p>
        </p:txBody>
      </p:sp>
      <p:grpSp>
        <p:nvGrpSpPr>
          <p:cNvPr name="Group 9" id="9"/>
          <p:cNvGrpSpPr/>
          <p:nvPr/>
        </p:nvGrpSpPr>
        <p:grpSpPr>
          <a:xfrm rot="0">
            <a:off x="6572250" y="4700588"/>
            <a:ext cx="5057775" cy="2214562"/>
            <a:chOff x="0" y="0"/>
            <a:chExt cx="6743700" cy="2952750"/>
          </a:xfrm>
        </p:grpSpPr>
        <p:sp>
          <p:nvSpPr>
            <p:cNvPr name="Freeform 10" id="10"/>
            <p:cNvSpPr/>
            <p:nvPr/>
          </p:nvSpPr>
          <p:spPr>
            <a:xfrm flipH="false" flipV="false" rot="0">
              <a:off x="0" y="0"/>
              <a:ext cx="6743700" cy="2952750"/>
            </a:xfrm>
            <a:custGeom>
              <a:avLst/>
              <a:gdLst/>
              <a:ahLst/>
              <a:cxnLst/>
              <a:rect r="r" b="b" t="t" l="l"/>
              <a:pathLst>
                <a:path h="2952750" w="6743700">
                  <a:moveTo>
                    <a:pt x="0" y="190500"/>
                  </a:moveTo>
                  <a:cubicBezTo>
                    <a:pt x="0" y="85344"/>
                    <a:pt x="85344" y="0"/>
                    <a:pt x="190500" y="0"/>
                  </a:cubicBezTo>
                  <a:lnTo>
                    <a:pt x="6553200" y="0"/>
                  </a:lnTo>
                  <a:cubicBezTo>
                    <a:pt x="6658356" y="0"/>
                    <a:pt x="6743700" y="85344"/>
                    <a:pt x="6743700" y="190500"/>
                  </a:cubicBezTo>
                  <a:lnTo>
                    <a:pt x="6743700" y="2762250"/>
                  </a:lnTo>
                  <a:cubicBezTo>
                    <a:pt x="6743700" y="2867406"/>
                    <a:pt x="6658356" y="2952750"/>
                    <a:pt x="6553200" y="2952750"/>
                  </a:cubicBezTo>
                  <a:lnTo>
                    <a:pt x="190500" y="2952750"/>
                  </a:lnTo>
                  <a:cubicBezTo>
                    <a:pt x="85344" y="2952750"/>
                    <a:pt x="0" y="2867406"/>
                    <a:pt x="0" y="2762250"/>
                  </a:cubicBezTo>
                  <a:close/>
                </a:path>
              </a:pathLst>
            </a:custGeom>
            <a:solidFill>
              <a:srgbClr val="273145"/>
            </a:solidFill>
          </p:spPr>
        </p:sp>
      </p:grpSp>
      <p:sp>
        <p:nvSpPr>
          <p:cNvPr name="TextBox 11" id="11"/>
          <p:cNvSpPr txBox="true"/>
          <p:nvPr/>
        </p:nvSpPr>
        <p:spPr>
          <a:xfrm rot="0">
            <a:off x="6760845" y="4884420"/>
            <a:ext cx="4331970" cy="723900"/>
          </a:xfrm>
          <a:prstGeom prst="rect">
            <a:avLst/>
          </a:prstGeom>
        </p:spPr>
        <p:txBody>
          <a:bodyPr anchor="t" rtlCol="false" tIns="0" lIns="0" bIns="0" rIns="0">
            <a:spAutoFit/>
          </a:bodyPr>
          <a:lstStyle/>
          <a:p>
            <a:pPr algn="l">
              <a:lnSpc>
                <a:spcPts val="2835"/>
              </a:lnSpc>
            </a:pPr>
            <a:r>
              <a:rPr lang="en-US" sz="2362" b="true">
                <a:solidFill>
                  <a:srgbClr val="F6F3EC"/>
                </a:solidFill>
                <a:latin typeface="DejaVu Sans Bold"/>
                <a:ea typeface="DejaVu Sans Bold"/>
                <a:cs typeface="DejaVu Sans Bold"/>
                <a:sym typeface="DejaVu Sans Bold"/>
              </a:rPr>
              <a:t>A weaker yearly relationship</a:t>
            </a:r>
          </a:p>
        </p:txBody>
      </p:sp>
      <p:sp>
        <p:nvSpPr>
          <p:cNvPr name="TextBox 12" id="12"/>
          <p:cNvSpPr txBox="true"/>
          <p:nvPr/>
        </p:nvSpPr>
        <p:spPr>
          <a:xfrm rot="0">
            <a:off x="6949440" y="5727382"/>
            <a:ext cx="4331970" cy="1042035"/>
          </a:xfrm>
          <a:prstGeom prst="rect">
            <a:avLst/>
          </a:prstGeom>
        </p:spPr>
        <p:txBody>
          <a:bodyPr anchor="t" rtlCol="false" tIns="0" lIns="0" bIns="0" rIns="0">
            <a:spAutoFit/>
          </a:bodyPr>
          <a:lstStyle/>
          <a:p>
            <a:pPr algn="l">
              <a:lnSpc>
                <a:spcPts val="2430"/>
              </a:lnSpc>
            </a:pPr>
            <a:r>
              <a:rPr lang="en-US" sz="2025">
                <a:solidFill>
                  <a:srgbClr val="C2C7D1"/>
                </a:solidFill>
                <a:latin typeface="DejaVu Sans Light"/>
                <a:ea typeface="DejaVu Sans Light"/>
                <a:cs typeface="DejaVu Sans Light"/>
                <a:sym typeface="DejaVu Sans Light"/>
              </a:rPr>
              <a:t>HDB–TFR correlation falls from</a:t>
            </a:r>
          </a:p>
          <a:p>
            <a:pPr algn="l">
              <a:lnSpc>
                <a:spcPts val="2430"/>
              </a:lnSpc>
            </a:pPr>
            <a:r>
              <a:rPr lang="en-US" sz="2025">
                <a:solidFill>
                  <a:srgbClr val="C2C7D1"/>
                </a:solidFill>
                <a:latin typeface="DejaVu Sans Light"/>
                <a:ea typeface="DejaVu Sans Light"/>
                <a:cs typeface="DejaVu Sans Light"/>
                <a:sym typeface="DejaVu Sans Light"/>
              </a:rPr>
              <a:t>−0.83 in levels to −0.15 in</a:t>
            </a:r>
          </a:p>
          <a:p>
            <a:pPr algn="l">
              <a:lnSpc>
                <a:spcPts val="2430"/>
              </a:lnSpc>
            </a:pPr>
            <a:r>
              <a:rPr lang="en-US" sz="2025">
                <a:solidFill>
                  <a:srgbClr val="C2C7D1"/>
                </a:solidFill>
                <a:latin typeface="DejaVu Sans Light"/>
                <a:ea typeface="DejaVu Sans Light"/>
                <a:cs typeface="DejaVu Sans Light"/>
                <a:sym typeface="DejaVu Sans Light"/>
              </a:rPr>
              <a:t>yearly changes.</a:t>
            </a:r>
          </a:p>
        </p:txBody>
      </p:sp>
      <p:grpSp>
        <p:nvGrpSpPr>
          <p:cNvPr name="Group 13" id="13"/>
          <p:cNvGrpSpPr/>
          <p:nvPr/>
        </p:nvGrpSpPr>
        <p:grpSpPr>
          <a:xfrm rot="0">
            <a:off x="11944350" y="4700588"/>
            <a:ext cx="5057775" cy="2214562"/>
            <a:chOff x="0" y="0"/>
            <a:chExt cx="6743700" cy="2952750"/>
          </a:xfrm>
        </p:grpSpPr>
        <p:sp>
          <p:nvSpPr>
            <p:cNvPr name="Freeform 14" id="14"/>
            <p:cNvSpPr/>
            <p:nvPr/>
          </p:nvSpPr>
          <p:spPr>
            <a:xfrm flipH="false" flipV="false" rot="0">
              <a:off x="0" y="0"/>
              <a:ext cx="6743700" cy="2952750"/>
            </a:xfrm>
            <a:custGeom>
              <a:avLst/>
              <a:gdLst/>
              <a:ahLst/>
              <a:cxnLst/>
              <a:rect r="r" b="b" t="t" l="l"/>
              <a:pathLst>
                <a:path h="2952750" w="6743700">
                  <a:moveTo>
                    <a:pt x="0" y="190500"/>
                  </a:moveTo>
                  <a:cubicBezTo>
                    <a:pt x="0" y="85344"/>
                    <a:pt x="85344" y="0"/>
                    <a:pt x="190500" y="0"/>
                  </a:cubicBezTo>
                  <a:lnTo>
                    <a:pt x="6553200" y="0"/>
                  </a:lnTo>
                  <a:cubicBezTo>
                    <a:pt x="6658356" y="0"/>
                    <a:pt x="6743700" y="85344"/>
                    <a:pt x="6743700" y="190500"/>
                  </a:cubicBezTo>
                  <a:lnTo>
                    <a:pt x="6743700" y="2762250"/>
                  </a:lnTo>
                  <a:cubicBezTo>
                    <a:pt x="6743700" y="2867406"/>
                    <a:pt x="6658356" y="2952750"/>
                    <a:pt x="6553200" y="2952750"/>
                  </a:cubicBezTo>
                  <a:lnTo>
                    <a:pt x="190500" y="2952750"/>
                  </a:lnTo>
                  <a:cubicBezTo>
                    <a:pt x="85344" y="2952750"/>
                    <a:pt x="0" y="2867406"/>
                    <a:pt x="0" y="2762250"/>
                  </a:cubicBezTo>
                  <a:close/>
                </a:path>
              </a:pathLst>
            </a:custGeom>
            <a:solidFill>
              <a:srgbClr val="273145"/>
            </a:solidFill>
          </p:spPr>
        </p:sp>
      </p:grpSp>
      <p:sp>
        <p:nvSpPr>
          <p:cNvPr name="TextBox 15" id="15"/>
          <p:cNvSpPr txBox="true"/>
          <p:nvPr/>
        </p:nvSpPr>
        <p:spPr>
          <a:xfrm rot="0">
            <a:off x="12321540" y="5055870"/>
            <a:ext cx="4331970" cy="499110"/>
          </a:xfrm>
          <a:prstGeom prst="rect">
            <a:avLst/>
          </a:prstGeom>
        </p:spPr>
        <p:txBody>
          <a:bodyPr anchor="t" rtlCol="false" tIns="0" lIns="0" bIns="0" rIns="0">
            <a:spAutoFit/>
          </a:bodyPr>
          <a:lstStyle/>
          <a:p>
            <a:pPr algn="l">
              <a:lnSpc>
                <a:spcPts val="2835"/>
              </a:lnSpc>
            </a:pPr>
            <a:r>
              <a:rPr lang="en-US" sz="2362" b="true">
                <a:solidFill>
                  <a:srgbClr val="F6F3EC"/>
                </a:solidFill>
                <a:latin typeface="DejaVu Sans Bold"/>
                <a:ea typeface="DejaVu Sans Bold"/>
                <a:cs typeface="DejaVu Sans Bold"/>
                <a:sym typeface="DejaVu Sans Bold"/>
              </a:rPr>
              <a:t>Affordability needs context</a:t>
            </a:r>
          </a:p>
        </p:txBody>
      </p:sp>
      <p:sp>
        <p:nvSpPr>
          <p:cNvPr name="TextBox 16" id="16"/>
          <p:cNvSpPr txBox="true"/>
          <p:nvPr/>
        </p:nvSpPr>
        <p:spPr>
          <a:xfrm rot="0">
            <a:off x="12321540" y="5727382"/>
            <a:ext cx="4331970" cy="1042035"/>
          </a:xfrm>
          <a:prstGeom prst="rect">
            <a:avLst/>
          </a:prstGeom>
        </p:spPr>
        <p:txBody>
          <a:bodyPr anchor="t" rtlCol="false" tIns="0" lIns="0" bIns="0" rIns="0">
            <a:spAutoFit/>
          </a:bodyPr>
          <a:lstStyle/>
          <a:p>
            <a:pPr algn="l">
              <a:lnSpc>
                <a:spcPts val="2430"/>
              </a:lnSpc>
            </a:pPr>
            <a:r>
              <a:rPr lang="en-US" sz="2025">
                <a:solidFill>
                  <a:srgbClr val="C2C7D1"/>
                </a:solidFill>
                <a:latin typeface="DejaVu Sans Light"/>
                <a:ea typeface="DejaVu Sans Light"/>
                <a:cs typeface="DejaVu Sans Light"/>
                <a:sym typeface="DejaVu Sans Light"/>
              </a:rPr>
              <a:t>Assess housing costs alongside</a:t>
            </a:r>
          </a:p>
          <a:p>
            <a:pPr algn="l">
              <a:lnSpc>
                <a:spcPts val="2430"/>
              </a:lnSpc>
            </a:pPr>
            <a:r>
              <a:rPr lang="en-US" sz="2025">
                <a:solidFill>
                  <a:srgbClr val="C2C7D1"/>
                </a:solidFill>
                <a:latin typeface="DejaVu Sans Light"/>
                <a:ea typeface="DejaVu Sans Light"/>
                <a:cs typeface="DejaVu Sans Light"/>
                <a:sym typeface="DejaVu Sans Light"/>
              </a:rPr>
              <a:t>income, financing and</a:t>
            </a:r>
          </a:p>
          <a:p>
            <a:pPr algn="l">
              <a:lnSpc>
                <a:spcPts val="2430"/>
              </a:lnSpc>
            </a:pPr>
            <a:r>
              <a:rPr lang="en-US" sz="2025">
                <a:solidFill>
                  <a:srgbClr val="C2C7D1"/>
                </a:solidFill>
                <a:latin typeface="DejaVu Sans Light"/>
                <a:ea typeface="DejaVu Sans Light"/>
                <a:cs typeface="DejaVu Sans Light"/>
                <a:sym typeface="DejaVu Sans Light"/>
              </a:rPr>
              <a:t>marriage timing.</a:t>
            </a:r>
          </a:p>
        </p:txBody>
      </p:sp>
      <p:sp>
        <p:nvSpPr>
          <p:cNvPr name="TextBox 17" id="17"/>
          <p:cNvSpPr txBox="true"/>
          <p:nvPr/>
        </p:nvSpPr>
        <p:spPr>
          <a:xfrm rot="0">
            <a:off x="1291590" y="7541895"/>
            <a:ext cx="15790545" cy="713422"/>
          </a:xfrm>
          <a:prstGeom prst="rect">
            <a:avLst/>
          </a:prstGeom>
        </p:spPr>
        <p:txBody>
          <a:bodyPr anchor="t" rtlCol="false" tIns="0" lIns="0" bIns="0" rIns="0">
            <a:spAutoFit/>
          </a:bodyPr>
          <a:lstStyle/>
          <a:p>
            <a:pPr algn="l">
              <a:lnSpc>
                <a:spcPts val="2835"/>
              </a:lnSpc>
            </a:pPr>
            <a:r>
              <a:rPr lang="en-US" sz="2362">
                <a:solidFill>
                  <a:srgbClr val="C2C7D1"/>
                </a:solidFill>
                <a:latin typeface="DejaVu Sans Light"/>
                <a:ea typeface="DejaVu Sans Light"/>
                <a:cs typeface="DejaVu Sans Light"/>
                <a:sym typeface="DejaVu Sans Light"/>
              </a:rPr>
              <a:t>Housing remains a potential factor to investigate. These results do not establish causation.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D2737"/>
        </a:solidFill>
      </p:bgPr>
    </p:bg>
    <p:spTree>
      <p:nvGrpSpPr>
        <p:cNvPr id="1" name=""/>
        <p:cNvGrpSpPr/>
        <p:nvPr/>
      </p:nvGrpSpPr>
      <p:grpSpPr>
        <a:xfrm>
          <a:off x="0" y="0"/>
          <a:ext cx="0" cy="0"/>
          <a:chOff x="0" y="0"/>
          <a:chExt cx="0" cy="0"/>
        </a:xfrm>
      </p:grpSpPr>
      <p:grpSp>
        <p:nvGrpSpPr>
          <p:cNvPr name="Group 2" id="2"/>
          <p:cNvGrpSpPr/>
          <p:nvPr/>
        </p:nvGrpSpPr>
        <p:grpSpPr>
          <a:xfrm rot="0">
            <a:off x="1028700" y="2290573"/>
            <a:ext cx="4663440" cy="384048"/>
            <a:chOff x="0" y="0"/>
            <a:chExt cx="6217920" cy="512064"/>
          </a:xfrm>
        </p:grpSpPr>
        <p:sp>
          <p:nvSpPr>
            <p:cNvPr name="Freeform 3" id="3"/>
            <p:cNvSpPr/>
            <p:nvPr/>
          </p:nvSpPr>
          <p:spPr>
            <a:xfrm flipH="false" flipV="false" rot="0">
              <a:off x="0" y="0"/>
              <a:ext cx="6217920" cy="512064"/>
            </a:xfrm>
            <a:custGeom>
              <a:avLst/>
              <a:gdLst/>
              <a:ahLst/>
              <a:cxnLst/>
              <a:rect r="r" b="b" t="t" l="l"/>
              <a:pathLst>
                <a:path h="512064" w="6217920">
                  <a:moveTo>
                    <a:pt x="0" y="0"/>
                  </a:moveTo>
                  <a:lnTo>
                    <a:pt x="6217920" y="0"/>
                  </a:lnTo>
                  <a:lnTo>
                    <a:pt x="6217920" y="512064"/>
                  </a:lnTo>
                  <a:lnTo>
                    <a:pt x="0" y="512064"/>
                  </a:lnTo>
                  <a:close/>
                </a:path>
              </a:pathLst>
            </a:custGeom>
            <a:blipFill>
              <a:blip r:embed="rId3">
                <a:alphaModFix amt="0"/>
              </a:blip>
              <a:stretch>
                <a:fillRect l="0" t="-186604" r="0" b="-186604"/>
              </a:stretch>
            </a:blipFill>
          </p:spPr>
        </p:sp>
        <p:sp>
          <p:nvSpPr>
            <p:cNvPr name="TextBox 4" id="4"/>
            <p:cNvSpPr txBox="true"/>
            <p:nvPr/>
          </p:nvSpPr>
          <p:spPr>
            <a:xfrm>
              <a:off x="0" y="0"/>
              <a:ext cx="6217920" cy="512064"/>
            </a:xfrm>
            <a:prstGeom prst="rect">
              <a:avLst/>
            </a:prstGeom>
          </p:spPr>
          <p:txBody>
            <a:bodyPr anchor="ctr" rtlCol="false" tIns="0" lIns="0" bIns="0" rIns="0"/>
            <a:lstStyle/>
            <a:p>
              <a:pPr algn="l">
                <a:lnSpc>
                  <a:spcPts val="2250"/>
                </a:lnSpc>
              </a:pPr>
              <a:r>
                <a:rPr lang="en-US" b="true" sz="1875" spc="60">
                  <a:solidFill>
                    <a:srgbClr val="FF8A4C"/>
                  </a:solidFill>
                  <a:latin typeface="Aptos Bold"/>
                  <a:ea typeface="Aptos Bold"/>
                  <a:cs typeface="Aptos Bold"/>
                  <a:sym typeface="Aptos Bold"/>
                </a:rPr>
                <a:t>MARRIAGE &amp; FERTILITY</a:t>
              </a:r>
            </a:p>
          </p:txBody>
        </p:sp>
      </p:grpSp>
      <p:grpSp>
        <p:nvGrpSpPr>
          <p:cNvPr name="Group 5" id="5"/>
          <p:cNvGrpSpPr/>
          <p:nvPr/>
        </p:nvGrpSpPr>
        <p:grpSpPr>
          <a:xfrm rot="0">
            <a:off x="1028700" y="3017520"/>
            <a:ext cx="13578840" cy="2125980"/>
            <a:chOff x="0" y="0"/>
            <a:chExt cx="18105120" cy="2834640"/>
          </a:xfrm>
        </p:grpSpPr>
        <p:sp>
          <p:nvSpPr>
            <p:cNvPr name="Freeform 6" id="6"/>
            <p:cNvSpPr/>
            <p:nvPr/>
          </p:nvSpPr>
          <p:spPr>
            <a:xfrm flipH="false" flipV="false" rot="0">
              <a:off x="0" y="0"/>
              <a:ext cx="18105120" cy="2834640"/>
            </a:xfrm>
            <a:custGeom>
              <a:avLst/>
              <a:gdLst/>
              <a:ahLst/>
              <a:cxnLst/>
              <a:rect r="r" b="b" t="t" l="l"/>
              <a:pathLst>
                <a:path h="2834640" w="18105120">
                  <a:moveTo>
                    <a:pt x="0" y="0"/>
                  </a:moveTo>
                  <a:lnTo>
                    <a:pt x="18105120" y="0"/>
                  </a:lnTo>
                  <a:lnTo>
                    <a:pt x="18105120" y="2834640"/>
                  </a:lnTo>
                  <a:lnTo>
                    <a:pt x="0" y="2834640"/>
                  </a:lnTo>
                  <a:close/>
                </a:path>
              </a:pathLst>
            </a:custGeom>
            <a:blipFill>
              <a:blip r:embed="rId3">
                <a:alphaModFix amt="0"/>
              </a:blip>
              <a:stretch>
                <a:fillRect l="0" t="-74452" r="0" b="-74452"/>
              </a:stretch>
            </a:blipFill>
          </p:spPr>
        </p:sp>
        <p:sp>
          <p:nvSpPr>
            <p:cNvPr name="TextBox 7" id="7"/>
            <p:cNvSpPr txBox="true"/>
            <p:nvPr/>
          </p:nvSpPr>
          <p:spPr>
            <a:xfrm>
              <a:off x="0" y="0"/>
              <a:ext cx="18105120" cy="2834640"/>
            </a:xfrm>
            <a:prstGeom prst="rect">
              <a:avLst/>
            </a:prstGeom>
          </p:spPr>
          <p:txBody>
            <a:bodyPr anchor="ctr" rtlCol="false" tIns="0" lIns="0" bIns="0" rIns="0"/>
            <a:lstStyle/>
            <a:p>
              <a:pPr algn="l">
                <a:lnSpc>
                  <a:spcPts val="5670"/>
                </a:lnSpc>
              </a:pPr>
              <a:r>
                <a:rPr lang="en-US" sz="4725" b="true">
                  <a:solidFill>
                    <a:srgbClr val="F4F0E8"/>
                  </a:solidFill>
                  <a:latin typeface="Georgia Bold"/>
                  <a:ea typeface="Georgia Bold"/>
                  <a:cs typeface="Georgia Bold"/>
                  <a:sym typeface="Georgia Bold"/>
                </a:rPr>
                <a:t>Does later marriage help explain</a:t>
              </a:r>
            </a:p>
            <a:p>
              <a:pPr algn="l">
                <a:lnSpc>
                  <a:spcPts val="5670"/>
                </a:lnSpc>
              </a:pPr>
              <a:r>
                <a:rPr lang="en-US" sz="4725" b="true">
                  <a:solidFill>
                    <a:srgbClr val="F4F0E8"/>
                  </a:solidFill>
                  <a:latin typeface="Georgia Bold"/>
                  <a:ea typeface="Georgia Bold"/>
                  <a:cs typeface="Georgia Bold"/>
                  <a:sym typeface="Georgia Bold"/>
                </a:rPr>
                <a:t>the falling birth rate?</a:t>
              </a:r>
            </a:p>
          </p:txBody>
        </p:sp>
      </p:grpSp>
      <p:grpSp>
        <p:nvGrpSpPr>
          <p:cNvPr name="Group 8" id="8"/>
          <p:cNvGrpSpPr/>
          <p:nvPr/>
        </p:nvGrpSpPr>
        <p:grpSpPr>
          <a:xfrm rot="0">
            <a:off x="1028700" y="5328666"/>
            <a:ext cx="10424160" cy="480060"/>
            <a:chOff x="0" y="0"/>
            <a:chExt cx="13898880" cy="640080"/>
          </a:xfrm>
        </p:grpSpPr>
        <p:sp>
          <p:nvSpPr>
            <p:cNvPr name="Freeform 9" id="9"/>
            <p:cNvSpPr/>
            <p:nvPr/>
          </p:nvSpPr>
          <p:spPr>
            <a:xfrm flipH="false" flipV="false" rot="0">
              <a:off x="0" y="0"/>
              <a:ext cx="13898880" cy="640080"/>
            </a:xfrm>
            <a:custGeom>
              <a:avLst/>
              <a:gdLst/>
              <a:ahLst/>
              <a:cxnLst/>
              <a:rect r="r" b="b" t="t" l="l"/>
              <a:pathLst>
                <a:path h="640080" w="13898880">
                  <a:moveTo>
                    <a:pt x="0" y="0"/>
                  </a:moveTo>
                  <a:lnTo>
                    <a:pt x="13898880" y="0"/>
                  </a:lnTo>
                  <a:lnTo>
                    <a:pt x="13898880" y="640080"/>
                  </a:lnTo>
                  <a:lnTo>
                    <a:pt x="0" y="640080"/>
                  </a:lnTo>
                  <a:close/>
                </a:path>
              </a:pathLst>
            </a:custGeom>
            <a:blipFill>
              <a:blip r:embed="rId3">
                <a:alphaModFix amt="0"/>
              </a:blip>
              <a:stretch>
                <a:fillRect l="0" t="-373103" r="0" b="-373103"/>
              </a:stretch>
            </a:blipFill>
          </p:spPr>
        </p:sp>
        <p:sp>
          <p:nvSpPr>
            <p:cNvPr name="TextBox 10" id="10"/>
            <p:cNvSpPr txBox="true"/>
            <p:nvPr/>
          </p:nvSpPr>
          <p:spPr>
            <a:xfrm>
              <a:off x="0" y="0"/>
              <a:ext cx="13898880" cy="640080"/>
            </a:xfrm>
            <a:prstGeom prst="rect">
              <a:avLst/>
            </a:prstGeom>
          </p:spPr>
          <p:txBody>
            <a:bodyPr anchor="ctr" rtlCol="false" tIns="0" lIns="0" bIns="0" rIns="0"/>
            <a:lstStyle/>
            <a:p>
              <a:pPr algn="l">
                <a:lnSpc>
                  <a:spcPts val="2700"/>
                </a:lnSpc>
              </a:pPr>
              <a:r>
                <a:rPr lang="en-US" sz="2250">
                  <a:solidFill>
                    <a:srgbClr val="C8CCD4"/>
                  </a:solidFill>
                  <a:latin typeface="Aptos"/>
                  <a:ea typeface="Aptos"/>
                  <a:cs typeface="Aptos"/>
                  <a:sym typeface="Aptos"/>
                </a:rPr>
                <a:t>Marriage timing, family formation and TFR</a:t>
              </a:r>
            </a:p>
          </p:txBody>
        </p:sp>
      </p:grpSp>
      <p:grpSp>
        <p:nvGrpSpPr>
          <p:cNvPr name="Group 11" id="11"/>
          <p:cNvGrpSpPr/>
          <p:nvPr/>
        </p:nvGrpSpPr>
        <p:grpSpPr>
          <a:xfrm rot="0">
            <a:off x="932688" y="8737092"/>
            <a:ext cx="4800600" cy="342900"/>
            <a:chOff x="0" y="0"/>
            <a:chExt cx="6400800" cy="457200"/>
          </a:xfrm>
        </p:grpSpPr>
        <p:sp>
          <p:nvSpPr>
            <p:cNvPr name="Freeform 12" id="12"/>
            <p:cNvSpPr/>
            <p:nvPr/>
          </p:nvSpPr>
          <p:spPr>
            <a:xfrm flipH="false" flipV="false" rot="0">
              <a:off x="0" y="0"/>
              <a:ext cx="6400800" cy="457200"/>
            </a:xfrm>
            <a:custGeom>
              <a:avLst/>
              <a:gdLst/>
              <a:ahLst/>
              <a:cxnLst/>
              <a:rect r="r" b="b" t="t" l="l"/>
              <a:pathLst>
                <a:path h="457200" w="6400800">
                  <a:moveTo>
                    <a:pt x="0" y="0"/>
                  </a:moveTo>
                  <a:lnTo>
                    <a:pt x="6400800" y="0"/>
                  </a:lnTo>
                  <a:lnTo>
                    <a:pt x="6400800" y="457200"/>
                  </a:lnTo>
                  <a:lnTo>
                    <a:pt x="0" y="457200"/>
                  </a:lnTo>
                  <a:close/>
                </a:path>
              </a:pathLst>
            </a:custGeom>
            <a:blipFill>
              <a:blip r:embed="rId3">
                <a:alphaModFix amt="0"/>
              </a:blip>
              <a:stretch>
                <a:fillRect l="0" t="-222790" r="0" b="-222790"/>
              </a:stretch>
            </a:blipFill>
          </p:spPr>
        </p:sp>
        <p:sp>
          <p:nvSpPr>
            <p:cNvPr name="TextBox 13" id="13"/>
            <p:cNvSpPr txBox="true"/>
            <p:nvPr/>
          </p:nvSpPr>
          <p:spPr>
            <a:xfrm>
              <a:off x="0" y="0"/>
              <a:ext cx="6400800" cy="457200"/>
            </a:xfrm>
            <a:prstGeom prst="rect">
              <a:avLst/>
            </a:prstGeom>
          </p:spPr>
          <p:txBody>
            <a:bodyPr anchor="ctr" rtlCol="false" tIns="0" lIns="0" bIns="0" rIns="0"/>
            <a:lstStyle/>
            <a:p>
              <a:pPr algn="l">
                <a:lnSpc>
                  <a:spcPts val="1889"/>
                </a:lnSpc>
              </a:pPr>
              <a:r>
                <a:rPr lang="en-US" sz="1575">
                  <a:solidFill>
                    <a:srgbClr val="9EA6B2"/>
                  </a:solidFill>
                  <a:latin typeface="Aptos"/>
                  <a:ea typeface="Aptos"/>
                  <a:cs typeface="Aptos"/>
                  <a:sym typeface="Aptos"/>
                </a:rPr>
                <a:t>Presenter: Tongtong Tang</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AutoShape 2" id="2"/>
          <p:cNvSpPr/>
          <p:nvPr/>
        </p:nvSpPr>
        <p:spPr>
          <a:xfrm rot="3120">
            <a:off x="787908" y="9706166"/>
            <a:ext cx="16680190" cy="0"/>
          </a:xfrm>
          <a:prstGeom prst="line">
            <a:avLst/>
          </a:prstGeom>
          <a:ln cap="rnd" w="9525">
            <a:solidFill>
              <a:srgbClr val="D9D8D3"/>
            </a:solidFill>
            <a:prstDash val="solid"/>
            <a:headEnd type="none" len="sm" w="sm"/>
            <a:tailEnd type="none" len="sm" w="sm"/>
          </a:ln>
        </p:spPr>
      </p:sp>
      <p:grpSp>
        <p:nvGrpSpPr>
          <p:cNvPr name="Group 3" id="3"/>
          <p:cNvGrpSpPr/>
          <p:nvPr/>
        </p:nvGrpSpPr>
        <p:grpSpPr>
          <a:xfrm rot="0">
            <a:off x="822960" y="9793224"/>
            <a:ext cx="7680960" cy="246888"/>
            <a:chOff x="0" y="0"/>
            <a:chExt cx="10241280" cy="329184"/>
          </a:xfrm>
        </p:grpSpPr>
        <p:sp>
          <p:nvSpPr>
            <p:cNvPr name="Freeform 4" id="4"/>
            <p:cNvSpPr/>
            <p:nvPr/>
          </p:nvSpPr>
          <p:spPr>
            <a:xfrm flipH="false" flipV="false" rot="0">
              <a:off x="0" y="0"/>
              <a:ext cx="10241280" cy="329184"/>
            </a:xfrm>
            <a:custGeom>
              <a:avLst/>
              <a:gdLst/>
              <a:ahLst/>
              <a:cxnLst/>
              <a:rect r="r" b="b" t="t" l="l"/>
              <a:pathLst>
                <a:path h="329184" w="10241280">
                  <a:moveTo>
                    <a:pt x="0" y="0"/>
                  </a:moveTo>
                  <a:lnTo>
                    <a:pt x="10241280" y="0"/>
                  </a:lnTo>
                  <a:lnTo>
                    <a:pt x="10241280" y="329184"/>
                  </a:lnTo>
                  <a:lnTo>
                    <a:pt x="0" y="329184"/>
                  </a:lnTo>
                  <a:close/>
                </a:path>
              </a:pathLst>
            </a:custGeom>
            <a:blipFill>
              <a:blip r:embed="rId3">
                <a:alphaModFix amt="0"/>
              </a:blip>
              <a:stretch>
                <a:fillRect l="0" t="-556201" r="0" b="-556201"/>
              </a:stretch>
            </a:blipFill>
          </p:spPr>
        </p:sp>
        <p:sp>
          <p:nvSpPr>
            <p:cNvPr name="TextBox 5" id="5"/>
            <p:cNvSpPr txBox="true"/>
            <p:nvPr/>
          </p:nvSpPr>
          <p:spPr>
            <a:xfrm>
              <a:off x="0" y="0"/>
              <a:ext cx="10241280" cy="329184"/>
            </a:xfrm>
            <a:prstGeom prst="rect">
              <a:avLst/>
            </a:prstGeom>
          </p:spPr>
          <p:txBody>
            <a:bodyPr anchor="ctr" rtlCol="false" tIns="0" lIns="0" bIns="0" rIns="0"/>
            <a:lstStyle/>
            <a:p>
              <a:pPr algn="l">
                <a:lnSpc>
                  <a:spcPts val="1584"/>
                </a:lnSpc>
              </a:pPr>
              <a:r>
                <a:rPr lang="en-US" sz="1320">
                  <a:solidFill>
                    <a:srgbClr val="797873"/>
                  </a:solidFill>
                  <a:latin typeface="Aptos"/>
                  <a:ea typeface="Aptos"/>
                  <a:cs typeface="Aptos"/>
                  <a:sym typeface="Aptos"/>
                </a:rPr>
                <a:t>AN6100 Final Project · Marriage Factor × TFR</a:t>
              </a:r>
            </a:p>
          </p:txBody>
        </p:sp>
      </p:grpSp>
      <p:grpSp>
        <p:nvGrpSpPr>
          <p:cNvPr name="Group 6" id="6"/>
          <p:cNvGrpSpPr/>
          <p:nvPr/>
        </p:nvGrpSpPr>
        <p:grpSpPr>
          <a:xfrm rot="0">
            <a:off x="850392" y="438912"/>
            <a:ext cx="16390620" cy="589788"/>
            <a:chOff x="0" y="0"/>
            <a:chExt cx="21854160" cy="786384"/>
          </a:xfrm>
        </p:grpSpPr>
        <p:sp>
          <p:nvSpPr>
            <p:cNvPr name="Freeform 7" id="7"/>
            <p:cNvSpPr/>
            <p:nvPr/>
          </p:nvSpPr>
          <p:spPr>
            <a:xfrm flipH="false" flipV="false" rot="0">
              <a:off x="0" y="0"/>
              <a:ext cx="21854161" cy="786384"/>
            </a:xfrm>
            <a:custGeom>
              <a:avLst/>
              <a:gdLst/>
              <a:ahLst/>
              <a:cxnLst/>
              <a:rect r="r" b="b" t="t" l="l"/>
              <a:pathLst>
                <a:path h="786384" w="21854161">
                  <a:moveTo>
                    <a:pt x="0" y="0"/>
                  </a:moveTo>
                  <a:lnTo>
                    <a:pt x="21854161" y="0"/>
                  </a:lnTo>
                  <a:lnTo>
                    <a:pt x="21854161" y="786384"/>
                  </a:lnTo>
                  <a:lnTo>
                    <a:pt x="0" y="786384"/>
                  </a:lnTo>
                  <a:close/>
                </a:path>
              </a:pathLst>
            </a:custGeom>
            <a:blipFill>
              <a:blip r:embed="rId3">
                <a:alphaModFix amt="0"/>
              </a:blip>
              <a:stretch>
                <a:fillRect l="0" t="-491502" r="0" b="-491502"/>
              </a:stretch>
            </a:blipFill>
          </p:spPr>
        </p:sp>
        <p:sp>
          <p:nvSpPr>
            <p:cNvPr name="TextBox 8" id="8"/>
            <p:cNvSpPr txBox="true"/>
            <p:nvPr/>
          </p:nvSpPr>
          <p:spPr>
            <a:xfrm>
              <a:off x="0" y="0"/>
              <a:ext cx="21854160" cy="786384"/>
            </a:xfrm>
            <a:prstGeom prst="rect">
              <a:avLst/>
            </a:prstGeom>
          </p:spPr>
          <p:txBody>
            <a:bodyPr anchor="ctr" rtlCol="false" tIns="0" lIns="0" bIns="0" rIns="0"/>
            <a:lstStyle/>
            <a:p>
              <a:pPr algn="l">
                <a:lnSpc>
                  <a:spcPts val="4410"/>
                </a:lnSpc>
              </a:pPr>
              <a:r>
                <a:rPr lang="en-US" sz="3675" b="true">
                  <a:solidFill>
                    <a:srgbClr val="20201E"/>
                  </a:solidFill>
                  <a:latin typeface="Aptos Bold"/>
                  <a:ea typeface="Aptos Bold"/>
                  <a:cs typeface="Aptos Bold"/>
                  <a:sym typeface="Aptos Bold"/>
                </a:rPr>
                <a:t>Marriage and family formation are shifting later</a:t>
              </a:r>
            </a:p>
          </p:txBody>
        </p:sp>
      </p:grpSp>
      <p:grpSp>
        <p:nvGrpSpPr>
          <p:cNvPr name="Group 9" id="9"/>
          <p:cNvGrpSpPr/>
          <p:nvPr/>
        </p:nvGrpSpPr>
        <p:grpSpPr>
          <a:xfrm rot="0">
            <a:off x="877824" y="1124712"/>
            <a:ext cx="16184880" cy="342900"/>
            <a:chOff x="0" y="0"/>
            <a:chExt cx="21579840" cy="457200"/>
          </a:xfrm>
        </p:grpSpPr>
        <p:sp>
          <p:nvSpPr>
            <p:cNvPr name="Freeform 10" id="10"/>
            <p:cNvSpPr/>
            <p:nvPr/>
          </p:nvSpPr>
          <p:spPr>
            <a:xfrm flipH="false" flipV="false" rot="0">
              <a:off x="0" y="0"/>
              <a:ext cx="21579839" cy="457200"/>
            </a:xfrm>
            <a:custGeom>
              <a:avLst/>
              <a:gdLst/>
              <a:ahLst/>
              <a:cxnLst/>
              <a:rect r="r" b="b" t="t" l="l"/>
              <a:pathLst>
                <a:path h="457200" w="21579839">
                  <a:moveTo>
                    <a:pt x="0" y="0"/>
                  </a:moveTo>
                  <a:lnTo>
                    <a:pt x="21579839" y="0"/>
                  </a:lnTo>
                  <a:lnTo>
                    <a:pt x="21579839" y="457200"/>
                  </a:lnTo>
                  <a:lnTo>
                    <a:pt x="0" y="457200"/>
                  </a:lnTo>
                  <a:close/>
                </a:path>
              </a:pathLst>
            </a:custGeom>
            <a:blipFill>
              <a:blip r:embed="rId3">
                <a:alphaModFix amt="0"/>
              </a:blip>
              <a:stretch>
                <a:fillRect l="0" t="-869693" r="0" b="-869693"/>
              </a:stretch>
            </a:blipFill>
          </p:spPr>
        </p:sp>
        <p:sp>
          <p:nvSpPr>
            <p:cNvPr name="TextBox 11" id="11"/>
            <p:cNvSpPr txBox="true"/>
            <p:nvPr/>
          </p:nvSpPr>
          <p:spPr>
            <a:xfrm>
              <a:off x="0" y="-9525"/>
              <a:ext cx="21579840" cy="466725"/>
            </a:xfrm>
            <a:prstGeom prst="rect">
              <a:avLst/>
            </a:prstGeom>
          </p:spPr>
          <p:txBody>
            <a:bodyPr anchor="ctr" rtlCol="false" tIns="0" lIns="0" bIns="0" rIns="0"/>
            <a:lstStyle/>
            <a:p>
              <a:pPr algn="l">
                <a:lnSpc>
                  <a:spcPts val="2034"/>
                </a:lnSpc>
              </a:pPr>
              <a:r>
                <a:rPr lang="en-US" sz="1695">
                  <a:solidFill>
                    <a:srgbClr val="686762"/>
                  </a:solidFill>
                  <a:latin typeface="Aptos"/>
                  <a:ea typeface="Aptos"/>
                  <a:cs typeface="Aptos"/>
                  <a:sym typeface="Aptos"/>
                </a:rPr>
                <a:t>Singapore, 2010–2025 · What changed in marriage timing, first birth, and TFR?</a:t>
              </a:r>
            </a:p>
          </p:txBody>
        </p:sp>
      </p:grpSp>
      <p:sp>
        <p:nvSpPr>
          <p:cNvPr name="AutoShape 12" id="12"/>
          <p:cNvSpPr/>
          <p:nvPr/>
        </p:nvSpPr>
        <p:spPr>
          <a:xfrm rot="115320">
            <a:off x="848773" y="1467041"/>
            <a:ext cx="1704032" cy="0"/>
          </a:xfrm>
          <a:prstGeom prst="line">
            <a:avLst/>
          </a:prstGeom>
          <a:ln cap="rnd" w="28575">
            <a:solidFill>
              <a:srgbClr val="5142A6"/>
            </a:solidFill>
            <a:prstDash val="solid"/>
            <a:headEnd type="none" len="sm" w="sm"/>
            <a:tailEnd type="none" len="sm" w="sm"/>
          </a:ln>
        </p:spPr>
      </p:sp>
      <p:grpSp>
        <p:nvGrpSpPr>
          <p:cNvPr name="Group 13" id="13"/>
          <p:cNvGrpSpPr/>
          <p:nvPr/>
        </p:nvGrpSpPr>
        <p:grpSpPr>
          <a:xfrm rot="0">
            <a:off x="868299" y="1691259"/>
            <a:ext cx="2145030" cy="457962"/>
            <a:chOff x="0" y="0"/>
            <a:chExt cx="2860040" cy="610616"/>
          </a:xfrm>
        </p:grpSpPr>
        <p:sp>
          <p:nvSpPr>
            <p:cNvPr name="Freeform 14" id="14"/>
            <p:cNvSpPr/>
            <p:nvPr/>
          </p:nvSpPr>
          <p:spPr>
            <a:xfrm flipH="false" flipV="false" rot="0">
              <a:off x="0" y="0"/>
              <a:ext cx="2860040" cy="610616"/>
            </a:xfrm>
            <a:custGeom>
              <a:avLst/>
              <a:gdLst/>
              <a:ahLst/>
              <a:cxnLst/>
              <a:rect r="r" b="b" t="t" l="l"/>
              <a:pathLst>
                <a:path h="610616" w="2860040">
                  <a:moveTo>
                    <a:pt x="0" y="152654"/>
                  </a:moveTo>
                  <a:cubicBezTo>
                    <a:pt x="0" y="68326"/>
                    <a:pt x="68326" y="0"/>
                    <a:pt x="152654" y="0"/>
                  </a:cubicBezTo>
                  <a:lnTo>
                    <a:pt x="2707386" y="0"/>
                  </a:lnTo>
                  <a:cubicBezTo>
                    <a:pt x="2791714" y="0"/>
                    <a:pt x="2860040" y="68326"/>
                    <a:pt x="2860040" y="152654"/>
                  </a:cubicBezTo>
                  <a:lnTo>
                    <a:pt x="2860040" y="457962"/>
                  </a:lnTo>
                  <a:cubicBezTo>
                    <a:pt x="2860040" y="542290"/>
                    <a:pt x="2791714" y="610616"/>
                    <a:pt x="2707386" y="610616"/>
                  </a:cubicBezTo>
                  <a:lnTo>
                    <a:pt x="152654" y="610616"/>
                  </a:lnTo>
                  <a:cubicBezTo>
                    <a:pt x="68326" y="610616"/>
                    <a:pt x="0" y="542290"/>
                    <a:pt x="0" y="457962"/>
                  </a:cubicBezTo>
                  <a:close/>
                </a:path>
              </a:pathLst>
            </a:custGeom>
            <a:solidFill>
              <a:srgbClr val="EEEAF8"/>
            </a:solidFill>
            <a:ln w="19050" cap="sq">
              <a:solidFill>
                <a:srgbClr val="EEEAF8"/>
              </a:solidFill>
              <a:prstDash val="solid"/>
              <a:miter/>
            </a:ln>
          </p:spPr>
        </p:sp>
      </p:grpSp>
      <p:grpSp>
        <p:nvGrpSpPr>
          <p:cNvPr name="Group 15" id="15"/>
          <p:cNvGrpSpPr/>
          <p:nvPr/>
        </p:nvGrpSpPr>
        <p:grpSpPr>
          <a:xfrm rot="0">
            <a:off x="987552" y="1789938"/>
            <a:ext cx="1906524" cy="219456"/>
            <a:chOff x="0" y="0"/>
            <a:chExt cx="2542032" cy="292608"/>
          </a:xfrm>
        </p:grpSpPr>
        <p:sp>
          <p:nvSpPr>
            <p:cNvPr name="Freeform 16" id="16"/>
            <p:cNvSpPr/>
            <p:nvPr/>
          </p:nvSpPr>
          <p:spPr>
            <a:xfrm flipH="false" flipV="false" rot="0">
              <a:off x="0" y="0"/>
              <a:ext cx="2542032" cy="292608"/>
            </a:xfrm>
            <a:custGeom>
              <a:avLst/>
              <a:gdLst/>
              <a:ahLst/>
              <a:cxnLst/>
              <a:rect r="r" b="b" t="t" l="l"/>
              <a:pathLst>
                <a:path h="292608" w="2542032">
                  <a:moveTo>
                    <a:pt x="0" y="0"/>
                  </a:moveTo>
                  <a:lnTo>
                    <a:pt x="2542032" y="0"/>
                  </a:lnTo>
                  <a:lnTo>
                    <a:pt x="2542032" y="292608"/>
                  </a:lnTo>
                  <a:lnTo>
                    <a:pt x="0" y="292608"/>
                  </a:lnTo>
                  <a:close/>
                </a:path>
              </a:pathLst>
            </a:custGeom>
            <a:blipFill>
              <a:blip r:embed="rId3">
                <a:alphaModFix amt="0"/>
              </a:blip>
              <a:stretch>
                <a:fillRect l="0" t="-119276" r="0" b="-119276"/>
              </a:stretch>
            </a:blipFill>
          </p:spPr>
        </p:sp>
        <p:sp>
          <p:nvSpPr>
            <p:cNvPr name="TextBox 17" id="17"/>
            <p:cNvSpPr txBox="true"/>
            <p:nvPr/>
          </p:nvSpPr>
          <p:spPr>
            <a:xfrm>
              <a:off x="0" y="0"/>
              <a:ext cx="2542032" cy="292608"/>
            </a:xfrm>
            <a:prstGeom prst="rect">
              <a:avLst/>
            </a:prstGeom>
          </p:spPr>
          <p:txBody>
            <a:bodyPr anchor="ctr" rtlCol="false" tIns="0" lIns="0" bIns="0" rIns="0"/>
            <a:lstStyle/>
            <a:p>
              <a:pPr algn="ctr">
                <a:lnSpc>
                  <a:spcPts val="1709"/>
                </a:lnSpc>
              </a:pPr>
              <a:r>
                <a:rPr lang="en-US" sz="1425" b="true">
                  <a:solidFill>
                    <a:srgbClr val="5142A6"/>
                  </a:solidFill>
                  <a:latin typeface="Aptos Bold"/>
                  <a:ea typeface="Aptos Bold"/>
                  <a:cs typeface="Aptos Bold"/>
                  <a:sym typeface="Aptos Bold"/>
                </a:rPr>
                <a:t>AGE PROFILE</a:t>
              </a:r>
            </a:p>
          </p:txBody>
        </p:sp>
      </p:grpSp>
      <p:grpSp>
        <p:nvGrpSpPr>
          <p:cNvPr name="Group 18" id="18"/>
          <p:cNvGrpSpPr/>
          <p:nvPr/>
        </p:nvGrpSpPr>
        <p:grpSpPr>
          <a:xfrm rot="0">
            <a:off x="9289923" y="1691259"/>
            <a:ext cx="2899410" cy="457962"/>
            <a:chOff x="0" y="0"/>
            <a:chExt cx="3865880" cy="610616"/>
          </a:xfrm>
        </p:grpSpPr>
        <p:sp>
          <p:nvSpPr>
            <p:cNvPr name="Freeform 19" id="19"/>
            <p:cNvSpPr/>
            <p:nvPr/>
          </p:nvSpPr>
          <p:spPr>
            <a:xfrm flipH="false" flipV="false" rot="0">
              <a:off x="0" y="0"/>
              <a:ext cx="3865880" cy="610616"/>
            </a:xfrm>
            <a:custGeom>
              <a:avLst/>
              <a:gdLst/>
              <a:ahLst/>
              <a:cxnLst/>
              <a:rect r="r" b="b" t="t" l="l"/>
              <a:pathLst>
                <a:path h="610616" w="3865880">
                  <a:moveTo>
                    <a:pt x="0" y="152654"/>
                  </a:moveTo>
                  <a:cubicBezTo>
                    <a:pt x="0" y="68326"/>
                    <a:pt x="68326" y="0"/>
                    <a:pt x="152654" y="0"/>
                  </a:cubicBezTo>
                  <a:lnTo>
                    <a:pt x="3713226" y="0"/>
                  </a:lnTo>
                  <a:cubicBezTo>
                    <a:pt x="3797554" y="0"/>
                    <a:pt x="3865880" y="68326"/>
                    <a:pt x="3865880" y="152654"/>
                  </a:cubicBezTo>
                  <a:lnTo>
                    <a:pt x="3865880" y="457962"/>
                  </a:lnTo>
                  <a:cubicBezTo>
                    <a:pt x="3865880" y="542290"/>
                    <a:pt x="3797554" y="610616"/>
                    <a:pt x="3713226" y="610616"/>
                  </a:cubicBezTo>
                  <a:lnTo>
                    <a:pt x="152654" y="610616"/>
                  </a:lnTo>
                  <a:cubicBezTo>
                    <a:pt x="68326" y="610616"/>
                    <a:pt x="0" y="542290"/>
                    <a:pt x="0" y="457962"/>
                  </a:cubicBezTo>
                  <a:close/>
                </a:path>
              </a:pathLst>
            </a:custGeom>
            <a:solidFill>
              <a:srgbClr val="EEF4FB"/>
            </a:solidFill>
            <a:ln w="19050" cap="sq">
              <a:solidFill>
                <a:srgbClr val="EEF4FB"/>
              </a:solidFill>
              <a:prstDash val="solid"/>
              <a:miter/>
            </a:ln>
          </p:spPr>
        </p:sp>
      </p:grpSp>
      <p:grpSp>
        <p:nvGrpSpPr>
          <p:cNvPr name="Group 20" id="20"/>
          <p:cNvGrpSpPr/>
          <p:nvPr/>
        </p:nvGrpSpPr>
        <p:grpSpPr>
          <a:xfrm rot="0">
            <a:off x="9409176" y="1789938"/>
            <a:ext cx="2660904" cy="219456"/>
            <a:chOff x="0" y="0"/>
            <a:chExt cx="3547872" cy="292608"/>
          </a:xfrm>
        </p:grpSpPr>
        <p:sp>
          <p:nvSpPr>
            <p:cNvPr name="Freeform 21" id="21"/>
            <p:cNvSpPr/>
            <p:nvPr/>
          </p:nvSpPr>
          <p:spPr>
            <a:xfrm flipH="false" flipV="false" rot="0">
              <a:off x="0" y="0"/>
              <a:ext cx="3547872" cy="292608"/>
            </a:xfrm>
            <a:custGeom>
              <a:avLst/>
              <a:gdLst/>
              <a:ahLst/>
              <a:cxnLst/>
              <a:rect r="r" b="b" t="t" l="l"/>
              <a:pathLst>
                <a:path h="292608" w="3547872">
                  <a:moveTo>
                    <a:pt x="0" y="0"/>
                  </a:moveTo>
                  <a:lnTo>
                    <a:pt x="3547872" y="0"/>
                  </a:lnTo>
                  <a:lnTo>
                    <a:pt x="3547872" y="292608"/>
                  </a:lnTo>
                  <a:lnTo>
                    <a:pt x="0" y="292608"/>
                  </a:lnTo>
                  <a:close/>
                </a:path>
              </a:pathLst>
            </a:custGeom>
            <a:blipFill>
              <a:blip r:embed="rId3">
                <a:alphaModFix amt="0"/>
              </a:blip>
              <a:stretch>
                <a:fillRect l="0" t="-186256" r="0" b="-186256"/>
              </a:stretch>
            </a:blipFill>
          </p:spPr>
        </p:sp>
        <p:sp>
          <p:nvSpPr>
            <p:cNvPr name="TextBox 22" id="22"/>
            <p:cNvSpPr txBox="true"/>
            <p:nvPr/>
          </p:nvSpPr>
          <p:spPr>
            <a:xfrm>
              <a:off x="0" y="0"/>
              <a:ext cx="3547872" cy="292608"/>
            </a:xfrm>
            <a:prstGeom prst="rect">
              <a:avLst/>
            </a:prstGeom>
          </p:spPr>
          <p:txBody>
            <a:bodyPr anchor="ctr" rtlCol="false" tIns="0" lIns="0" bIns="0" rIns="0"/>
            <a:lstStyle/>
            <a:p>
              <a:pPr algn="ctr">
                <a:lnSpc>
                  <a:spcPts val="1709"/>
                </a:lnSpc>
              </a:pPr>
              <a:r>
                <a:rPr lang="en-US" sz="1425" b="true">
                  <a:solidFill>
                    <a:srgbClr val="2A78D6"/>
                  </a:solidFill>
                  <a:latin typeface="Aptos Bold"/>
                  <a:ea typeface="Aptos Bold"/>
                  <a:cs typeface="Aptos Bold"/>
                  <a:sym typeface="Aptos Bold"/>
                </a:rPr>
                <a:t>TIMING + FERTILITY</a:t>
              </a:r>
            </a:p>
          </p:txBody>
        </p:sp>
      </p:grpSp>
      <p:grpSp>
        <p:nvGrpSpPr>
          <p:cNvPr name="Group 23" id="23"/>
          <p:cNvGrpSpPr/>
          <p:nvPr/>
        </p:nvGrpSpPr>
        <p:grpSpPr>
          <a:xfrm rot="0">
            <a:off x="786003" y="2212467"/>
            <a:ext cx="8180070" cy="6630162"/>
            <a:chOff x="0" y="0"/>
            <a:chExt cx="10906760" cy="8840216"/>
          </a:xfrm>
        </p:grpSpPr>
        <p:sp>
          <p:nvSpPr>
            <p:cNvPr name="Freeform 24" id="24"/>
            <p:cNvSpPr/>
            <p:nvPr/>
          </p:nvSpPr>
          <p:spPr>
            <a:xfrm flipH="false" flipV="false" rot="0">
              <a:off x="0" y="0"/>
              <a:ext cx="10906760" cy="8840215"/>
            </a:xfrm>
            <a:custGeom>
              <a:avLst/>
              <a:gdLst/>
              <a:ahLst/>
              <a:cxnLst/>
              <a:rect r="r" b="b" t="t" l="l"/>
              <a:pathLst>
                <a:path h="8840215" w="10906760">
                  <a:moveTo>
                    <a:pt x="0" y="110109"/>
                  </a:moveTo>
                  <a:cubicBezTo>
                    <a:pt x="0" y="49276"/>
                    <a:pt x="49276" y="0"/>
                    <a:pt x="110109" y="0"/>
                  </a:cubicBezTo>
                  <a:lnTo>
                    <a:pt x="10796651" y="0"/>
                  </a:lnTo>
                  <a:cubicBezTo>
                    <a:pt x="10857484" y="0"/>
                    <a:pt x="10906760" y="49276"/>
                    <a:pt x="10906760" y="110109"/>
                  </a:cubicBezTo>
                  <a:lnTo>
                    <a:pt x="10906760" y="8730107"/>
                  </a:lnTo>
                  <a:cubicBezTo>
                    <a:pt x="10906760" y="8790939"/>
                    <a:pt x="10857484" y="8840215"/>
                    <a:pt x="10796651" y="8840215"/>
                  </a:cubicBezTo>
                  <a:lnTo>
                    <a:pt x="110109" y="8840215"/>
                  </a:lnTo>
                  <a:cubicBezTo>
                    <a:pt x="49276" y="8840215"/>
                    <a:pt x="0" y="8790939"/>
                    <a:pt x="0" y="8730107"/>
                  </a:cubicBezTo>
                  <a:close/>
                </a:path>
              </a:pathLst>
            </a:custGeom>
            <a:solidFill>
              <a:srgbClr val="FFFFFF"/>
            </a:solidFill>
            <a:ln w="19050" cap="sq">
              <a:solidFill>
                <a:srgbClr val="E1E0DB"/>
              </a:solidFill>
              <a:prstDash val="solid"/>
              <a:miter/>
            </a:ln>
          </p:spPr>
        </p:sp>
      </p:grpSp>
      <p:grpSp>
        <p:nvGrpSpPr>
          <p:cNvPr name="Group 25" id="25"/>
          <p:cNvGrpSpPr/>
          <p:nvPr/>
        </p:nvGrpSpPr>
        <p:grpSpPr>
          <a:xfrm rot="0">
            <a:off x="9180195" y="2212467"/>
            <a:ext cx="8317230" cy="6630162"/>
            <a:chOff x="0" y="0"/>
            <a:chExt cx="11089640" cy="8840216"/>
          </a:xfrm>
        </p:grpSpPr>
        <p:sp>
          <p:nvSpPr>
            <p:cNvPr name="Freeform 26" id="26"/>
            <p:cNvSpPr/>
            <p:nvPr/>
          </p:nvSpPr>
          <p:spPr>
            <a:xfrm flipH="false" flipV="false" rot="0">
              <a:off x="0" y="0"/>
              <a:ext cx="11089640" cy="8840215"/>
            </a:xfrm>
            <a:custGeom>
              <a:avLst/>
              <a:gdLst/>
              <a:ahLst/>
              <a:cxnLst/>
              <a:rect r="r" b="b" t="t" l="l"/>
              <a:pathLst>
                <a:path h="8840215" w="11089640">
                  <a:moveTo>
                    <a:pt x="0" y="110109"/>
                  </a:moveTo>
                  <a:cubicBezTo>
                    <a:pt x="0" y="49276"/>
                    <a:pt x="49276" y="0"/>
                    <a:pt x="110109" y="0"/>
                  </a:cubicBezTo>
                  <a:lnTo>
                    <a:pt x="10979531" y="0"/>
                  </a:lnTo>
                  <a:cubicBezTo>
                    <a:pt x="11040364" y="0"/>
                    <a:pt x="11089640" y="49276"/>
                    <a:pt x="11089640" y="110109"/>
                  </a:cubicBezTo>
                  <a:lnTo>
                    <a:pt x="11089640" y="8730107"/>
                  </a:lnTo>
                  <a:cubicBezTo>
                    <a:pt x="11089640" y="8790939"/>
                    <a:pt x="11040364" y="8840215"/>
                    <a:pt x="10979531" y="8840215"/>
                  </a:cubicBezTo>
                  <a:lnTo>
                    <a:pt x="110109" y="8840215"/>
                  </a:lnTo>
                  <a:cubicBezTo>
                    <a:pt x="49276" y="8840215"/>
                    <a:pt x="0" y="8790939"/>
                    <a:pt x="0" y="8730107"/>
                  </a:cubicBezTo>
                  <a:close/>
                </a:path>
              </a:pathLst>
            </a:custGeom>
            <a:solidFill>
              <a:srgbClr val="FFFFFF"/>
            </a:solidFill>
            <a:ln w="19050" cap="sq">
              <a:solidFill>
                <a:srgbClr val="E1E0DB"/>
              </a:solidFill>
              <a:prstDash val="solid"/>
              <a:miter/>
            </a:ln>
          </p:spPr>
        </p:sp>
      </p:grpSp>
      <p:grpSp>
        <p:nvGrpSpPr>
          <p:cNvPr name="Group 27" id="27"/>
          <p:cNvGrpSpPr/>
          <p:nvPr/>
        </p:nvGrpSpPr>
        <p:grpSpPr>
          <a:xfrm rot="0">
            <a:off x="1042416" y="3253721"/>
            <a:ext cx="7653528" cy="4259618"/>
            <a:chOff x="0" y="0"/>
            <a:chExt cx="10204704" cy="5679491"/>
          </a:xfrm>
        </p:grpSpPr>
        <p:sp>
          <p:nvSpPr>
            <p:cNvPr name="Freeform 28" id="28" descr="/mnt/data/marriage_v7_final/assets2/v7_fig1_heatmap.png"/>
            <p:cNvSpPr/>
            <p:nvPr/>
          </p:nvSpPr>
          <p:spPr>
            <a:xfrm flipH="false" flipV="false" rot="0">
              <a:off x="0" y="0"/>
              <a:ext cx="10204704" cy="5679440"/>
            </a:xfrm>
            <a:custGeom>
              <a:avLst/>
              <a:gdLst/>
              <a:ahLst/>
              <a:cxnLst/>
              <a:rect r="r" b="b" t="t" l="l"/>
              <a:pathLst>
                <a:path h="5679440" w="10204704">
                  <a:moveTo>
                    <a:pt x="0" y="0"/>
                  </a:moveTo>
                  <a:lnTo>
                    <a:pt x="10204704" y="0"/>
                  </a:lnTo>
                  <a:lnTo>
                    <a:pt x="10204704" y="5679440"/>
                  </a:lnTo>
                  <a:lnTo>
                    <a:pt x="0" y="5679440"/>
                  </a:lnTo>
                  <a:lnTo>
                    <a:pt x="0" y="0"/>
                  </a:lnTo>
                  <a:close/>
                </a:path>
              </a:pathLst>
            </a:custGeom>
            <a:blipFill>
              <a:blip r:embed="rId4"/>
              <a:stretch>
                <a:fillRect l="0" t="0" r="0" b="0"/>
              </a:stretch>
            </a:blipFill>
          </p:spPr>
        </p:sp>
      </p:grpSp>
      <p:grpSp>
        <p:nvGrpSpPr>
          <p:cNvPr name="Group 29" id="29"/>
          <p:cNvGrpSpPr/>
          <p:nvPr/>
        </p:nvGrpSpPr>
        <p:grpSpPr>
          <a:xfrm rot="0">
            <a:off x="9436608" y="3220422"/>
            <a:ext cx="7790688" cy="4326217"/>
            <a:chOff x="0" y="0"/>
            <a:chExt cx="10387584" cy="5768289"/>
          </a:xfrm>
        </p:grpSpPr>
        <p:sp>
          <p:nvSpPr>
            <p:cNvPr name="Freeform 30" id="30" descr="/mnt/data/marriage_v7_final/assets2/v7_fig2_peak_firstbirth_tfr.png"/>
            <p:cNvSpPr/>
            <p:nvPr/>
          </p:nvSpPr>
          <p:spPr>
            <a:xfrm flipH="false" flipV="false" rot="0">
              <a:off x="0" y="0"/>
              <a:ext cx="10387584" cy="5768340"/>
            </a:xfrm>
            <a:custGeom>
              <a:avLst/>
              <a:gdLst/>
              <a:ahLst/>
              <a:cxnLst/>
              <a:rect r="r" b="b" t="t" l="l"/>
              <a:pathLst>
                <a:path h="5768340" w="10387584">
                  <a:moveTo>
                    <a:pt x="0" y="0"/>
                  </a:moveTo>
                  <a:lnTo>
                    <a:pt x="10387584" y="0"/>
                  </a:lnTo>
                  <a:lnTo>
                    <a:pt x="10387584" y="5768340"/>
                  </a:lnTo>
                  <a:lnTo>
                    <a:pt x="0" y="5768340"/>
                  </a:lnTo>
                  <a:lnTo>
                    <a:pt x="0" y="0"/>
                  </a:lnTo>
                  <a:close/>
                </a:path>
              </a:pathLst>
            </a:custGeom>
            <a:blipFill>
              <a:blip r:embed="rId5"/>
              <a:stretch>
                <a:fillRect l="0" t="0" r="0" b="0"/>
              </a:stretch>
            </a:blipFill>
          </p:spPr>
        </p:sp>
      </p:grpSp>
      <p:grpSp>
        <p:nvGrpSpPr>
          <p:cNvPr name="Group 31" id="31"/>
          <p:cNvGrpSpPr/>
          <p:nvPr/>
        </p:nvGrpSpPr>
        <p:grpSpPr>
          <a:xfrm rot="0">
            <a:off x="1117092" y="8386572"/>
            <a:ext cx="16090392" cy="810768"/>
            <a:chOff x="0" y="0"/>
            <a:chExt cx="21453856" cy="1081024"/>
          </a:xfrm>
        </p:grpSpPr>
        <p:sp>
          <p:nvSpPr>
            <p:cNvPr name="Freeform 32" id="32"/>
            <p:cNvSpPr/>
            <p:nvPr/>
          </p:nvSpPr>
          <p:spPr>
            <a:xfrm flipH="false" flipV="false" rot="0">
              <a:off x="0" y="0"/>
              <a:ext cx="21453856" cy="1081024"/>
            </a:xfrm>
            <a:custGeom>
              <a:avLst/>
              <a:gdLst/>
              <a:ahLst/>
              <a:cxnLst/>
              <a:rect r="r" b="b" t="t" l="l"/>
              <a:pathLst>
                <a:path h="1081024" w="21453856">
                  <a:moveTo>
                    <a:pt x="0" y="93218"/>
                  </a:moveTo>
                  <a:cubicBezTo>
                    <a:pt x="0" y="41783"/>
                    <a:pt x="41783" y="0"/>
                    <a:pt x="93218" y="0"/>
                  </a:cubicBezTo>
                  <a:lnTo>
                    <a:pt x="21360637" y="0"/>
                  </a:lnTo>
                  <a:cubicBezTo>
                    <a:pt x="21412073" y="0"/>
                    <a:pt x="21453856" y="41783"/>
                    <a:pt x="21453856" y="93218"/>
                  </a:cubicBezTo>
                  <a:lnTo>
                    <a:pt x="21453856" y="987806"/>
                  </a:lnTo>
                  <a:cubicBezTo>
                    <a:pt x="21453856" y="1039241"/>
                    <a:pt x="21412073" y="1081024"/>
                    <a:pt x="21360637" y="1081024"/>
                  </a:cubicBezTo>
                  <a:lnTo>
                    <a:pt x="93218" y="1081024"/>
                  </a:lnTo>
                  <a:cubicBezTo>
                    <a:pt x="41783" y="1081024"/>
                    <a:pt x="0" y="1039241"/>
                    <a:pt x="0" y="987806"/>
                  </a:cubicBezTo>
                  <a:close/>
                </a:path>
              </a:pathLst>
            </a:custGeom>
            <a:solidFill>
              <a:srgbClr val="F4EFE8"/>
            </a:solidFill>
            <a:ln w="15240" cap="sq">
              <a:solidFill>
                <a:srgbClr val="E1DACF"/>
              </a:solidFill>
              <a:prstDash val="solid"/>
              <a:miter/>
            </a:ln>
          </p:spPr>
        </p:sp>
      </p:grpSp>
      <p:grpSp>
        <p:nvGrpSpPr>
          <p:cNvPr name="Group 33" id="33"/>
          <p:cNvGrpSpPr/>
          <p:nvPr/>
        </p:nvGrpSpPr>
        <p:grpSpPr>
          <a:xfrm rot="0">
            <a:off x="1371600" y="8613648"/>
            <a:ext cx="15567660" cy="301752"/>
            <a:chOff x="0" y="0"/>
            <a:chExt cx="20756880" cy="402336"/>
          </a:xfrm>
        </p:grpSpPr>
        <p:sp>
          <p:nvSpPr>
            <p:cNvPr name="Freeform 34" id="34"/>
            <p:cNvSpPr/>
            <p:nvPr/>
          </p:nvSpPr>
          <p:spPr>
            <a:xfrm flipH="false" flipV="false" rot="0">
              <a:off x="0" y="0"/>
              <a:ext cx="20756880" cy="402336"/>
            </a:xfrm>
            <a:custGeom>
              <a:avLst/>
              <a:gdLst/>
              <a:ahLst/>
              <a:cxnLst/>
              <a:rect r="r" b="b" t="t" l="l"/>
              <a:pathLst>
                <a:path h="402336" w="20756880">
                  <a:moveTo>
                    <a:pt x="0" y="0"/>
                  </a:moveTo>
                  <a:lnTo>
                    <a:pt x="20756880" y="0"/>
                  </a:lnTo>
                  <a:lnTo>
                    <a:pt x="20756880" y="402336"/>
                  </a:lnTo>
                  <a:lnTo>
                    <a:pt x="0" y="402336"/>
                  </a:lnTo>
                  <a:close/>
                </a:path>
              </a:pathLst>
            </a:custGeom>
            <a:blipFill>
              <a:blip r:embed="rId3">
                <a:alphaModFix amt="0"/>
              </a:blip>
              <a:stretch>
                <a:fillRect l="0" t="-955250" r="0" b="-955250"/>
              </a:stretch>
            </a:blipFill>
          </p:spPr>
        </p:sp>
        <p:sp>
          <p:nvSpPr>
            <p:cNvPr name="TextBox 35" id="35"/>
            <p:cNvSpPr txBox="true"/>
            <p:nvPr/>
          </p:nvSpPr>
          <p:spPr>
            <a:xfrm>
              <a:off x="0" y="0"/>
              <a:ext cx="20756880" cy="402336"/>
            </a:xfrm>
            <a:prstGeom prst="rect">
              <a:avLst/>
            </a:prstGeom>
          </p:spPr>
          <p:txBody>
            <a:bodyPr anchor="ctr" rtlCol="false" tIns="0" lIns="0" bIns="0" rIns="0"/>
            <a:lstStyle/>
            <a:p>
              <a:pPr algn="ctr">
                <a:lnSpc>
                  <a:spcPts val="2052"/>
                </a:lnSpc>
              </a:pPr>
              <a:r>
                <a:rPr lang="en-US" sz="1710" b="true">
                  <a:solidFill>
                    <a:srgbClr val="5142A6"/>
                  </a:solidFill>
                  <a:latin typeface="Aptos Bold"/>
                  <a:ea typeface="Aptos Bold"/>
                  <a:cs typeface="Aptos Bold"/>
                  <a:sym typeface="Aptos Bold"/>
                </a:rPr>
                <a:t>Key finding: </a:t>
              </a:r>
              <a:r>
                <a:rPr lang="en-US" sz="1710">
                  <a:solidFill>
                    <a:srgbClr val="20201E"/>
                  </a:solidFill>
                  <a:latin typeface="Aptos"/>
                  <a:ea typeface="Aptos"/>
                  <a:cs typeface="Aptos"/>
                  <a:sym typeface="Aptos"/>
                </a:rPr>
                <a:t>from 2018 onward, age 30–34 becomes the consistent peak marriage-rate group. </a:t>
              </a:r>
              <a:r>
                <a:rPr lang="en-US" sz="1710" b="true">
                  <a:solidFill>
                    <a:srgbClr val="20201E"/>
                  </a:solidFill>
                  <a:latin typeface="Aptos Bold"/>
                  <a:ea typeface="Aptos Bold"/>
                  <a:cs typeface="Aptos Bold"/>
                  <a:sym typeface="Aptos Bold"/>
                </a:rPr>
                <a:t>Median age at first birth rises to 32.2 while TFR falls to 0.87.</a:t>
              </a:r>
            </a:p>
          </p:txBody>
        </p:sp>
      </p:grpSp>
      <p:sp>
        <p:nvSpPr>
          <p:cNvPr name="TextBox 36" id="36"/>
          <p:cNvSpPr txBox="true"/>
          <p:nvPr/>
        </p:nvSpPr>
        <p:spPr>
          <a:xfrm rot="0">
            <a:off x="17030700" y="9801987"/>
            <a:ext cx="1017118" cy="368084"/>
          </a:xfrm>
          <a:prstGeom prst="rect">
            <a:avLst/>
          </a:prstGeom>
        </p:spPr>
        <p:txBody>
          <a:bodyPr anchor="t" rtlCol="false" tIns="0" lIns="0" bIns="0" rIns="0">
            <a:spAutoFit/>
          </a:bodyPr>
          <a:lstStyle/>
          <a:p>
            <a:pPr algn="l">
              <a:lnSpc>
                <a:spcPts val="1530"/>
              </a:lnSpc>
            </a:pPr>
            <a:r>
              <a:rPr lang="en-US" sz="1275">
                <a:solidFill>
                  <a:srgbClr val="8A8984"/>
                </a:solidFill>
                <a:latin typeface="Aptos"/>
                <a:ea typeface="Aptos"/>
                <a:cs typeface="Aptos"/>
                <a:sym typeface="Aptos"/>
              </a:rPr>
              <a:t>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AutoShape 2" id="2"/>
          <p:cNvSpPr/>
          <p:nvPr/>
        </p:nvSpPr>
        <p:spPr>
          <a:xfrm rot="3120">
            <a:off x="787908" y="9706166"/>
            <a:ext cx="16680190" cy="0"/>
          </a:xfrm>
          <a:prstGeom prst="line">
            <a:avLst/>
          </a:prstGeom>
          <a:ln cap="rnd" w="9525">
            <a:solidFill>
              <a:srgbClr val="D9D8D3"/>
            </a:solidFill>
            <a:prstDash val="solid"/>
            <a:headEnd type="none" len="sm" w="sm"/>
            <a:tailEnd type="none" len="sm" w="sm"/>
          </a:ln>
        </p:spPr>
      </p:sp>
      <p:grpSp>
        <p:nvGrpSpPr>
          <p:cNvPr name="Group 3" id="3"/>
          <p:cNvGrpSpPr/>
          <p:nvPr/>
        </p:nvGrpSpPr>
        <p:grpSpPr>
          <a:xfrm rot="0">
            <a:off x="822960" y="9793224"/>
            <a:ext cx="7680960" cy="246888"/>
            <a:chOff x="0" y="0"/>
            <a:chExt cx="10241280" cy="329184"/>
          </a:xfrm>
        </p:grpSpPr>
        <p:sp>
          <p:nvSpPr>
            <p:cNvPr name="Freeform 4" id="4"/>
            <p:cNvSpPr/>
            <p:nvPr/>
          </p:nvSpPr>
          <p:spPr>
            <a:xfrm flipH="false" flipV="false" rot="0">
              <a:off x="0" y="0"/>
              <a:ext cx="10241280" cy="329184"/>
            </a:xfrm>
            <a:custGeom>
              <a:avLst/>
              <a:gdLst/>
              <a:ahLst/>
              <a:cxnLst/>
              <a:rect r="r" b="b" t="t" l="l"/>
              <a:pathLst>
                <a:path h="329184" w="10241280">
                  <a:moveTo>
                    <a:pt x="0" y="0"/>
                  </a:moveTo>
                  <a:lnTo>
                    <a:pt x="10241280" y="0"/>
                  </a:lnTo>
                  <a:lnTo>
                    <a:pt x="10241280" y="329184"/>
                  </a:lnTo>
                  <a:lnTo>
                    <a:pt x="0" y="329184"/>
                  </a:lnTo>
                  <a:close/>
                </a:path>
              </a:pathLst>
            </a:custGeom>
            <a:blipFill>
              <a:blip r:embed="rId3">
                <a:alphaModFix amt="0"/>
              </a:blip>
              <a:stretch>
                <a:fillRect l="0" t="-556201" r="0" b="-556201"/>
              </a:stretch>
            </a:blipFill>
          </p:spPr>
        </p:sp>
        <p:sp>
          <p:nvSpPr>
            <p:cNvPr name="TextBox 5" id="5"/>
            <p:cNvSpPr txBox="true"/>
            <p:nvPr/>
          </p:nvSpPr>
          <p:spPr>
            <a:xfrm>
              <a:off x="0" y="0"/>
              <a:ext cx="10241280" cy="329184"/>
            </a:xfrm>
            <a:prstGeom prst="rect">
              <a:avLst/>
            </a:prstGeom>
          </p:spPr>
          <p:txBody>
            <a:bodyPr anchor="ctr" rtlCol="false" tIns="0" lIns="0" bIns="0" rIns="0"/>
            <a:lstStyle/>
            <a:p>
              <a:pPr algn="l">
                <a:lnSpc>
                  <a:spcPts val="1584"/>
                </a:lnSpc>
              </a:pPr>
              <a:r>
                <a:rPr lang="en-US" sz="1320">
                  <a:solidFill>
                    <a:srgbClr val="797873"/>
                  </a:solidFill>
                  <a:latin typeface="Aptos"/>
                  <a:ea typeface="Aptos"/>
                  <a:cs typeface="Aptos"/>
                  <a:sym typeface="Aptos"/>
                </a:rPr>
                <a:t>AN6100 Final Project · Marriage Factor × TFR</a:t>
              </a:r>
            </a:p>
          </p:txBody>
        </p:sp>
      </p:grpSp>
      <p:grpSp>
        <p:nvGrpSpPr>
          <p:cNvPr name="Group 6" id="6"/>
          <p:cNvGrpSpPr/>
          <p:nvPr/>
        </p:nvGrpSpPr>
        <p:grpSpPr>
          <a:xfrm rot="0">
            <a:off x="850392" y="438912"/>
            <a:ext cx="16390620" cy="589788"/>
            <a:chOff x="0" y="0"/>
            <a:chExt cx="21854160" cy="786384"/>
          </a:xfrm>
        </p:grpSpPr>
        <p:sp>
          <p:nvSpPr>
            <p:cNvPr name="Freeform 7" id="7"/>
            <p:cNvSpPr/>
            <p:nvPr/>
          </p:nvSpPr>
          <p:spPr>
            <a:xfrm flipH="false" flipV="false" rot="0">
              <a:off x="0" y="0"/>
              <a:ext cx="21854161" cy="786384"/>
            </a:xfrm>
            <a:custGeom>
              <a:avLst/>
              <a:gdLst/>
              <a:ahLst/>
              <a:cxnLst/>
              <a:rect r="r" b="b" t="t" l="l"/>
              <a:pathLst>
                <a:path h="786384" w="21854161">
                  <a:moveTo>
                    <a:pt x="0" y="0"/>
                  </a:moveTo>
                  <a:lnTo>
                    <a:pt x="21854161" y="0"/>
                  </a:lnTo>
                  <a:lnTo>
                    <a:pt x="21854161" y="786384"/>
                  </a:lnTo>
                  <a:lnTo>
                    <a:pt x="0" y="786384"/>
                  </a:lnTo>
                  <a:close/>
                </a:path>
              </a:pathLst>
            </a:custGeom>
            <a:blipFill>
              <a:blip r:embed="rId3">
                <a:alphaModFix amt="0"/>
              </a:blip>
              <a:stretch>
                <a:fillRect l="0" t="-491502" r="0" b="-491502"/>
              </a:stretch>
            </a:blipFill>
          </p:spPr>
        </p:sp>
        <p:sp>
          <p:nvSpPr>
            <p:cNvPr name="TextBox 8" id="8"/>
            <p:cNvSpPr txBox="true"/>
            <p:nvPr/>
          </p:nvSpPr>
          <p:spPr>
            <a:xfrm>
              <a:off x="0" y="0"/>
              <a:ext cx="21854160" cy="786384"/>
            </a:xfrm>
            <a:prstGeom prst="rect">
              <a:avLst/>
            </a:prstGeom>
          </p:spPr>
          <p:txBody>
            <a:bodyPr anchor="ctr" rtlCol="false" tIns="0" lIns="0" bIns="0" rIns="0"/>
            <a:lstStyle/>
            <a:p>
              <a:pPr algn="l">
                <a:lnSpc>
                  <a:spcPts val="4410"/>
                </a:lnSpc>
              </a:pPr>
              <a:r>
                <a:rPr lang="en-US" sz="3675" b="true">
                  <a:solidFill>
                    <a:srgbClr val="20201E"/>
                  </a:solidFill>
                  <a:latin typeface="Aptos Bold"/>
                  <a:ea typeface="Aptos Bold"/>
                  <a:cs typeface="Aptos Bold"/>
                  <a:sym typeface="Aptos Bold"/>
                </a:rPr>
                <a:t>A stronger shift toward age 30–34 is associated with lower TFR</a:t>
              </a:r>
            </a:p>
          </p:txBody>
        </p:sp>
      </p:grpSp>
      <p:grpSp>
        <p:nvGrpSpPr>
          <p:cNvPr name="Group 9" id="9"/>
          <p:cNvGrpSpPr/>
          <p:nvPr/>
        </p:nvGrpSpPr>
        <p:grpSpPr>
          <a:xfrm rot="0">
            <a:off x="877824" y="1124712"/>
            <a:ext cx="16184880" cy="342900"/>
            <a:chOff x="0" y="0"/>
            <a:chExt cx="21579840" cy="457200"/>
          </a:xfrm>
        </p:grpSpPr>
        <p:sp>
          <p:nvSpPr>
            <p:cNvPr name="Freeform 10" id="10"/>
            <p:cNvSpPr/>
            <p:nvPr/>
          </p:nvSpPr>
          <p:spPr>
            <a:xfrm flipH="false" flipV="false" rot="0">
              <a:off x="0" y="0"/>
              <a:ext cx="21579839" cy="457200"/>
            </a:xfrm>
            <a:custGeom>
              <a:avLst/>
              <a:gdLst/>
              <a:ahLst/>
              <a:cxnLst/>
              <a:rect r="r" b="b" t="t" l="l"/>
              <a:pathLst>
                <a:path h="457200" w="21579839">
                  <a:moveTo>
                    <a:pt x="0" y="0"/>
                  </a:moveTo>
                  <a:lnTo>
                    <a:pt x="21579839" y="0"/>
                  </a:lnTo>
                  <a:lnTo>
                    <a:pt x="21579839" y="457200"/>
                  </a:lnTo>
                  <a:lnTo>
                    <a:pt x="0" y="457200"/>
                  </a:lnTo>
                  <a:close/>
                </a:path>
              </a:pathLst>
            </a:custGeom>
            <a:blipFill>
              <a:blip r:embed="rId3">
                <a:alphaModFix amt="0"/>
              </a:blip>
              <a:stretch>
                <a:fillRect l="0" t="-869693" r="0" b="-869693"/>
              </a:stretch>
            </a:blipFill>
          </p:spPr>
        </p:sp>
        <p:sp>
          <p:nvSpPr>
            <p:cNvPr name="TextBox 11" id="11"/>
            <p:cNvSpPr txBox="true"/>
            <p:nvPr/>
          </p:nvSpPr>
          <p:spPr>
            <a:xfrm>
              <a:off x="0" y="-9525"/>
              <a:ext cx="21579840" cy="466725"/>
            </a:xfrm>
            <a:prstGeom prst="rect">
              <a:avLst/>
            </a:prstGeom>
          </p:spPr>
          <p:txBody>
            <a:bodyPr anchor="ctr" rtlCol="false" tIns="0" lIns="0" bIns="0" rIns="0"/>
            <a:lstStyle/>
            <a:p>
              <a:pPr algn="l">
                <a:lnSpc>
                  <a:spcPts val="2034"/>
                </a:lnSpc>
              </a:pPr>
              <a:r>
                <a:rPr lang="en-US" sz="1695">
                  <a:solidFill>
                    <a:srgbClr val="686762"/>
                  </a:solidFill>
                  <a:latin typeface="Aptos"/>
                  <a:ea typeface="Aptos"/>
                  <a:cs typeface="Aptos"/>
                  <a:sym typeface="Aptos"/>
                </a:rPr>
                <a:t>Linking the Marriage factor to fertility using a relative timing measure</a:t>
              </a:r>
            </a:p>
          </p:txBody>
        </p:sp>
      </p:grpSp>
      <p:sp>
        <p:nvSpPr>
          <p:cNvPr name="AutoShape 12" id="12"/>
          <p:cNvSpPr/>
          <p:nvPr/>
        </p:nvSpPr>
        <p:spPr>
          <a:xfrm rot="115320">
            <a:off x="848773" y="1467041"/>
            <a:ext cx="1704032" cy="0"/>
          </a:xfrm>
          <a:prstGeom prst="line">
            <a:avLst/>
          </a:prstGeom>
          <a:ln cap="rnd" w="28575">
            <a:solidFill>
              <a:srgbClr val="5142A6"/>
            </a:solidFill>
            <a:prstDash val="solid"/>
            <a:headEnd type="none" len="sm" w="sm"/>
            <a:tailEnd type="none" len="sm" w="sm"/>
          </a:ln>
        </p:spPr>
      </p:sp>
      <p:grpSp>
        <p:nvGrpSpPr>
          <p:cNvPr name="Group 13" id="13"/>
          <p:cNvGrpSpPr/>
          <p:nvPr/>
        </p:nvGrpSpPr>
        <p:grpSpPr>
          <a:xfrm rot="0">
            <a:off x="842772" y="1665732"/>
            <a:ext cx="16543020" cy="673608"/>
            <a:chOff x="0" y="0"/>
            <a:chExt cx="22057360" cy="898144"/>
          </a:xfrm>
        </p:grpSpPr>
        <p:sp>
          <p:nvSpPr>
            <p:cNvPr name="Freeform 14" id="14"/>
            <p:cNvSpPr/>
            <p:nvPr/>
          </p:nvSpPr>
          <p:spPr>
            <a:xfrm flipH="false" flipV="false" rot="0">
              <a:off x="0" y="0"/>
              <a:ext cx="22057361" cy="898144"/>
            </a:xfrm>
            <a:custGeom>
              <a:avLst/>
              <a:gdLst/>
              <a:ahLst/>
              <a:cxnLst/>
              <a:rect r="r" b="b" t="t" l="l"/>
              <a:pathLst>
                <a:path h="898144" w="22057361">
                  <a:moveTo>
                    <a:pt x="0" y="74803"/>
                  </a:moveTo>
                  <a:cubicBezTo>
                    <a:pt x="0" y="33528"/>
                    <a:pt x="33528" y="0"/>
                    <a:pt x="74803" y="0"/>
                  </a:cubicBezTo>
                  <a:lnTo>
                    <a:pt x="21982557" y="0"/>
                  </a:lnTo>
                  <a:cubicBezTo>
                    <a:pt x="22023832" y="0"/>
                    <a:pt x="22057361" y="33528"/>
                    <a:pt x="22057361" y="74803"/>
                  </a:cubicBezTo>
                  <a:lnTo>
                    <a:pt x="22057361" y="823341"/>
                  </a:lnTo>
                  <a:cubicBezTo>
                    <a:pt x="22057361" y="864616"/>
                    <a:pt x="22023832" y="898144"/>
                    <a:pt x="21982557" y="898144"/>
                  </a:cubicBezTo>
                  <a:lnTo>
                    <a:pt x="74803" y="898144"/>
                  </a:lnTo>
                  <a:cubicBezTo>
                    <a:pt x="33528" y="898144"/>
                    <a:pt x="0" y="864616"/>
                    <a:pt x="0" y="823341"/>
                  </a:cubicBezTo>
                  <a:close/>
                </a:path>
              </a:pathLst>
            </a:custGeom>
            <a:solidFill>
              <a:srgbClr val="F2F1EE"/>
            </a:solidFill>
            <a:ln w="15240" cap="sq">
              <a:solidFill>
                <a:srgbClr val="E0DFDA"/>
              </a:solidFill>
              <a:prstDash val="solid"/>
              <a:miter/>
            </a:ln>
          </p:spPr>
        </p:sp>
      </p:grpSp>
      <p:grpSp>
        <p:nvGrpSpPr>
          <p:cNvPr name="Group 15" id="15"/>
          <p:cNvGrpSpPr/>
          <p:nvPr/>
        </p:nvGrpSpPr>
        <p:grpSpPr>
          <a:xfrm rot="0">
            <a:off x="1303020" y="1851660"/>
            <a:ext cx="15636240" cy="246888"/>
            <a:chOff x="0" y="0"/>
            <a:chExt cx="20848320" cy="329184"/>
          </a:xfrm>
        </p:grpSpPr>
        <p:sp>
          <p:nvSpPr>
            <p:cNvPr name="Freeform 16" id="16"/>
            <p:cNvSpPr/>
            <p:nvPr/>
          </p:nvSpPr>
          <p:spPr>
            <a:xfrm flipH="false" flipV="false" rot="0">
              <a:off x="0" y="0"/>
              <a:ext cx="20848320" cy="329184"/>
            </a:xfrm>
            <a:custGeom>
              <a:avLst/>
              <a:gdLst/>
              <a:ahLst/>
              <a:cxnLst/>
              <a:rect r="r" b="b" t="t" l="l"/>
              <a:pathLst>
                <a:path h="329184" w="20848320">
                  <a:moveTo>
                    <a:pt x="0" y="0"/>
                  </a:moveTo>
                  <a:lnTo>
                    <a:pt x="20848320" y="0"/>
                  </a:lnTo>
                  <a:lnTo>
                    <a:pt x="20848320" y="329184"/>
                  </a:lnTo>
                  <a:lnTo>
                    <a:pt x="0" y="329184"/>
                  </a:lnTo>
                  <a:close/>
                </a:path>
              </a:pathLst>
            </a:custGeom>
            <a:blipFill>
              <a:blip r:embed="rId3">
                <a:alphaModFix amt="0"/>
              </a:blip>
              <a:stretch>
                <a:fillRect l="0" t="-1184052" r="0" b="-1184052"/>
              </a:stretch>
            </a:blipFill>
          </p:spPr>
        </p:sp>
        <p:sp>
          <p:nvSpPr>
            <p:cNvPr name="TextBox 17" id="17"/>
            <p:cNvSpPr txBox="true"/>
            <p:nvPr/>
          </p:nvSpPr>
          <p:spPr>
            <a:xfrm>
              <a:off x="0" y="0"/>
              <a:ext cx="20848320" cy="329184"/>
            </a:xfrm>
            <a:prstGeom prst="rect">
              <a:avLst/>
            </a:prstGeom>
          </p:spPr>
          <p:txBody>
            <a:bodyPr anchor="ctr" rtlCol="false" tIns="0" lIns="0" bIns="0" rIns="0"/>
            <a:lstStyle/>
            <a:p>
              <a:pPr algn="ctr">
                <a:lnSpc>
                  <a:spcPts val="2232"/>
                </a:lnSpc>
              </a:pPr>
              <a:r>
                <a:rPr lang="en-US" sz="1860" b="true">
                  <a:solidFill>
                    <a:srgbClr val="5142A6"/>
                  </a:solidFill>
                  <a:latin typeface="Aptos Bold"/>
                  <a:ea typeface="Aptos Bold"/>
                  <a:cs typeface="Aptos Bold"/>
                  <a:sym typeface="Aptos Bold"/>
                </a:rPr>
                <a:t>Marriage factor</a:t>
              </a:r>
              <a:r>
                <a:rPr lang="en-US" sz="1860">
                  <a:solidFill>
                    <a:srgbClr val="686762"/>
                  </a:solidFill>
                  <a:latin typeface="Aptos"/>
                  <a:ea typeface="Aptos"/>
                  <a:cs typeface="Aptos"/>
                  <a:sym typeface="Aptos"/>
                </a:rPr>
                <a:t>  →  later marriage timing  →  </a:t>
              </a:r>
              <a:r>
                <a:rPr lang="en-US" sz="1860" b="true">
                  <a:solidFill>
                    <a:srgbClr val="2A78D6"/>
                  </a:solidFill>
                  <a:latin typeface="Aptos Bold"/>
                  <a:ea typeface="Aptos Bold"/>
                  <a:cs typeface="Aptos Bold"/>
                  <a:sym typeface="Aptos Bold"/>
                </a:rPr>
                <a:t>lower TFR?</a:t>
              </a:r>
            </a:p>
          </p:txBody>
        </p:sp>
      </p:grpSp>
      <p:grpSp>
        <p:nvGrpSpPr>
          <p:cNvPr name="Group 18" id="18"/>
          <p:cNvGrpSpPr/>
          <p:nvPr/>
        </p:nvGrpSpPr>
        <p:grpSpPr>
          <a:xfrm rot="0">
            <a:off x="786003" y="2569083"/>
            <a:ext cx="11334750" cy="6767322"/>
            <a:chOff x="0" y="0"/>
            <a:chExt cx="15113000" cy="9023096"/>
          </a:xfrm>
        </p:grpSpPr>
        <p:sp>
          <p:nvSpPr>
            <p:cNvPr name="Freeform 19" id="19"/>
            <p:cNvSpPr/>
            <p:nvPr/>
          </p:nvSpPr>
          <p:spPr>
            <a:xfrm flipH="false" flipV="false" rot="0">
              <a:off x="0" y="0"/>
              <a:ext cx="15113000" cy="9023096"/>
            </a:xfrm>
            <a:custGeom>
              <a:avLst/>
              <a:gdLst/>
              <a:ahLst/>
              <a:cxnLst/>
              <a:rect r="r" b="b" t="t" l="l"/>
              <a:pathLst>
                <a:path h="9023096" w="15113000">
                  <a:moveTo>
                    <a:pt x="0" y="110109"/>
                  </a:moveTo>
                  <a:cubicBezTo>
                    <a:pt x="0" y="49276"/>
                    <a:pt x="49276" y="0"/>
                    <a:pt x="110109" y="0"/>
                  </a:cubicBezTo>
                  <a:lnTo>
                    <a:pt x="15002890" y="0"/>
                  </a:lnTo>
                  <a:cubicBezTo>
                    <a:pt x="15063724" y="0"/>
                    <a:pt x="15113000" y="49276"/>
                    <a:pt x="15113000" y="110109"/>
                  </a:cubicBezTo>
                  <a:lnTo>
                    <a:pt x="15113000" y="8912987"/>
                  </a:lnTo>
                  <a:cubicBezTo>
                    <a:pt x="15113000" y="8973820"/>
                    <a:pt x="15063724" y="9023096"/>
                    <a:pt x="15002890" y="9023096"/>
                  </a:cubicBezTo>
                  <a:lnTo>
                    <a:pt x="110109" y="9023096"/>
                  </a:lnTo>
                  <a:cubicBezTo>
                    <a:pt x="49276" y="9023096"/>
                    <a:pt x="0" y="8973820"/>
                    <a:pt x="0" y="8912987"/>
                  </a:cubicBezTo>
                  <a:close/>
                </a:path>
              </a:pathLst>
            </a:custGeom>
            <a:solidFill>
              <a:srgbClr val="FFFFFF"/>
            </a:solidFill>
            <a:ln w="19050" cap="sq">
              <a:solidFill>
                <a:srgbClr val="E1E0DB"/>
              </a:solidFill>
              <a:prstDash val="solid"/>
              <a:miter/>
            </a:ln>
          </p:spPr>
        </p:sp>
      </p:grpSp>
      <p:grpSp>
        <p:nvGrpSpPr>
          <p:cNvPr name="Group 20" id="20"/>
          <p:cNvGrpSpPr/>
          <p:nvPr/>
        </p:nvGrpSpPr>
        <p:grpSpPr>
          <a:xfrm rot="0">
            <a:off x="1570530" y="2825496"/>
            <a:ext cx="9779413" cy="6172200"/>
            <a:chOff x="0" y="0"/>
            <a:chExt cx="13039217" cy="8229600"/>
          </a:xfrm>
        </p:grpSpPr>
        <p:sp>
          <p:nvSpPr>
            <p:cNvPr name="Freeform 21" id="21" descr="/mnt/data/marriage_v7_final/assets2/shift30_34_vs_tfr.png"/>
            <p:cNvSpPr/>
            <p:nvPr/>
          </p:nvSpPr>
          <p:spPr>
            <a:xfrm flipH="false" flipV="false" rot="0">
              <a:off x="0" y="0"/>
              <a:ext cx="13039217" cy="8229600"/>
            </a:xfrm>
            <a:custGeom>
              <a:avLst/>
              <a:gdLst/>
              <a:ahLst/>
              <a:cxnLst/>
              <a:rect r="r" b="b" t="t" l="l"/>
              <a:pathLst>
                <a:path h="8229600" w="13039217">
                  <a:moveTo>
                    <a:pt x="0" y="0"/>
                  </a:moveTo>
                  <a:lnTo>
                    <a:pt x="13039217" y="0"/>
                  </a:lnTo>
                  <a:lnTo>
                    <a:pt x="13039217" y="8229600"/>
                  </a:lnTo>
                  <a:lnTo>
                    <a:pt x="0" y="8229600"/>
                  </a:lnTo>
                  <a:lnTo>
                    <a:pt x="0" y="0"/>
                  </a:lnTo>
                  <a:close/>
                </a:path>
              </a:pathLst>
            </a:custGeom>
            <a:blipFill>
              <a:blip r:embed="rId4"/>
              <a:stretch>
                <a:fillRect l="0" t="0" r="0" b="0"/>
              </a:stretch>
            </a:blipFill>
          </p:spPr>
        </p:sp>
      </p:grpSp>
      <p:grpSp>
        <p:nvGrpSpPr>
          <p:cNvPr name="Group 22" id="22"/>
          <p:cNvGrpSpPr/>
          <p:nvPr/>
        </p:nvGrpSpPr>
        <p:grpSpPr>
          <a:xfrm rot="0">
            <a:off x="12334875" y="2569083"/>
            <a:ext cx="5162550" cy="6767322"/>
            <a:chOff x="0" y="0"/>
            <a:chExt cx="6883400" cy="9023096"/>
          </a:xfrm>
        </p:grpSpPr>
        <p:sp>
          <p:nvSpPr>
            <p:cNvPr name="Freeform 23" id="23"/>
            <p:cNvSpPr/>
            <p:nvPr/>
          </p:nvSpPr>
          <p:spPr>
            <a:xfrm flipH="false" flipV="false" rot="0">
              <a:off x="0" y="0"/>
              <a:ext cx="6883400" cy="9023096"/>
            </a:xfrm>
            <a:custGeom>
              <a:avLst/>
              <a:gdLst/>
              <a:ahLst/>
              <a:cxnLst/>
              <a:rect r="r" b="b" t="t" l="l"/>
              <a:pathLst>
                <a:path h="9023096" w="6883400">
                  <a:moveTo>
                    <a:pt x="0" y="110109"/>
                  </a:moveTo>
                  <a:cubicBezTo>
                    <a:pt x="0" y="49276"/>
                    <a:pt x="49276" y="0"/>
                    <a:pt x="110109" y="0"/>
                  </a:cubicBezTo>
                  <a:lnTo>
                    <a:pt x="6773291" y="0"/>
                  </a:lnTo>
                  <a:cubicBezTo>
                    <a:pt x="6834124" y="0"/>
                    <a:pt x="6883400" y="49276"/>
                    <a:pt x="6883400" y="110109"/>
                  </a:cubicBezTo>
                  <a:lnTo>
                    <a:pt x="6883400" y="8912987"/>
                  </a:lnTo>
                  <a:cubicBezTo>
                    <a:pt x="6883400" y="8973820"/>
                    <a:pt x="6834124" y="9023096"/>
                    <a:pt x="6773291" y="9023096"/>
                  </a:cubicBezTo>
                  <a:lnTo>
                    <a:pt x="110109" y="9023096"/>
                  </a:lnTo>
                  <a:cubicBezTo>
                    <a:pt x="49276" y="9023096"/>
                    <a:pt x="0" y="8973820"/>
                    <a:pt x="0" y="8912987"/>
                  </a:cubicBezTo>
                  <a:close/>
                </a:path>
              </a:pathLst>
            </a:custGeom>
            <a:solidFill>
              <a:srgbClr val="FFFFFF"/>
            </a:solidFill>
            <a:ln w="19050" cap="sq">
              <a:solidFill>
                <a:srgbClr val="E1E0DB"/>
              </a:solidFill>
              <a:prstDash val="solid"/>
              <a:miter/>
            </a:ln>
          </p:spPr>
        </p:sp>
      </p:grpSp>
      <p:grpSp>
        <p:nvGrpSpPr>
          <p:cNvPr name="Group 24" id="24"/>
          <p:cNvGrpSpPr/>
          <p:nvPr/>
        </p:nvGrpSpPr>
        <p:grpSpPr>
          <a:xfrm rot="0">
            <a:off x="12728448" y="2948940"/>
            <a:ext cx="4320540" cy="411480"/>
            <a:chOff x="0" y="0"/>
            <a:chExt cx="5760720" cy="548640"/>
          </a:xfrm>
        </p:grpSpPr>
        <p:sp>
          <p:nvSpPr>
            <p:cNvPr name="Freeform 25" id="25"/>
            <p:cNvSpPr/>
            <p:nvPr/>
          </p:nvSpPr>
          <p:spPr>
            <a:xfrm flipH="false" flipV="false" rot="0">
              <a:off x="0" y="0"/>
              <a:ext cx="5760720" cy="548640"/>
            </a:xfrm>
            <a:custGeom>
              <a:avLst/>
              <a:gdLst/>
              <a:ahLst/>
              <a:cxnLst/>
              <a:rect r="r" b="b" t="t" l="l"/>
              <a:pathLst>
                <a:path h="548640" w="5760720">
                  <a:moveTo>
                    <a:pt x="0" y="0"/>
                  </a:moveTo>
                  <a:lnTo>
                    <a:pt x="5760720" y="0"/>
                  </a:lnTo>
                  <a:lnTo>
                    <a:pt x="5760720" y="548640"/>
                  </a:lnTo>
                  <a:lnTo>
                    <a:pt x="0" y="548640"/>
                  </a:lnTo>
                  <a:close/>
                </a:path>
              </a:pathLst>
            </a:custGeom>
            <a:blipFill>
              <a:blip r:embed="rId3">
                <a:alphaModFix amt="0"/>
              </a:blip>
              <a:stretch>
                <a:fillRect l="0" t="-154592" r="0" b="-154592"/>
              </a:stretch>
            </a:blipFill>
          </p:spPr>
        </p:sp>
        <p:sp>
          <p:nvSpPr>
            <p:cNvPr name="TextBox 26" id="26"/>
            <p:cNvSpPr txBox="true"/>
            <p:nvPr/>
          </p:nvSpPr>
          <p:spPr>
            <a:xfrm>
              <a:off x="0" y="0"/>
              <a:ext cx="5760720" cy="548640"/>
            </a:xfrm>
            <a:prstGeom prst="rect">
              <a:avLst/>
            </a:prstGeom>
          </p:spPr>
          <p:txBody>
            <a:bodyPr anchor="ctr" rtlCol="false" tIns="0" lIns="0" bIns="0" rIns="0"/>
            <a:lstStyle/>
            <a:p>
              <a:pPr algn="l">
                <a:lnSpc>
                  <a:spcPts val="2970"/>
                </a:lnSpc>
              </a:pPr>
              <a:r>
                <a:rPr lang="en-US" sz="2475" b="true">
                  <a:solidFill>
                    <a:srgbClr val="20201E"/>
                  </a:solidFill>
                  <a:latin typeface="Aptos Bold"/>
                  <a:ea typeface="Aptos Bold"/>
                  <a:cs typeface="Aptos Bold"/>
                  <a:sym typeface="Aptos Bold"/>
                </a:rPr>
                <a:t>Why use a relative shift?</a:t>
              </a:r>
            </a:p>
          </p:txBody>
        </p:sp>
      </p:grpSp>
      <p:grpSp>
        <p:nvGrpSpPr>
          <p:cNvPr name="Group 27" id="27"/>
          <p:cNvGrpSpPr/>
          <p:nvPr/>
        </p:nvGrpSpPr>
        <p:grpSpPr>
          <a:xfrm rot="0">
            <a:off x="12728448" y="3593592"/>
            <a:ext cx="4251960" cy="274320"/>
            <a:chOff x="0" y="0"/>
            <a:chExt cx="5669280" cy="365760"/>
          </a:xfrm>
        </p:grpSpPr>
        <p:sp>
          <p:nvSpPr>
            <p:cNvPr name="Freeform 28" id="28"/>
            <p:cNvSpPr/>
            <p:nvPr/>
          </p:nvSpPr>
          <p:spPr>
            <a:xfrm flipH="false" flipV="false" rot="0">
              <a:off x="0" y="0"/>
              <a:ext cx="5669280" cy="365760"/>
            </a:xfrm>
            <a:custGeom>
              <a:avLst/>
              <a:gdLst/>
              <a:ahLst/>
              <a:cxnLst/>
              <a:rect r="r" b="b" t="t" l="l"/>
              <a:pathLst>
                <a:path h="365760" w="5669280">
                  <a:moveTo>
                    <a:pt x="0" y="0"/>
                  </a:moveTo>
                  <a:lnTo>
                    <a:pt x="5669280" y="0"/>
                  </a:lnTo>
                  <a:lnTo>
                    <a:pt x="5669280" y="365760"/>
                  </a:lnTo>
                  <a:lnTo>
                    <a:pt x="0" y="365760"/>
                  </a:lnTo>
                  <a:close/>
                </a:path>
              </a:pathLst>
            </a:custGeom>
            <a:blipFill>
              <a:blip r:embed="rId3">
                <a:alphaModFix amt="0"/>
              </a:blip>
              <a:stretch>
                <a:fillRect l="0" t="-252018" r="0" b="-252018"/>
              </a:stretch>
            </a:blipFill>
          </p:spPr>
        </p:sp>
        <p:sp>
          <p:nvSpPr>
            <p:cNvPr name="TextBox 29" id="29"/>
            <p:cNvSpPr txBox="true"/>
            <p:nvPr/>
          </p:nvSpPr>
          <p:spPr>
            <a:xfrm>
              <a:off x="0" y="0"/>
              <a:ext cx="5669280" cy="365760"/>
            </a:xfrm>
            <a:prstGeom prst="rect">
              <a:avLst/>
            </a:prstGeom>
          </p:spPr>
          <p:txBody>
            <a:bodyPr anchor="ctr" rtlCol="false" tIns="0" lIns="0" bIns="0" rIns="0"/>
            <a:lstStyle/>
            <a:p>
              <a:pPr algn="l">
                <a:lnSpc>
                  <a:spcPts val="1944"/>
                </a:lnSpc>
              </a:pPr>
              <a:r>
                <a:rPr lang="en-US" sz="1620" b="true">
                  <a:solidFill>
                    <a:srgbClr val="5142A6"/>
                  </a:solidFill>
                  <a:latin typeface="Aptos Bold"/>
                  <a:ea typeface="Aptos Bold"/>
                  <a:cs typeface="Aptos Bold"/>
                  <a:sym typeface="Aptos Bold"/>
                </a:rPr>
                <a:t>Later-marriage shift index</a:t>
              </a:r>
            </a:p>
          </p:txBody>
        </p:sp>
      </p:grpSp>
      <p:grpSp>
        <p:nvGrpSpPr>
          <p:cNvPr name="Group 30" id="30"/>
          <p:cNvGrpSpPr/>
          <p:nvPr/>
        </p:nvGrpSpPr>
        <p:grpSpPr>
          <a:xfrm rot="0">
            <a:off x="12728448" y="3991356"/>
            <a:ext cx="4251960" cy="342900"/>
            <a:chOff x="0" y="0"/>
            <a:chExt cx="5669280" cy="457200"/>
          </a:xfrm>
        </p:grpSpPr>
        <p:sp>
          <p:nvSpPr>
            <p:cNvPr name="Freeform 31" id="31"/>
            <p:cNvSpPr/>
            <p:nvPr/>
          </p:nvSpPr>
          <p:spPr>
            <a:xfrm flipH="false" flipV="false" rot="0">
              <a:off x="0" y="0"/>
              <a:ext cx="5669280" cy="457200"/>
            </a:xfrm>
            <a:custGeom>
              <a:avLst/>
              <a:gdLst/>
              <a:ahLst/>
              <a:cxnLst/>
              <a:rect r="r" b="b" t="t" l="l"/>
              <a:pathLst>
                <a:path h="457200" w="5669280">
                  <a:moveTo>
                    <a:pt x="0" y="0"/>
                  </a:moveTo>
                  <a:lnTo>
                    <a:pt x="5669280" y="0"/>
                  </a:lnTo>
                  <a:lnTo>
                    <a:pt x="5669280" y="457200"/>
                  </a:lnTo>
                  <a:lnTo>
                    <a:pt x="0" y="457200"/>
                  </a:lnTo>
                  <a:close/>
                </a:path>
              </a:pathLst>
            </a:custGeom>
            <a:blipFill>
              <a:blip r:embed="rId3">
                <a:alphaModFix amt="0"/>
              </a:blip>
              <a:stretch>
                <a:fillRect l="0" t="-191614" r="0" b="-191614"/>
              </a:stretch>
            </a:blipFill>
          </p:spPr>
        </p:sp>
        <p:sp>
          <p:nvSpPr>
            <p:cNvPr name="TextBox 32" id="32"/>
            <p:cNvSpPr txBox="true"/>
            <p:nvPr/>
          </p:nvSpPr>
          <p:spPr>
            <a:xfrm>
              <a:off x="0" y="0"/>
              <a:ext cx="5669280" cy="457200"/>
            </a:xfrm>
            <a:prstGeom prst="rect">
              <a:avLst/>
            </a:prstGeom>
          </p:spPr>
          <p:txBody>
            <a:bodyPr anchor="ctr" rtlCol="false" tIns="0" lIns="0" bIns="0" rIns="0"/>
            <a:lstStyle/>
            <a:p>
              <a:pPr algn="l">
                <a:lnSpc>
                  <a:spcPts val="2664"/>
                </a:lnSpc>
              </a:pPr>
              <a:r>
                <a:rPr lang="en-US" sz="2220" b="true">
                  <a:solidFill>
                    <a:srgbClr val="20201E"/>
                  </a:solidFill>
                  <a:latin typeface="Aptos Bold"/>
                  <a:ea typeface="Aptos Bold"/>
                  <a:cs typeface="Aptos Bold"/>
                  <a:sym typeface="Aptos Bold"/>
                </a:rPr>
                <a:t>rate(30–34) ÷ rate(25–29)</a:t>
              </a:r>
            </a:p>
          </p:txBody>
        </p:sp>
      </p:grpSp>
      <p:grpSp>
        <p:nvGrpSpPr>
          <p:cNvPr name="Group 33" id="33"/>
          <p:cNvGrpSpPr/>
          <p:nvPr/>
        </p:nvGrpSpPr>
        <p:grpSpPr>
          <a:xfrm rot="0">
            <a:off x="12728448" y="4430268"/>
            <a:ext cx="4224528" cy="658368"/>
            <a:chOff x="0" y="0"/>
            <a:chExt cx="5632704" cy="877824"/>
          </a:xfrm>
        </p:grpSpPr>
        <p:sp>
          <p:nvSpPr>
            <p:cNvPr name="Freeform 34" id="34"/>
            <p:cNvSpPr/>
            <p:nvPr/>
          </p:nvSpPr>
          <p:spPr>
            <a:xfrm flipH="false" flipV="false" rot="0">
              <a:off x="0" y="0"/>
              <a:ext cx="5632704" cy="877824"/>
            </a:xfrm>
            <a:custGeom>
              <a:avLst/>
              <a:gdLst/>
              <a:ahLst/>
              <a:cxnLst/>
              <a:rect r="r" b="b" t="t" l="l"/>
              <a:pathLst>
                <a:path h="877824" w="5632704">
                  <a:moveTo>
                    <a:pt x="0" y="0"/>
                  </a:moveTo>
                  <a:lnTo>
                    <a:pt x="5632704" y="0"/>
                  </a:lnTo>
                  <a:lnTo>
                    <a:pt x="5632704" y="877824"/>
                  </a:lnTo>
                  <a:lnTo>
                    <a:pt x="0" y="877824"/>
                  </a:lnTo>
                  <a:close/>
                </a:path>
              </a:pathLst>
            </a:custGeom>
            <a:blipFill>
              <a:blip r:embed="rId3">
                <a:alphaModFix amt="0"/>
              </a:blip>
              <a:stretch>
                <a:fillRect l="0" t="-75028" r="0" b="-75028"/>
              </a:stretch>
            </a:blipFill>
          </p:spPr>
        </p:sp>
        <p:sp>
          <p:nvSpPr>
            <p:cNvPr name="TextBox 35" id="35"/>
            <p:cNvSpPr txBox="true"/>
            <p:nvPr/>
          </p:nvSpPr>
          <p:spPr>
            <a:xfrm>
              <a:off x="0" y="0"/>
              <a:ext cx="5632704" cy="877824"/>
            </a:xfrm>
            <a:prstGeom prst="rect">
              <a:avLst/>
            </a:prstGeom>
          </p:spPr>
          <p:txBody>
            <a:bodyPr anchor="ctr" rtlCol="false" tIns="0" lIns="0" bIns="0" rIns="0"/>
            <a:lstStyle/>
            <a:p>
              <a:pPr algn="l">
                <a:lnSpc>
                  <a:spcPts val="1889"/>
                </a:lnSpc>
              </a:pPr>
              <a:r>
                <a:rPr lang="en-US" sz="1575">
                  <a:solidFill>
                    <a:srgbClr val="686762"/>
                  </a:solidFill>
                  <a:latin typeface="Aptos"/>
                  <a:ea typeface="Aptos"/>
                  <a:cs typeface="Aptos"/>
                  <a:sym typeface="Aptos"/>
                </a:rPr>
                <a:t>Index &gt; 1 means marriage is relatively more concentrated at age 30–34.</a:t>
              </a:r>
            </a:p>
          </p:txBody>
        </p:sp>
      </p:grpSp>
      <p:grpSp>
        <p:nvGrpSpPr>
          <p:cNvPr name="Group 36" id="36"/>
          <p:cNvGrpSpPr/>
          <p:nvPr/>
        </p:nvGrpSpPr>
        <p:grpSpPr>
          <a:xfrm rot="0">
            <a:off x="12707112" y="5300472"/>
            <a:ext cx="4198620" cy="1016508"/>
            <a:chOff x="0" y="0"/>
            <a:chExt cx="5598160" cy="1355344"/>
          </a:xfrm>
        </p:grpSpPr>
        <p:sp>
          <p:nvSpPr>
            <p:cNvPr name="Freeform 37" id="37"/>
            <p:cNvSpPr/>
            <p:nvPr/>
          </p:nvSpPr>
          <p:spPr>
            <a:xfrm flipH="false" flipV="false" rot="0">
              <a:off x="0" y="0"/>
              <a:ext cx="5598160" cy="1355471"/>
            </a:xfrm>
            <a:custGeom>
              <a:avLst/>
              <a:gdLst/>
              <a:ahLst/>
              <a:cxnLst/>
              <a:rect r="r" b="b" t="t" l="l"/>
              <a:pathLst>
                <a:path h="1355471" w="5598160">
                  <a:moveTo>
                    <a:pt x="0" y="74295"/>
                  </a:moveTo>
                  <a:cubicBezTo>
                    <a:pt x="0" y="33274"/>
                    <a:pt x="33274" y="0"/>
                    <a:pt x="74295" y="0"/>
                  </a:cubicBezTo>
                  <a:lnTo>
                    <a:pt x="5523865" y="0"/>
                  </a:lnTo>
                  <a:cubicBezTo>
                    <a:pt x="5564886" y="0"/>
                    <a:pt x="5598160" y="33274"/>
                    <a:pt x="5598160" y="74295"/>
                  </a:cubicBezTo>
                  <a:lnTo>
                    <a:pt x="5598160" y="1281176"/>
                  </a:lnTo>
                  <a:cubicBezTo>
                    <a:pt x="5598160" y="1322197"/>
                    <a:pt x="5564886" y="1355471"/>
                    <a:pt x="5523865" y="1355471"/>
                  </a:cubicBezTo>
                  <a:lnTo>
                    <a:pt x="74295" y="1355471"/>
                  </a:lnTo>
                  <a:cubicBezTo>
                    <a:pt x="33274" y="1355471"/>
                    <a:pt x="0" y="1322197"/>
                    <a:pt x="0" y="1281176"/>
                  </a:cubicBezTo>
                  <a:close/>
                </a:path>
              </a:pathLst>
            </a:custGeom>
            <a:solidFill>
              <a:srgbClr val="F3F0FA"/>
            </a:solidFill>
            <a:ln w="15240" cap="sq">
              <a:solidFill>
                <a:srgbClr val="DDD5EB"/>
              </a:solidFill>
              <a:prstDash val="solid"/>
              <a:miter/>
            </a:ln>
          </p:spPr>
        </p:sp>
      </p:grpSp>
      <p:grpSp>
        <p:nvGrpSpPr>
          <p:cNvPr name="Group 38" id="38"/>
          <p:cNvGrpSpPr/>
          <p:nvPr/>
        </p:nvGrpSpPr>
        <p:grpSpPr>
          <a:xfrm rot="0">
            <a:off x="12975336" y="5486400"/>
            <a:ext cx="1645920" cy="205740"/>
            <a:chOff x="0" y="0"/>
            <a:chExt cx="2194560" cy="274320"/>
          </a:xfrm>
        </p:grpSpPr>
        <p:sp>
          <p:nvSpPr>
            <p:cNvPr name="Freeform 39" id="39"/>
            <p:cNvSpPr/>
            <p:nvPr/>
          </p:nvSpPr>
          <p:spPr>
            <a:xfrm flipH="false" flipV="false" rot="0">
              <a:off x="0" y="0"/>
              <a:ext cx="2194560" cy="274320"/>
            </a:xfrm>
            <a:custGeom>
              <a:avLst/>
              <a:gdLst/>
              <a:ahLst/>
              <a:cxnLst/>
              <a:rect r="r" b="b" t="t" l="l"/>
              <a:pathLst>
                <a:path h="274320" w="2194560">
                  <a:moveTo>
                    <a:pt x="0" y="0"/>
                  </a:moveTo>
                  <a:lnTo>
                    <a:pt x="2194560" y="0"/>
                  </a:lnTo>
                  <a:lnTo>
                    <a:pt x="2194560" y="274320"/>
                  </a:lnTo>
                  <a:lnTo>
                    <a:pt x="0" y="274320"/>
                  </a:lnTo>
                  <a:close/>
                </a:path>
              </a:pathLst>
            </a:custGeom>
            <a:blipFill>
              <a:blip r:embed="rId3">
                <a:alphaModFix amt="0"/>
              </a:blip>
              <a:stretch>
                <a:fillRect l="0" t="-105880" r="0" b="-105880"/>
              </a:stretch>
            </a:blipFill>
          </p:spPr>
        </p:sp>
        <p:sp>
          <p:nvSpPr>
            <p:cNvPr name="TextBox 40" id="40"/>
            <p:cNvSpPr txBox="true"/>
            <p:nvPr/>
          </p:nvSpPr>
          <p:spPr>
            <a:xfrm>
              <a:off x="0" y="-9525"/>
              <a:ext cx="2194560" cy="283845"/>
            </a:xfrm>
            <a:prstGeom prst="rect">
              <a:avLst/>
            </a:prstGeom>
          </p:spPr>
          <p:txBody>
            <a:bodyPr anchor="ctr" rtlCol="false" tIns="0" lIns="0" bIns="0" rIns="0"/>
            <a:lstStyle/>
            <a:p>
              <a:pPr algn="l">
                <a:lnSpc>
                  <a:spcPts val="1655"/>
                </a:lnSpc>
              </a:pPr>
              <a:r>
                <a:rPr lang="en-US" sz="1380" b="true">
                  <a:solidFill>
                    <a:srgbClr val="686762"/>
                  </a:solidFill>
                  <a:latin typeface="Aptos Bold"/>
                  <a:ea typeface="Aptos Bold"/>
                  <a:cs typeface="Aptos Bold"/>
                  <a:sym typeface="Aptos Bold"/>
                </a:rPr>
                <a:t>SHIFT INDEX</a:t>
              </a:r>
            </a:p>
          </p:txBody>
        </p:sp>
      </p:grpSp>
      <p:grpSp>
        <p:nvGrpSpPr>
          <p:cNvPr name="Group 41" id="41"/>
          <p:cNvGrpSpPr/>
          <p:nvPr/>
        </p:nvGrpSpPr>
        <p:grpSpPr>
          <a:xfrm rot="0">
            <a:off x="12975336" y="5801868"/>
            <a:ext cx="3566160" cy="301752"/>
            <a:chOff x="0" y="0"/>
            <a:chExt cx="4754880" cy="402336"/>
          </a:xfrm>
        </p:grpSpPr>
        <p:sp>
          <p:nvSpPr>
            <p:cNvPr name="Freeform 42" id="42"/>
            <p:cNvSpPr/>
            <p:nvPr/>
          </p:nvSpPr>
          <p:spPr>
            <a:xfrm flipH="false" flipV="false" rot="0">
              <a:off x="0" y="0"/>
              <a:ext cx="4754880" cy="402336"/>
            </a:xfrm>
            <a:custGeom>
              <a:avLst/>
              <a:gdLst/>
              <a:ahLst/>
              <a:cxnLst/>
              <a:rect r="r" b="b" t="t" l="l"/>
              <a:pathLst>
                <a:path h="402336" w="4754880">
                  <a:moveTo>
                    <a:pt x="0" y="0"/>
                  </a:moveTo>
                  <a:lnTo>
                    <a:pt x="4754880" y="0"/>
                  </a:lnTo>
                  <a:lnTo>
                    <a:pt x="4754880" y="402336"/>
                  </a:lnTo>
                  <a:lnTo>
                    <a:pt x="0" y="402336"/>
                  </a:lnTo>
                  <a:close/>
                </a:path>
              </a:pathLst>
            </a:custGeom>
            <a:blipFill>
              <a:blip r:embed="rId3">
                <a:alphaModFix amt="0"/>
              </a:blip>
              <a:stretch>
                <a:fillRect l="0" t="-180277" r="0" b="-180277"/>
              </a:stretch>
            </a:blipFill>
          </p:spPr>
        </p:sp>
        <p:sp>
          <p:nvSpPr>
            <p:cNvPr name="TextBox 43" id="43"/>
            <p:cNvSpPr txBox="true"/>
            <p:nvPr/>
          </p:nvSpPr>
          <p:spPr>
            <a:xfrm>
              <a:off x="0" y="0"/>
              <a:ext cx="4754880" cy="402336"/>
            </a:xfrm>
            <a:prstGeom prst="rect">
              <a:avLst/>
            </a:prstGeom>
          </p:spPr>
          <p:txBody>
            <a:bodyPr anchor="ctr" rtlCol="false" tIns="0" lIns="0" bIns="0" rIns="0"/>
            <a:lstStyle/>
            <a:p>
              <a:pPr algn="l">
                <a:lnSpc>
                  <a:spcPts val="3240"/>
                </a:lnSpc>
              </a:pPr>
              <a:r>
                <a:rPr lang="en-US" sz="2700" b="true">
                  <a:solidFill>
                    <a:srgbClr val="5142A6"/>
                  </a:solidFill>
                  <a:latin typeface="Aptos Bold"/>
                  <a:ea typeface="Aptos Bold"/>
                  <a:cs typeface="Aptos Bold"/>
                  <a:sym typeface="Aptos Bold"/>
                </a:rPr>
                <a:t>0.82  →  1.17</a:t>
              </a:r>
            </a:p>
          </p:txBody>
        </p:sp>
      </p:grpSp>
      <p:grpSp>
        <p:nvGrpSpPr>
          <p:cNvPr name="Group 44" id="44"/>
          <p:cNvGrpSpPr/>
          <p:nvPr/>
        </p:nvGrpSpPr>
        <p:grpSpPr>
          <a:xfrm rot="0">
            <a:off x="12707112" y="6507480"/>
            <a:ext cx="4198620" cy="1139952"/>
            <a:chOff x="0" y="0"/>
            <a:chExt cx="5598160" cy="1519936"/>
          </a:xfrm>
        </p:grpSpPr>
        <p:sp>
          <p:nvSpPr>
            <p:cNvPr name="Freeform 45" id="45"/>
            <p:cNvSpPr/>
            <p:nvPr/>
          </p:nvSpPr>
          <p:spPr>
            <a:xfrm flipH="false" flipV="false" rot="0">
              <a:off x="0" y="0"/>
              <a:ext cx="5598160" cy="1519936"/>
            </a:xfrm>
            <a:custGeom>
              <a:avLst/>
              <a:gdLst/>
              <a:ahLst/>
              <a:cxnLst/>
              <a:rect r="r" b="b" t="t" l="l"/>
              <a:pathLst>
                <a:path h="1519936" w="5598160">
                  <a:moveTo>
                    <a:pt x="0" y="74168"/>
                  </a:moveTo>
                  <a:cubicBezTo>
                    <a:pt x="0" y="33147"/>
                    <a:pt x="33147" y="0"/>
                    <a:pt x="74168" y="0"/>
                  </a:cubicBezTo>
                  <a:lnTo>
                    <a:pt x="5523992" y="0"/>
                  </a:lnTo>
                  <a:cubicBezTo>
                    <a:pt x="5564886" y="0"/>
                    <a:pt x="5598160" y="33147"/>
                    <a:pt x="5598160" y="74168"/>
                  </a:cubicBezTo>
                  <a:lnTo>
                    <a:pt x="5598160" y="1445768"/>
                  </a:lnTo>
                  <a:cubicBezTo>
                    <a:pt x="5598160" y="1486662"/>
                    <a:pt x="5565013" y="1519936"/>
                    <a:pt x="5523992" y="1519936"/>
                  </a:cubicBezTo>
                  <a:lnTo>
                    <a:pt x="74168" y="1519936"/>
                  </a:lnTo>
                  <a:cubicBezTo>
                    <a:pt x="33274" y="1519936"/>
                    <a:pt x="0" y="1486789"/>
                    <a:pt x="0" y="1445768"/>
                  </a:cubicBezTo>
                  <a:close/>
                </a:path>
              </a:pathLst>
            </a:custGeom>
            <a:solidFill>
              <a:srgbClr val="EEF4FB"/>
            </a:solidFill>
            <a:ln w="15240" cap="sq">
              <a:solidFill>
                <a:srgbClr val="D8E5F4"/>
              </a:solidFill>
              <a:prstDash val="solid"/>
              <a:miter/>
            </a:ln>
          </p:spPr>
        </p:sp>
      </p:grpSp>
      <p:grpSp>
        <p:nvGrpSpPr>
          <p:cNvPr name="Group 46" id="46"/>
          <p:cNvGrpSpPr/>
          <p:nvPr/>
        </p:nvGrpSpPr>
        <p:grpSpPr>
          <a:xfrm rot="0">
            <a:off x="12975336" y="6720840"/>
            <a:ext cx="3086100" cy="205740"/>
            <a:chOff x="0" y="0"/>
            <a:chExt cx="4114800" cy="274320"/>
          </a:xfrm>
        </p:grpSpPr>
        <p:sp>
          <p:nvSpPr>
            <p:cNvPr name="Freeform 47" id="47"/>
            <p:cNvSpPr/>
            <p:nvPr/>
          </p:nvSpPr>
          <p:spPr>
            <a:xfrm flipH="false" flipV="false" rot="0">
              <a:off x="0" y="0"/>
              <a:ext cx="4114800" cy="274320"/>
            </a:xfrm>
            <a:custGeom>
              <a:avLst/>
              <a:gdLst/>
              <a:ahLst/>
              <a:cxnLst/>
              <a:rect r="r" b="b" t="t" l="l"/>
              <a:pathLst>
                <a:path h="274320" w="4114800">
                  <a:moveTo>
                    <a:pt x="0" y="0"/>
                  </a:moveTo>
                  <a:lnTo>
                    <a:pt x="4114800" y="0"/>
                  </a:lnTo>
                  <a:lnTo>
                    <a:pt x="4114800" y="274320"/>
                  </a:lnTo>
                  <a:lnTo>
                    <a:pt x="0" y="274320"/>
                  </a:lnTo>
                  <a:close/>
                </a:path>
              </a:pathLst>
            </a:custGeom>
            <a:blipFill>
              <a:blip r:embed="rId3">
                <a:alphaModFix amt="0"/>
              </a:blip>
              <a:stretch>
                <a:fillRect l="0" t="-242275" r="0" b="-242275"/>
              </a:stretch>
            </a:blipFill>
          </p:spPr>
        </p:sp>
        <p:sp>
          <p:nvSpPr>
            <p:cNvPr name="TextBox 48" id="48"/>
            <p:cNvSpPr txBox="true"/>
            <p:nvPr/>
          </p:nvSpPr>
          <p:spPr>
            <a:xfrm>
              <a:off x="0" y="-9525"/>
              <a:ext cx="4114800" cy="283845"/>
            </a:xfrm>
            <a:prstGeom prst="rect">
              <a:avLst/>
            </a:prstGeom>
          </p:spPr>
          <p:txBody>
            <a:bodyPr anchor="ctr" rtlCol="false" tIns="0" lIns="0" bIns="0" rIns="0"/>
            <a:lstStyle/>
            <a:p>
              <a:pPr algn="l">
                <a:lnSpc>
                  <a:spcPts val="1655"/>
                </a:lnSpc>
              </a:pPr>
              <a:r>
                <a:rPr lang="en-US" sz="1380" b="true">
                  <a:solidFill>
                    <a:srgbClr val="686762"/>
                  </a:solidFill>
                  <a:latin typeface="Aptos Bold"/>
                  <a:ea typeface="Aptos Bold"/>
                  <a:cs typeface="Aptos Bold"/>
                  <a:sym typeface="Aptos Bold"/>
                </a:rPr>
                <a:t>2010–2025 ASSOCIATION</a:t>
              </a:r>
            </a:p>
          </p:txBody>
        </p:sp>
      </p:grpSp>
      <p:grpSp>
        <p:nvGrpSpPr>
          <p:cNvPr name="Group 49" id="49"/>
          <p:cNvGrpSpPr/>
          <p:nvPr/>
        </p:nvGrpSpPr>
        <p:grpSpPr>
          <a:xfrm rot="0">
            <a:off x="12975336" y="7063740"/>
            <a:ext cx="3566160" cy="301752"/>
            <a:chOff x="0" y="0"/>
            <a:chExt cx="4754880" cy="402336"/>
          </a:xfrm>
        </p:grpSpPr>
        <p:sp>
          <p:nvSpPr>
            <p:cNvPr name="Freeform 50" id="50"/>
            <p:cNvSpPr/>
            <p:nvPr/>
          </p:nvSpPr>
          <p:spPr>
            <a:xfrm flipH="false" flipV="false" rot="0">
              <a:off x="0" y="0"/>
              <a:ext cx="4754880" cy="402336"/>
            </a:xfrm>
            <a:custGeom>
              <a:avLst/>
              <a:gdLst/>
              <a:ahLst/>
              <a:cxnLst/>
              <a:rect r="r" b="b" t="t" l="l"/>
              <a:pathLst>
                <a:path h="402336" w="4754880">
                  <a:moveTo>
                    <a:pt x="0" y="0"/>
                  </a:moveTo>
                  <a:lnTo>
                    <a:pt x="4754880" y="0"/>
                  </a:lnTo>
                  <a:lnTo>
                    <a:pt x="4754880" y="402336"/>
                  </a:lnTo>
                  <a:lnTo>
                    <a:pt x="0" y="402336"/>
                  </a:lnTo>
                  <a:close/>
                </a:path>
              </a:pathLst>
            </a:custGeom>
            <a:blipFill>
              <a:blip r:embed="rId3">
                <a:alphaModFix amt="0"/>
              </a:blip>
              <a:stretch>
                <a:fillRect l="0" t="-180277" r="0" b="-180277"/>
              </a:stretch>
            </a:blipFill>
          </p:spPr>
        </p:sp>
        <p:sp>
          <p:nvSpPr>
            <p:cNvPr name="TextBox 51" id="51"/>
            <p:cNvSpPr txBox="true"/>
            <p:nvPr/>
          </p:nvSpPr>
          <p:spPr>
            <a:xfrm>
              <a:off x="0" y="-9525"/>
              <a:ext cx="4754880" cy="411861"/>
            </a:xfrm>
            <a:prstGeom prst="rect">
              <a:avLst/>
            </a:prstGeom>
          </p:spPr>
          <p:txBody>
            <a:bodyPr anchor="ctr" rtlCol="false" tIns="0" lIns="0" bIns="0" rIns="0"/>
            <a:lstStyle/>
            <a:p>
              <a:pPr algn="l">
                <a:lnSpc>
                  <a:spcPts val="2915"/>
                </a:lnSpc>
              </a:pPr>
              <a:r>
                <a:rPr lang="en-US" sz="2429" b="true">
                  <a:solidFill>
                    <a:srgbClr val="2A78D6"/>
                  </a:solidFill>
                  <a:latin typeface="Aptos Bold"/>
                  <a:ea typeface="Aptos Bold"/>
                  <a:cs typeface="Aptos Bold"/>
                  <a:sym typeface="Aptos Bold"/>
                </a:rPr>
                <a:t>r = −0.75   p &lt; .001</a:t>
              </a:r>
            </a:p>
          </p:txBody>
        </p:sp>
      </p:grpSp>
      <p:grpSp>
        <p:nvGrpSpPr>
          <p:cNvPr name="Group 52" id="52"/>
          <p:cNvGrpSpPr/>
          <p:nvPr/>
        </p:nvGrpSpPr>
        <p:grpSpPr>
          <a:xfrm rot="0">
            <a:off x="12728448" y="7982712"/>
            <a:ext cx="3703320" cy="274320"/>
            <a:chOff x="0" y="0"/>
            <a:chExt cx="4937760" cy="365760"/>
          </a:xfrm>
        </p:grpSpPr>
        <p:sp>
          <p:nvSpPr>
            <p:cNvPr name="Freeform 53" id="53"/>
            <p:cNvSpPr/>
            <p:nvPr/>
          </p:nvSpPr>
          <p:spPr>
            <a:xfrm flipH="false" flipV="false" rot="0">
              <a:off x="0" y="0"/>
              <a:ext cx="4937760" cy="365760"/>
            </a:xfrm>
            <a:custGeom>
              <a:avLst/>
              <a:gdLst/>
              <a:ahLst/>
              <a:cxnLst/>
              <a:rect r="r" b="b" t="t" l="l"/>
              <a:pathLst>
                <a:path h="365760" w="4937760">
                  <a:moveTo>
                    <a:pt x="0" y="0"/>
                  </a:moveTo>
                  <a:lnTo>
                    <a:pt x="4937760" y="0"/>
                  </a:lnTo>
                  <a:lnTo>
                    <a:pt x="4937760" y="365760"/>
                  </a:lnTo>
                  <a:lnTo>
                    <a:pt x="0" y="365760"/>
                  </a:lnTo>
                  <a:close/>
                </a:path>
              </a:pathLst>
            </a:custGeom>
            <a:blipFill>
              <a:blip r:embed="rId3">
                <a:alphaModFix amt="0"/>
              </a:blip>
              <a:stretch>
                <a:fillRect l="0" t="-213048" r="0" b="-213048"/>
              </a:stretch>
            </a:blipFill>
          </p:spPr>
        </p:sp>
        <p:sp>
          <p:nvSpPr>
            <p:cNvPr name="TextBox 54" id="54"/>
            <p:cNvSpPr txBox="true"/>
            <p:nvPr/>
          </p:nvSpPr>
          <p:spPr>
            <a:xfrm>
              <a:off x="0" y="0"/>
              <a:ext cx="4937760" cy="365760"/>
            </a:xfrm>
            <a:prstGeom prst="rect">
              <a:avLst/>
            </a:prstGeom>
          </p:spPr>
          <p:txBody>
            <a:bodyPr anchor="ctr" rtlCol="false" tIns="0" lIns="0" bIns="0" rIns="0"/>
            <a:lstStyle/>
            <a:p>
              <a:pPr algn="l">
                <a:lnSpc>
                  <a:spcPts val="2070"/>
                </a:lnSpc>
              </a:pPr>
              <a:r>
                <a:rPr lang="en-US" sz="1725" b="true">
                  <a:solidFill>
                    <a:srgbClr val="20201E"/>
                  </a:solidFill>
                  <a:latin typeface="Aptos Bold"/>
                  <a:ea typeface="Aptos Bold"/>
                  <a:cs typeface="Aptos Bold"/>
                  <a:sym typeface="Aptos Bold"/>
                </a:rPr>
                <a:t>Year-range check</a:t>
              </a:r>
            </a:p>
          </p:txBody>
        </p:sp>
      </p:grpSp>
      <p:grpSp>
        <p:nvGrpSpPr>
          <p:cNvPr name="Group 55" id="55"/>
          <p:cNvGrpSpPr/>
          <p:nvPr/>
        </p:nvGrpSpPr>
        <p:grpSpPr>
          <a:xfrm rot="0">
            <a:off x="12728448" y="8394192"/>
            <a:ext cx="4279392" cy="740664"/>
            <a:chOff x="0" y="0"/>
            <a:chExt cx="5705856" cy="987552"/>
          </a:xfrm>
        </p:grpSpPr>
        <p:sp>
          <p:nvSpPr>
            <p:cNvPr name="Freeform 56" id="56"/>
            <p:cNvSpPr/>
            <p:nvPr/>
          </p:nvSpPr>
          <p:spPr>
            <a:xfrm flipH="false" flipV="false" rot="0">
              <a:off x="0" y="0"/>
              <a:ext cx="5705856" cy="987552"/>
            </a:xfrm>
            <a:custGeom>
              <a:avLst/>
              <a:gdLst/>
              <a:ahLst/>
              <a:cxnLst/>
              <a:rect r="r" b="b" t="t" l="l"/>
              <a:pathLst>
                <a:path h="987552" w="5705856">
                  <a:moveTo>
                    <a:pt x="0" y="0"/>
                  </a:moveTo>
                  <a:lnTo>
                    <a:pt x="5705856" y="0"/>
                  </a:lnTo>
                  <a:lnTo>
                    <a:pt x="5705856" y="987552"/>
                  </a:lnTo>
                  <a:lnTo>
                    <a:pt x="0" y="987552"/>
                  </a:lnTo>
                  <a:close/>
                </a:path>
              </a:pathLst>
            </a:custGeom>
            <a:blipFill>
              <a:blip r:embed="rId3">
                <a:alphaModFix amt="0"/>
              </a:blip>
              <a:stretch>
                <a:fillRect l="0" t="-62580" r="0" b="-62580"/>
              </a:stretch>
            </a:blipFill>
          </p:spPr>
        </p:sp>
        <p:sp>
          <p:nvSpPr>
            <p:cNvPr name="TextBox 57" id="57"/>
            <p:cNvSpPr txBox="true"/>
            <p:nvPr/>
          </p:nvSpPr>
          <p:spPr>
            <a:xfrm>
              <a:off x="0" y="0"/>
              <a:ext cx="5705856" cy="987552"/>
            </a:xfrm>
            <a:prstGeom prst="rect">
              <a:avLst/>
            </a:prstGeom>
          </p:spPr>
          <p:txBody>
            <a:bodyPr anchor="ctr" rtlCol="false" tIns="0" lIns="0" bIns="0" rIns="0"/>
            <a:lstStyle/>
            <a:p>
              <a:pPr algn="l">
                <a:lnSpc>
                  <a:spcPts val="1889"/>
                </a:lnSpc>
              </a:pPr>
              <a:r>
                <a:rPr lang="en-US" sz="1575">
                  <a:solidFill>
                    <a:srgbClr val="20201E"/>
                  </a:solidFill>
                  <a:latin typeface="Aptos"/>
                  <a:ea typeface="Aptos"/>
                  <a:cs typeface="Aptos"/>
                  <a:sym typeface="Aptos"/>
                </a:rPr>
                <a:t>2010–17   r = +0.44   p = .270</a:t>
              </a:r>
            </a:p>
            <a:p>
              <a:pPr algn="l">
                <a:lnSpc>
                  <a:spcPts val="1889"/>
                </a:lnSpc>
              </a:pPr>
              <a:r>
                <a:rPr lang="en-US" sz="1575">
                  <a:solidFill>
                    <a:srgbClr val="20201E"/>
                  </a:solidFill>
                  <a:latin typeface="Aptos"/>
                  <a:ea typeface="Aptos"/>
                  <a:cs typeface="Aptos"/>
                  <a:sym typeface="Aptos"/>
                </a:rPr>
                <a:t>2018–25   r = −0.79   p = .020</a:t>
              </a:r>
            </a:p>
          </p:txBody>
        </p:sp>
      </p:grpSp>
      <p:grpSp>
        <p:nvGrpSpPr>
          <p:cNvPr name="Group 58" id="58"/>
          <p:cNvGrpSpPr/>
          <p:nvPr/>
        </p:nvGrpSpPr>
        <p:grpSpPr>
          <a:xfrm rot="0">
            <a:off x="12865608" y="9093708"/>
            <a:ext cx="3840480" cy="233172"/>
            <a:chOff x="0" y="0"/>
            <a:chExt cx="5120640" cy="310896"/>
          </a:xfrm>
        </p:grpSpPr>
        <p:sp>
          <p:nvSpPr>
            <p:cNvPr name="Freeform 59" id="59"/>
            <p:cNvSpPr/>
            <p:nvPr/>
          </p:nvSpPr>
          <p:spPr>
            <a:xfrm flipH="false" flipV="false" rot="0">
              <a:off x="0" y="0"/>
              <a:ext cx="5120640" cy="310896"/>
            </a:xfrm>
            <a:custGeom>
              <a:avLst/>
              <a:gdLst/>
              <a:ahLst/>
              <a:cxnLst/>
              <a:rect r="r" b="b" t="t" l="l"/>
              <a:pathLst>
                <a:path h="310896" w="5120640">
                  <a:moveTo>
                    <a:pt x="0" y="0"/>
                  </a:moveTo>
                  <a:lnTo>
                    <a:pt x="5120640" y="0"/>
                  </a:lnTo>
                  <a:lnTo>
                    <a:pt x="5120640" y="310896"/>
                  </a:lnTo>
                  <a:lnTo>
                    <a:pt x="0" y="310896"/>
                  </a:lnTo>
                  <a:close/>
                </a:path>
              </a:pathLst>
            </a:custGeom>
            <a:blipFill>
              <a:blip r:embed="rId3">
                <a:alphaModFix amt="0"/>
              </a:blip>
              <a:stretch>
                <a:fillRect l="0" t="-270930" r="0" b="-270930"/>
              </a:stretch>
            </a:blipFill>
          </p:spPr>
        </p:sp>
        <p:sp>
          <p:nvSpPr>
            <p:cNvPr name="TextBox 60" id="60"/>
            <p:cNvSpPr txBox="true"/>
            <p:nvPr/>
          </p:nvSpPr>
          <p:spPr>
            <a:xfrm>
              <a:off x="0" y="-9525"/>
              <a:ext cx="5120640" cy="320421"/>
            </a:xfrm>
            <a:prstGeom prst="rect">
              <a:avLst/>
            </a:prstGeom>
          </p:spPr>
          <p:txBody>
            <a:bodyPr anchor="ctr" rtlCol="false" tIns="0" lIns="0" bIns="0" rIns="0"/>
            <a:lstStyle/>
            <a:p>
              <a:pPr algn="ctr">
                <a:lnSpc>
                  <a:spcPts val="1655"/>
                </a:lnSpc>
              </a:pPr>
              <a:r>
                <a:rPr lang="en-US" sz="1380" i="true">
                  <a:solidFill>
                    <a:srgbClr val="686762"/>
                  </a:solidFill>
                  <a:latin typeface="Aptos Italics"/>
                  <a:ea typeface="Aptos Italics"/>
                  <a:cs typeface="Aptos Italics"/>
                  <a:sym typeface="Aptos Italics"/>
                </a:rPr>
                <a:t>Association ≠ causation</a:t>
              </a:r>
            </a:p>
          </p:txBody>
        </p:sp>
      </p:grpSp>
      <p:sp>
        <p:nvSpPr>
          <p:cNvPr name="TextBox 61" id="61"/>
          <p:cNvSpPr txBox="true"/>
          <p:nvPr/>
        </p:nvSpPr>
        <p:spPr>
          <a:xfrm rot="0">
            <a:off x="17030700" y="9801987"/>
            <a:ext cx="1017118" cy="368084"/>
          </a:xfrm>
          <a:prstGeom prst="rect">
            <a:avLst/>
          </a:prstGeom>
        </p:spPr>
        <p:txBody>
          <a:bodyPr anchor="t" rtlCol="false" tIns="0" lIns="0" bIns="0" rIns="0">
            <a:spAutoFit/>
          </a:bodyPr>
          <a:lstStyle/>
          <a:p>
            <a:pPr algn="l">
              <a:lnSpc>
                <a:spcPts val="1530"/>
              </a:lnSpc>
            </a:pPr>
            <a:r>
              <a:rPr lang="en-US" sz="1275">
                <a:solidFill>
                  <a:srgbClr val="8A8984"/>
                </a:solidFill>
                <a:latin typeface="Aptos"/>
                <a:ea typeface="Aptos"/>
                <a:cs typeface="Aptos"/>
                <a:sym typeface="Aptos"/>
              </a:rPr>
              <a:t>2</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AF8"/>
        </a:solidFill>
      </p:bgPr>
    </p:bg>
    <p:spTree>
      <p:nvGrpSpPr>
        <p:cNvPr id="1" name=""/>
        <p:cNvGrpSpPr/>
        <p:nvPr/>
      </p:nvGrpSpPr>
      <p:grpSpPr>
        <a:xfrm>
          <a:off x="0" y="0"/>
          <a:ext cx="0" cy="0"/>
          <a:chOff x="0" y="0"/>
          <a:chExt cx="0" cy="0"/>
        </a:xfrm>
      </p:grpSpPr>
      <p:grpSp>
        <p:nvGrpSpPr>
          <p:cNvPr name="Group 2" id="2"/>
          <p:cNvGrpSpPr/>
          <p:nvPr/>
        </p:nvGrpSpPr>
        <p:grpSpPr>
          <a:xfrm rot="0">
            <a:off x="932688" y="987552"/>
            <a:ext cx="16322040" cy="795528"/>
            <a:chOff x="0" y="0"/>
            <a:chExt cx="21762720" cy="1060704"/>
          </a:xfrm>
        </p:grpSpPr>
        <p:sp>
          <p:nvSpPr>
            <p:cNvPr name="Freeform 3" id="3"/>
            <p:cNvSpPr/>
            <p:nvPr/>
          </p:nvSpPr>
          <p:spPr>
            <a:xfrm flipH="false" flipV="false" rot="0">
              <a:off x="0" y="0"/>
              <a:ext cx="21762720" cy="1060704"/>
            </a:xfrm>
            <a:custGeom>
              <a:avLst/>
              <a:gdLst/>
              <a:ahLst/>
              <a:cxnLst/>
              <a:rect r="r" b="b" t="t" l="l"/>
              <a:pathLst>
                <a:path h="1060704" w="21762720">
                  <a:moveTo>
                    <a:pt x="0" y="0"/>
                  </a:moveTo>
                  <a:lnTo>
                    <a:pt x="21762720" y="0"/>
                  </a:lnTo>
                  <a:lnTo>
                    <a:pt x="21762720" y="1060704"/>
                  </a:lnTo>
                  <a:lnTo>
                    <a:pt x="0" y="1060704"/>
                  </a:lnTo>
                  <a:close/>
                </a:path>
              </a:pathLst>
            </a:custGeom>
            <a:blipFill>
              <a:blip r:embed="rId3">
                <a:alphaModFix amt="0"/>
              </a:blip>
              <a:stretch>
                <a:fillRect l="0" t="-349779" r="0" b="-349779"/>
              </a:stretch>
            </a:blipFill>
          </p:spPr>
        </p:sp>
        <p:sp>
          <p:nvSpPr>
            <p:cNvPr name="TextBox 4" id="4"/>
            <p:cNvSpPr txBox="true"/>
            <p:nvPr/>
          </p:nvSpPr>
          <p:spPr>
            <a:xfrm>
              <a:off x="0" y="-9525"/>
              <a:ext cx="21762720" cy="1070229"/>
            </a:xfrm>
            <a:prstGeom prst="rect">
              <a:avLst/>
            </a:prstGeom>
          </p:spPr>
          <p:txBody>
            <a:bodyPr anchor="ctr" rtlCol="false" tIns="0" lIns="0" bIns="0" rIns="0"/>
            <a:lstStyle/>
            <a:p>
              <a:pPr algn="l">
                <a:lnSpc>
                  <a:spcPts val="5130"/>
                </a:lnSpc>
              </a:pPr>
              <a:r>
                <a:rPr lang="en-US" sz="4275" b="true">
                  <a:solidFill>
                    <a:srgbClr val="1D2737"/>
                  </a:solidFill>
                  <a:latin typeface="Georgia Bold"/>
                  <a:ea typeface="Georgia Bold"/>
                  <a:cs typeface="Georgia Bold"/>
                  <a:sym typeface="Georgia Bold"/>
                </a:rPr>
                <a:t>Later family formation is associated with lower TFR</a:t>
              </a:r>
            </a:p>
          </p:txBody>
        </p:sp>
      </p:grpSp>
      <p:grpSp>
        <p:nvGrpSpPr>
          <p:cNvPr name="Group 5" id="5"/>
          <p:cNvGrpSpPr/>
          <p:nvPr/>
        </p:nvGrpSpPr>
        <p:grpSpPr>
          <a:xfrm rot="0">
            <a:off x="960120" y="1824228"/>
            <a:ext cx="15910560" cy="411480"/>
            <a:chOff x="0" y="0"/>
            <a:chExt cx="21214080" cy="548640"/>
          </a:xfrm>
        </p:grpSpPr>
        <p:sp>
          <p:nvSpPr>
            <p:cNvPr name="Freeform 6" id="6"/>
            <p:cNvSpPr/>
            <p:nvPr/>
          </p:nvSpPr>
          <p:spPr>
            <a:xfrm flipH="false" flipV="false" rot="0">
              <a:off x="0" y="0"/>
              <a:ext cx="21214080" cy="548640"/>
            </a:xfrm>
            <a:custGeom>
              <a:avLst/>
              <a:gdLst/>
              <a:ahLst/>
              <a:cxnLst/>
              <a:rect r="r" b="b" t="t" l="l"/>
              <a:pathLst>
                <a:path h="548640" w="21214080">
                  <a:moveTo>
                    <a:pt x="0" y="0"/>
                  </a:moveTo>
                  <a:lnTo>
                    <a:pt x="21214080" y="0"/>
                  </a:lnTo>
                  <a:lnTo>
                    <a:pt x="21214080" y="548640"/>
                  </a:lnTo>
                  <a:lnTo>
                    <a:pt x="0" y="548640"/>
                  </a:lnTo>
                  <a:close/>
                </a:path>
              </a:pathLst>
            </a:custGeom>
            <a:blipFill>
              <a:blip r:embed="rId3">
                <a:alphaModFix amt="0"/>
              </a:blip>
              <a:stretch>
                <a:fillRect l="0" t="-703421" r="0" b="-703421"/>
              </a:stretch>
            </a:blipFill>
          </p:spPr>
        </p:sp>
        <p:sp>
          <p:nvSpPr>
            <p:cNvPr name="TextBox 7" id="7"/>
            <p:cNvSpPr txBox="true"/>
            <p:nvPr/>
          </p:nvSpPr>
          <p:spPr>
            <a:xfrm>
              <a:off x="0" y="0"/>
              <a:ext cx="21214080" cy="548640"/>
            </a:xfrm>
            <a:prstGeom prst="rect">
              <a:avLst/>
            </a:prstGeom>
          </p:spPr>
          <p:txBody>
            <a:bodyPr anchor="ctr" rtlCol="false" tIns="0" lIns="0" bIns="0" rIns="0"/>
            <a:lstStyle/>
            <a:p>
              <a:pPr algn="l">
                <a:lnSpc>
                  <a:spcPts val="2375"/>
                </a:lnSpc>
              </a:pPr>
              <a:r>
                <a:rPr lang="en-US" sz="1979">
                  <a:solidFill>
                    <a:srgbClr val="74736F"/>
                  </a:solidFill>
                  <a:latin typeface="Aptos"/>
                  <a:ea typeface="Aptos"/>
                  <a:cs typeface="Aptos"/>
                  <a:sym typeface="Aptos"/>
                </a:rPr>
                <a:t>The marriage factor matters mainly through timing, not through the raw 30–34 marriage rate alone.</a:t>
              </a:r>
            </a:p>
          </p:txBody>
        </p:sp>
      </p:grpSp>
      <p:grpSp>
        <p:nvGrpSpPr>
          <p:cNvPr name="Group 8" id="8"/>
          <p:cNvGrpSpPr/>
          <p:nvPr/>
        </p:nvGrpSpPr>
        <p:grpSpPr>
          <a:xfrm rot="0">
            <a:off x="896684" y="2624900"/>
            <a:ext cx="5297805" cy="4996053"/>
            <a:chOff x="0" y="0"/>
            <a:chExt cx="7063740" cy="6661404"/>
          </a:xfrm>
        </p:grpSpPr>
        <p:sp>
          <p:nvSpPr>
            <p:cNvPr name="Freeform 9" id="9"/>
            <p:cNvSpPr/>
            <p:nvPr/>
          </p:nvSpPr>
          <p:spPr>
            <a:xfrm flipH="false" flipV="false" rot="0">
              <a:off x="0" y="0"/>
              <a:ext cx="7063739" cy="6661403"/>
            </a:xfrm>
            <a:custGeom>
              <a:avLst/>
              <a:gdLst/>
              <a:ahLst/>
              <a:cxnLst/>
              <a:rect r="r" b="b" t="t" l="l"/>
              <a:pathLst>
                <a:path h="6661403" w="7063739">
                  <a:moveTo>
                    <a:pt x="0" y="91694"/>
                  </a:moveTo>
                  <a:cubicBezTo>
                    <a:pt x="0" y="41021"/>
                    <a:pt x="41021" y="0"/>
                    <a:pt x="91694" y="0"/>
                  </a:cubicBezTo>
                  <a:lnTo>
                    <a:pt x="6972046" y="0"/>
                  </a:lnTo>
                  <a:cubicBezTo>
                    <a:pt x="7022719" y="0"/>
                    <a:pt x="7063739" y="41021"/>
                    <a:pt x="7063739" y="91694"/>
                  </a:cubicBezTo>
                  <a:lnTo>
                    <a:pt x="7063739" y="6569710"/>
                  </a:lnTo>
                  <a:cubicBezTo>
                    <a:pt x="7063739" y="6620383"/>
                    <a:pt x="7022719" y="6661403"/>
                    <a:pt x="6972046" y="6661403"/>
                  </a:cubicBezTo>
                  <a:lnTo>
                    <a:pt x="91694" y="6661403"/>
                  </a:lnTo>
                  <a:cubicBezTo>
                    <a:pt x="41021" y="6661403"/>
                    <a:pt x="0" y="6620383"/>
                    <a:pt x="0" y="6569710"/>
                  </a:cubicBezTo>
                  <a:close/>
                </a:path>
              </a:pathLst>
            </a:custGeom>
            <a:solidFill>
              <a:srgbClr val="FFFFFF"/>
            </a:solidFill>
            <a:ln w="17145" cap="sq">
              <a:solidFill>
                <a:srgbClr val="E3E1DC"/>
              </a:solidFill>
              <a:prstDash val="solid"/>
              <a:miter/>
            </a:ln>
          </p:spPr>
        </p:sp>
      </p:grpSp>
      <p:grpSp>
        <p:nvGrpSpPr>
          <p:cNvPr name="Group 10" id="10"/>
          <p:cNvGrpSpPr/>
          <p:nvPr/>
        </p:nvGrpSpPr>
        <p:grpSpPr>
          <a:xfrm rot="0">
            <a:off x="6492812" y="2624900"/>
            <a:ext cx="5297805" cy="4996053"/>
            <a:chOff x="0" y="0"/>
            <a:chExt cx="7063740" cy="6661404"/>
          </a:xfrm>
        </p:grpSpPr>
        <p:sp>
          <p:nvSpPr>
            <p:cNvPr name="Freeform 11" id="11"/>
            <p:cNvSpPr/>
            <p:nvPr/>
          </p:nvSpPr>
          <p:spPr>
            <a:xfrm flipH="false" flipV="false" rot="0">
              <a:off x="0" y="0"/>
              <a:ext cx="7063739" cy="6661403"/>
            </a:xfrm>
            <a:custGeom>
              <a:avLst/>
              <a:gdLst/>
              <a:ahLst/>
              <a:cxnLst/>
              <a:rect r="r" b="b" t="t" l="l"/>
              <a:pathLst>
                <a:path h="6661403" w="7063739">
                  <a:moveTo>
                    <a:pt x="0" y="91694"/>
                  </a:moveTo>
                  <a:cubicBezTo>
                    <a:pt x="0" y="41021"/>
                    <a:pt x="41021" y="0"/>
                    <a:pt x="91694" y="0"/>
                  </a:cubicBezTo>
                  <a:lnTo>
                    <a:pt x="6972046" y="0"/>
                  </a:lnTo>
                  <a:cubicBezTo>
                    <a:pt x="7022719" y="0"/>
                    <a:pt x="7063739" y="41021"/>
                    <a:pt x="7063739" y="91694"/>
                  </a:cubicBezTo>
                  <a:lnTo>
                    <a:pt x="7063739" y="6569710"/>
                  </a:lnTo>
                  <a:cubicBezTo>
                    <a:pt x="7063739" y="6620383"/>
                    <a:pt x="7022719" y="6661403"/>
                    <a:pt x="6972046" y="6661403"/>
                  </a:cubicBezTo>
                  <a:lnTo>
                    <a:pt x="91694" y="6661403"/>
                  </a:lnTo>
                  <a:cubicBezTo>
                    <a:pt x="41021" y="6661403"/>
                    <a:pt x="0" y="6620383"/>
                    <a:pt x="0" y="6569710"/>
                  </a:cubicBezTo>
                  <a:close/>
                </a:path>
              </a:pathLst>
            </a:custGeom>
            <a:solidFill>
              <a:srgbClr val="FFFFFF"/>
            </a:solidFill>
            <a:ln w="17145" cap="sq">
              <a:solidFill>
                <a:srgbClr val="E3E1DC"/>
              </a:solidFill>
              <a:prstDash val="solid"/>
              <a:miter/>
            </a:ln>
          </p:spPr>
        </p:sp>
      </p:grpSp>
      <p:grpSp>
        <p:nvGrpSpPr>
          <p:cNvPr name="Group 12" id="12"/>
          <p:cNvGrpSpPr/>
          <p:nvPr/>
        </p:nvGrpSpPr>
        <p:grpSpPr>
          <a:xfrm rot="0">
            <a:off x="12088940" y="2624900"/>
            <a:ext cx="5297805" cy="4996053"/>
            <a:chOff x="0" y="0"/>
            <a:chExt cx="7063740" cy="6661404"/>
          </a:xfrm>
        </p:grpSpPr>
        <p:sp>
          <p:nvSpPr>
            <p:cNvPr name="Freeform 13" id="13"/>
            <p:cNvSpPr/>
            <p:nvPr/>
          </p:nvSpPr>
          <p:spPr>
            <a:xfrm flipH="false" flipV="false" rot="0">
              <a:off x="0" y="0"/>
              <a:ext cx="7063739" cy="6661403"/>
            </a:xfrm>
            <a:custGeom>
              <a:avLst/>
              <a:gdLst/>
              <a:ahLst/>
              <a:cxnLst/>
              <a:rect r="r" b="b" t="t" l="l"/>
              <a:pathLst>
                <a:path h="6661403" w="7063739">
                  <a:moveTo>
                    <a:pt x="0" y="91694"/>
                  </a:moveTo>
                  <a:cubicBezTo>
                    <a:pt x="0" y="41021"/>
                    <a:pt x="41021" y="0"/>
                    <a:pt x="91694" y="0"/>
                  </a:cubicBezTo>
                  <a:lnTo>
                    <a:pt x="6972046" y="0"/>
                  </a:lnTo>
                  <a:cubicBezTo>
                    <a:pt x="7022719" y="0"/>
                    <a:pt x="7063739" y="41021"/>
                    <a:pt x="7063739" y="91694"/>
                  </a:cubicBezTo>
                  <a:lnTo>
                    <a:pt x="7063739" y="6569710"/>
                  </a:lnTo>
                  <a:cubicBezTo>
                    <a:pt x="7063739" y="6620383"/>
                    <a:pt x="7022719" y="6661403"/>
                    <a:pt x="6972046" y="6661403"/>
                  </a:cubicBezTo>
                  <a:lnTo>
                    <a:pt x="91694" y="6661403"/>
                  </a:lnTo>
                  <a:cubicBezTo>
                    <a:pt x="41021" y="6661403"/>
                    <a:pt x="0" y="6620383"/>
                    <a:pt x="0" y="6569710"/>
                  </a:cubicBezTo>
                  <a:close/>
                </a:path>
              </a:pathLst>
            </a:custGeom>
            <a:solidFill>
              <a:srgbClr val="FFFFFF"/>
            </a:solidFill>
            <a:ln w="17145" cap="sq">
              <a:solidFill>
                <a:srgbClr val="E3E1DC"/>
              </a:solidFill>
              <a:prstDash val="solid"/>
              <a:miter/>
            </a:ln>
          </p:spPr>
        </p:sp>
      </p:grpSp>
      <p:grpSp>
        <p:nvGrpSpPr>
          <p:cNvPr name="Group 14" id="14"/>
          <p:cNvGrpSpPr/>
          <p:nvPr/>
        </p:nvGrpSpPr>
        <p:grpSpPr>
          <a:xfrm rot="0">
            <a:off x="1224915" y="2953131"/>
            <a:ext cx="1610106" cy="430530"/>
            <a:chOff x="0" y="0"/>
            <a:chExt cx="2146808" cy="574040"/>
          </a:xfrm>
        </p:grpSpPr>
        <p:sp>
          <p:nvSpPr>
            <p:cNvPr name="Freeform 15" id="15"/>
            <p:cNvSpPr/>
            <p:nvPr/>
          </p:nvSpPr>
          <p:spPr>
            <a:xfrm flipH="false" flipV="false" rot="0">
              <a:off x="0" y="0"/>
              <a:ext cx="2146808" cy="574040"/>
            </a:xfrm>
            <a:custGeom>
              <a:avLst/>
              <a:gdLst/>
              <a:ahLst/>
              <a:cxnLst/>
              <a:rect r="r" b="b" t="t" l="l"/>
              <a:pathLst>
                <a:path h="574040" w="2146808">
                  <a:moveTo>
                    <a:pt x="0" y="153035"/>
                  </a:moveTo>
                  <a:cubicBezTo>
                    <a:pt x="0" y="68580"/>
                    <a:pt x="68580" y="0"/>
                    <a:pt x="153035" y="0"/>
                  </a:cubicBezTo>
                  <a:lnTo>
                    <a:pt x="1993773" y="0"/>
                  </a:lnTo>
                  <a:cubicBezTo>
                    <a:pt x="2078355" y="0"/>
                    <a:pt x="2146808" y="68580"/>
                    <a:pt x="2146808" y="153035"/>
                  </a:cubicBezTo>
                  <a:lnTo>
                    <a:pt x="2146808" y="421005"/>
                  </a:lnTo>
                  <a:cubicBezTo>
                    <a:pt x="2146808" y="505587"/>
                    <a:pt x="2078228" y="574040"/>
                    <a:pt x="1993773" y="574040"/>
                  </a:cubicBezTo>
                  <a:lnTo>
                    <a:pt x="153035" y="574040"/>
                  </a:lnTo>
                  <a:cubicBezTo>
                    <a:pt x="68580" y="574040"/>
                    <a:pt x="0" y="505460"/>
                    <a:pt x="0" y="421005"/>
                  </a:cubicBezTo>
                  <a:close/>
                </a:path>
              </a:pathLst>
            </a:custGeom>
            <a:solidFill>
              <a:srgbClr val="F3F0FA"/>
            </a:solidFill>
            <a:ln w="19050" cap="sq">
              <a:solidFill>
                <a:srgbClr val="F3F0FA"/>
              </a:solidFill>
              <a:prstDash val="solid"/>
              <a:miter/>
            </a:ln>
          </p:spPr>
        </p:sp>
      </p:grpSp>
      <p:grpSp>
        <p:nvGrpSpPr>
          <p:cNvPr name="Group 16" id="16"/>
          <p:cNvGrpSpPr/>
          <p:nvPr/>
        </p:nvGrpSpPr>
        <p:grpSpPr>
          <a:xfrm rot="0">
            <a:off x="1344168" y="3072384"/>
            <a:ext cx="1344168" cy="192024"/>
            <a:chOff x="0" y="0"/>
            <a:chExt cx="1792224" cy="256032"/>
          </a:xfrm>
        </p:grpSpPr>
        <p:sp>
          <p:nvSpPr>
            <p:cNvPr name="Freeform 17" id="17"/>
            <p:cNvSpPr/>
            <p:nvPr/>
          </p:nvSpPr>
          <p:spPr>
            <a:xfrm flipH="false" flipV="false" rot="0">
              <a:off x="0" y="0"/>
              <a:ext cx="1792224" cy="256032"/>
            </a:xfrm>
            <a:custGeom>
              <a:avLst/>
              <a:gdLst/>
              <a:ahLst/>
              <a:cxnLst/>
              <a:rect r="r" b="b" t="t" l="l"/>
              <a:pathLst>
                <a:path h="256032" w="1792224">
                  <a:moveTo>
                    <a:pt x="0" y="0"/>
                  </a:moveTo>
                  <a:lnTo>
                    <a:pt x="1792224" y="0"/>
                  </a:lnTo>
                  <a:lnTo>
                    <a:pt x="1792224" y="256032"/>
                  </a:lnTo>
                  <a:lnTo>
                    <a:pt x="0" y="256032"/>
                  </a:lnTo>
                  <a:close/>
                </a:path>
              </a:pathLst>
            </a:custGeom>
            <a:blipFill>
              <a:blip r:embed="rId3">
                <a:alphaModFix amt="0"/>
              </a:blip>
              <a:stretch>
                <a:fillRect l="0" t="-86395" r="0" b="-86395"/>
              </a:stretch>
            </a:blipFill>
          </p:spPr>
        </p:sp>
        <p:sp>
          <p:nvSpPr>
            <p:cNvPr name="TextBox 18" id="18"/>
            <p:cNvSpPr txBox="true"/>
            <p:nvPr/>
          </p:nvSpPr>
          <p:spPr>
            <a:xfrm>
              <a:off x="0" y="0"/>
              <a:ext cx="1792224" cy="256032"/>
            </a:xfrm>
            <a:prstGeom prst="rect">
              <a:avLst/>
            </a:prstGeom>
          </p:spPr>
          <p:txBody>
            <a:bodyPr anchor="ctr" rtlCol="false" tIns="0" lIns="0" bIns="0" rIns="0"/>
            <a:lstStyle/>
            <a:p>
              <a:pPr algn="ctr">
                <a:lnSpc>
                  <a:spcPts val="1692"/>
                </a:lnSpc>
              </a:pPr>
              <a:r>
                <a:rPr lang="en-US" sz="1410" b="true">
                  <a:solidFill>
                    <a:srgbClr val="5B46B2"/>
                  </a:solidFill>
                  <a:latin typeface="Aptos Bold"/>
                  <a:ea typeface="Aptos Bold"/>
                  <a:cs typeface="Aptos Bold"/>
                  <a:sym typeface="Aptos Bold"/>
                </a:rPr>
                <a:t>1 · TIMING</a:t>
              </a:r>
            </a:p>
          </p:txBody>
        </p:sp>
      </p:grpSp>
      <p:grpSp>
        <p:nvGrpSpPr>
          <p:cNvPr name="Group 19" id="19"/>
          <p:cNvGrpSpPr/>
          <p:nvPr/>
        </p:nvGrpSpPr>
        <p:grpSpPr>
          <a:xfrm rot="0">
            <a:off x="1261872" y="3522726"/>
            <a:ext cx="4251960" cy="976122"/>
            <a:chOff x="0" y="0"/>
            <a:chExt cx="5669280" cy="1301496"/>
          </a:xfrm>
        </p:grpSpPr>
        <p:sp>
          <p:nvSpPr>
            <p:cNvPr name="Freeform 20" id="20"/>
            <p:cNvSpPr/>
            <p:nvPr/>
          </p:nvSpPr>
          <p:spPr>
            <a:xfrm flipH="false" flipV="false" rot="0">
              <a:off x="0" y="0"/>
              <a:ext cx="5669280" cy="1301496"/>
            </a:xfrm>
            <a:custGeom>
              <a:avLst/>
              <a:gdLst/>
              <a:ahLst/>
              <a:cxnLst/>
              <a:rect r="r" b="b" t="t" l="l"/>
              <a:pathLst>
                <a:path h="1301496" w="5669280">
                  <a:moveTo>
                    <a:pt x="0" y="0"/>
                  </a:moveTo>
                  <a:lnTo>
                    <a:pt x="5669280" y="0"/>
                  </a:lnTo>
                  <a:lnTo>
                    <a:pt x="5669280" y="1301496"/>
                  </a:lnTo>
                  <a:lnTo>
                    <a:pt x="0" y="1301496"/>
                  </a:lnTo>
                  <a:close/>
                </a:path>
              </a:pathLst>
            </a:custGeom>
            <a:blipFill>
              <a:blip r:embed="rId3">
                <a:alphaModFix amt="0"/>
              </a:blip>
              <a:stretch>
                <a:fillRect l="0" t="-52557" r="0" b="-17194"/>
              </a:stretch>
            </a:blipFill>
          </p:spPr>
        </p:sp>
        <p:sp>
          <p:nvSpPr>
            <p:cNvPr name="TextBox 21" id="21"/>
            <p:cNvSpPr txBox="true"/>
            <p:nvPr/>
          </p:nvSpPr>
          <p:spPr>
            <a:xfrm>
              <a:off x="0" y="-9525"/>
              <a:ext cx="5669280" cy="1311021"/>
            </a:xfrm>
            <a:prstGeom prst="rect">
              <a:avLst/>
            </a:prstGeom>
          </p:spPr>
          <p:txBody>
            <a:bodyPr anchor="ctr" rtlCol="false" tIns="0" lIns="0" bIns="0" rIns="0"/>
            <a:lstStyle/>
            <a:p>
              <a:pPr algn="l">
                <a:lnSpc>
                  <a:spcPts val="3329"/>
                </a:lnSpc>
              </a:pPr>
              <a:r>
                <a:rPr lang="en-US" sz="2775" b="true">
                  <a:solidFill>
                    <a:srgbClr val="20201E"/>
                  </a:solidFill>
                  <a:latin typeface="Georgia Bold"/>
                  <a:ea typeface="Georgia Bold"/>
                  <a:cs typeface="Georgia Bold"/>
                  <a:sym typeface="Georgia Bold"/>
                </a:rPr>
                <a:t>Marriage shifted to older ages</a:t>
              </a:r>
            </a:p>
          </p:txBody>
        </p:sp>
      </p:grpSp>
      <p:grpSp>
        <p:nvGrpSpPr>
          <p:cNvPr name="Group 22" id="22"/>
          <p:cNvGrpSpPr/>
          <p:nvPr/>
        </p:nvGrpSpPr>
        <p:grpSpPr>
          <a:xfrm rot="0">
            <a:off x="1261872" y="4471416"/>
            <a:ext cx="3291840" cy="246888"/>
            <a:chOff x="0" y="0"/>
            <a:chExt cx="4389120" cy="329184"/>
          </a:xfrm>
        </p:grpSpPr>
        <p:sp>
          <p:nvSpPr>
            <p:cNvPr name="Freeform 23" id="23"/>
            <p:cNvSpPr/>
            <p:nvPr/>
          </p:nvSpPr>
          <p:spPr>
            <a:xfrm flipH="false" flipV="false" rot="0">
              <a:off x="0" y="0"/>
              <a:ext cx="4389120" cy="329184"/>
            </a:xfrm>
            <a:custGeom>
              <a:avLst/>
              <a:gdLst/>
              <a:ahLst/>
              <a:cxnLst/>
              <a:rect r="r" b="b" t="t" l="l"/>
              <a:pathLst>
                <a:path h="329184" w="4389120">
                  <a:moveTo>
                    <a:pt x="0" y="0"/>
                  </a:moveTo>
                  <a:lnTo>
                    <a:pt x="4389120" y="0"/>
                  </a:lnTo>
                  <a:lnTo>
                    <a:pt x="4389120" y="329184"/>
                  </a:lnTo>
                  <a:lnTo>
                    <a:pt x="0" y="329184"/>
                  </a:lnTo>
                  <a:close/>
                </a:path>
              </a:pathLst>
            </a:custGeom>
            <a:blipFill>
              <a:blip r:embed="rId3">
                <a:alphaModFix amt="0"/>
              </a:blip>
              <a:stretch>
                <a:fillRect l="0" t="-209800" r="0" b="-209800"/>
              </a:stretch>
            </a:blipFill>
          </p:spPr>
        </p:sp>
        <p:sp>
          <p:nvSpPr>
            <p:cNvPr name="TextBox 24" id="24"/>
            <p:cNvSpPr txBox="true"/>
            <p:nvPr/>
          </p:nvSpPr>
          <p:spPr>
            <a:xfrm>
              <a:off x="0" y="0"/>
              <a:ext cx="4389120" cy="329184"/>
            </a:xfrm>
            <a:prstGeom prst="rect">
              <a:avLst/>
            </a:prstGeom>
          </p:spPr>
          <p:txBody>
            <a:bodyPr anchor="ctr" rtlCol="false" tIns="0" lIns="0" bIns="0" rIns="0"/>
            <a:lstStyle/>
            <a:p>
              <a:pPr algn="l">
                <a:lnSpc>
                  <a:spcPts val="1836"/>
                </a:lnSpc>
              </a:pPr>
              <a:r>
                <a:rPr lang="en-US" sz="1530">
                  <a:solidFill>
                    <a:srgbClr val="74736F"/>
                  </a:solidFill>
                  <a:latin typeface="Aptos"/>
                  <a:ea typeface="Aptos"/>
                  <a:cs typeface="Aptos"/>
                  <a:sym typeface="Aptos"/>
                </a:rPr>
                <a:t>Peak marriage-rate group</a:t>
              </a:r>
            </a:p>
          </p:txBody>
        </p:sp>
      </p:grpSp>
      <p:grpSp>
        <p:nvGrpSpPr>
          <p:cNvPr name="Group 25" id="25"/>
          <p:cNvGrpSpPr/>
          <p:nvPr/>
        </p:nvGrpSpPr>
        <p:grpSpPr>
          <a:xfrm rot="0">
            <a:off x="1261872" y="4869180"/>
            <a:ext cx="4046220" cy="438912"/>
            <a:chOff x="0" y="0"/>
            <a:chExt cx="5394960" cy="585216"/>
          </a:xfrm>
        </p:grpSpPr>
        <p:sp>
          <p:nvSpPr>
            <p:cNvPr name="Freeform 26" id="26"/>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3">
                <a:alphaModFix amt="0"/>
              </a:blip>
              <a:stretch>
                <a:fillRect l="0" t="-129627" r="0" b="-129627"/>
              </a:stretch>
            </a:blipFill>
          </p:spPr>
        </p:sp>
        <p:sp>
          <p:nvSpPr>
            <p:cNvPr name="TextBox 27" id="27"/>
            <p:cNvSpPr txBox="true"/>
            <p:nvPr/>
          </p:nvSpPr>
          <p:spPr>
            <a:xfrm>
              <a:off x="0" y="9525"/>
              <a:ext cx="5394960" cy="575691"/>
            </a:xfrm>
            <a:prstGeom prst="rect">
              <a:avLst/>
            </a:prstGeom>
          </p:spPr>
          <p:txBody>
            <a:bodyPr anchor="ctr" rtlCol="false" tIns="0" lIns="0" bIns="0" rIns="0"/>
            <a:lstStyle/>
            <a:p>
              <a:pPr algn="l">
                <a:lnSpc>
                  <a:spcPts val="3869"/>
                </a:lnSpc>
              </a:pPr>
              <a:r>
                <a:rPr lang="en-US" sz="3225" b="true">
                  <a:solidFill>
                    <a:srgbClr val="5B46B2"/>
                  </a:solidFill>
                  <a:latin typeface="Aptos Bold"/>
                  <a:ea typeface="Aptos Bold"/>
                  <a:cs typeface="Aptos Bold"/>
                  <a:sym typeface="Aptos Bold"/>
                </a:rPr>
                <a:t>25–29  →  30–34</a:t>
              </a:r>
            </a:p>
          </p:txBody>
        </p:sp>
      </p:grpSp>
      <p:grpSp>
        <p:nvGrpSpPr>
          <p:cNvPr name="Group 28" id="28"/>
          <p:cNvGrpSpPr/>
          <p:nvPr/>
        </p:nvGrpSpPr>
        <p:grpSpPr>
          <a:xfrm rot="0">
            <a:off x="1261872" y="5596128"/>
            <a:ext cx="4320540" cy="932688"/>
            <a:chOff x="0" y="0"/>
            <a:chExt cx="5760720" cy="1243584"/>
          </a:xfrm>
        </p:grpSpPr>
        <p:sp>
          <p:nvSpPr>
            <p:cNvPr name="Freeform 29" id="29"/>
            <p:cNvSpPr/>
            <p:nvPr/>
          </p:nvSpPr>
          <p:spPr>
            <a:xfrm flipH="false" flipV="false" rot="0">
              <a:off x="0" y="0"/>
              <a:ext cx="5760720" cy="1243584"/>
            </a:xfrm>
            <a:custGeom>
              <a:avLst/>
              <a:gdLst/>
              <a:ahLst/>
              <a:cxnLst/>
              <a:rect r="r" b="b" t="t" l="l"/>
              <a:pathLst>
                <a:path h="1243584" w="5760720">
                  <a:moveTo>
                    <a:pt x="0" y="0"/>
                  </a:moveTo>
                  <a:lnTo>
                    <a:pt x="5760720" y="0"/>
                  </a:lnTo>
                  <a:lnTo>
                    <a:pt x="5760720" y="1243584"/>
                  </a:lnTo>
                  <a:lnTo>
                    <a:pt x="0" y="1243584"/>
                  </a:lnTo>
                  <a:close/>
                </a:path>
              </a:pathLst>
            </a:custGeom>
            <a:blipFill>
              <a:blip r:embed="rId3">
                <a:alphaModFix amt="0"/>
              </a:blip>
              <a:stretch>
                <a:fillRect l="0" t="-40261" r="0" b="-40261"/>
              </a:stretch>
            </a:blipFill>
          </p:spPr>
        </p:sp>
        <p:sp>
          <p:nvSpPr>
            <p:cNvPr name="TextBox 30" id="30"/>
            <p:cNvSpPr txBox="true"/>
            <p:nvPr/>
          </p:nvSpPr>
          <p:spPr>
            <a:xfrm>
              <a:off x="0" y="0"/>
              <a:ext cx="5760720" cy="1243584"/>
            </a:xfrm>
            <a:prstGeom prst="rect">
              <a:avLst/>
            </a:prstGeom>
          </p:spPr>
          <p:txBody>
            <a:bodyPr anchor="ctr" rtlCol="false" tIns="0" lIns="0" bIns="0" rIns="0"/>
            <a:lstStyle/>
            <a:p>
              <a:pPr algn="l">
                <a:lnSpc>
                  <a:spcPts val="1997"/>
                </a:lnSpc>
              </a:pPr>
              <a:r>
                <a:rPr lang="en-US" sz="1664">
                  <a:solidFill>
                    <a:srgbClr val="20201E"/>
                  </a:solidFill>
                  <a:latin typeface="Aptos"/>
                  <a:ea typeface="Aptos"/>
                  <a:cs typeface="Aptos"/>
                  <a:sym typeface="Aptos"/>
                </a:rPr>
                <a:t>From 2018 onward, age 30–34 is consistently the peak group.</a:t>
              </a:r>
            </a:p>
          </p:txBody>
        </p:sp>
      </p:grpSp>
      <p:grpSp>
        <p:nvGrpSpPr>
          <p:cNvPr name="Group 31" id="31"/>
          <p:cNvGrpSpPr/>
          <p:nvPr/>
        </p:nvGrpSpPr>
        <p:grpSpPr>
          <a:xfrm rot="0">
            <a:off x="6821043" y="2953131"/>
            <a:ext cx="1939290" cy="430530"/>
            <a:chOff x="0" y="0"/>
            <a:chExt cx="2585720" cy="574040"/>
          </a:xfrm>
        </p:grpSpPr>
        <p:sp>
          <p:nvSpPr>
            <p:cNvPr name="Freeform 32" id="32"/>
            <p:cNvSpPr/>
            <p:nvPr/>
          </p:nvSpPr>
          <p:spPr>
            <a:xfrm flipH="false" flipV="false" rot="0">
              <a:off x="0" y="0"/>
              <a:ext cx="2585720" cy="574040"/>
            </a:xfrm>
            <a:custGeom>
              <a:avLst/>
              <a:gdLst/>
              <a:ahLst/>
              <a:cxnLst/>
              <a:rect r="r" b="b" t="t" l="l"/>
              <a:pathLst>
                <a:path h="574040" w="2585720">
                  <a:moveTo>
                    <a:pt x="0" y="153035"/>
                  </a:moveTo>
                  <a:cubicBezTo>
                    <a:pt x="0" y="68580"/>
                    <a:pt x="68580" y="0"/>
                    <a:pt x="153035" y="0"/>
                  </a:cubicBezTo>
                  <a:lnTo>
                    <a:pt x="2432685" y="0"/>
                  </a:lnTo>
                  <a:cubicBezTo>
                    <a:pt x="2517267" y="0"/>
                    <a:pt x="2585720" y="68580"/>
                    <a:pt x="2585720" y="153035"/>
                  </a:cubicBezTo>
                  <a:lnTo>
                    <a:pt x="2585720" y="421005"/>
                  </a:lnTo>
                  <a:cubicBezTo>
                    <a:pt x="2585720" y="505587"/>
                    <a:pt x="2517140" y="574040"/>
                    <a:pt x="2432685" y="574040"/>
                  </a:cubicBezTo>
                  <a:lnTo>
                    <a:pt x="153035" y="574040"/>
                  </a:lnTo>
                  <a:cubicBezTo>
                    <a:pt x="68580" y="574040"/>
                    <a:pt x="0" y="505460"/>
                    <a:pt x="0" y="421005"/>
                  </a:cubicBezTo>
                  <a:close/>
                </a:path>
              </a:pathLst>
            </a:custGeom>
            <a:solidFill>
              <a:srgbClr val="EEF4FB"/>
            </a:solidFill>
            <a:ln w="19050" cap="sq">
              <a:solidFill>
                <a:srgbClr val="EEF4FB"/>
              </a:solidFill>
              <a:prstDash val="solid"/>
              <a:miter/>
            </a:ln>
          </p:spPr>
        </p:sp>
      </p:grpSp>
      <p:grpSp>
        <p:nvGrpSpPr>
          <p:cNvPr name="Group 33" id="33"/>
          <p:cNvGrpSpPr/>
          <p:nvPr/>
        </p:nvGrpSpPr>
        <p:grpSpPr>
          <a:xfrm rot="0">
            <a:off x="6940296" y="3072384"/>
            <a:ext cx="1673352" cy="192024"/>
            <a:chOff x="0" y="0"/>
            <a:chExt cx="2231136" cy="256032"/>
          </a:xfrm>
        </p:grpSpPr>
        <p:sp>
          <p:nvSpPr>
            <p:cNvPr name="Freeform 34" id="34"/>
            <p:cNvSpPr/>
            <p:nvPr/>
          </p:nvSpPr>
          <p:spPr>
            <a:xfrm flipH="false" flipV="false" rot="0">
              <a:off x="0" y="0"/>
              <a:ext cx="2231136" cy="256032"/>
            </a:xfrm>
            <a:custGeom>
              <a:avLst/>
              <a:gdLst/>
              <a:ahLst/>
              <a:cxnLst/>
              <a:rect r="r" b="b" t="t" l="l"/>
              <a:pathLst>
                <a:path h="256032" w="2231136">
                  <a:moveTo>
                    <a:pt x="0" y="0"/>
                  </a:moveTo>
                  <a:lnTo>
                    <a:pt x="2231136" y="0"/>
                  </a:lnTo>
                  <a:lnTo>
                    <a:pt x="2231136" y="256032"/>
                  </a:lnTo>
                  <a:lnTo>
                    <a:pt x="0" y="256032"/>
                  </a:lnTo>
                  <a:close/>
                </a:path>
              </a:pathLst>
            </a:custGeom>
            <a:blipFill>
              <a:blip r:embed="rId3">
                <a:alphaModFix amt="0"/>
              </a:blip>
              <a:stretch>
                <a:fillRect l="0" t="-119798" r="0" b="-119798"/>
              </a:stretch>
            </a:blipFill>
          </p:spPr>
        </p:sp>
        <p:sp>
          <p:nvSpPr>
            <p:cNvPr name="TextBox 35" id="35"/>
            <p:cNvSpPr txBox="true"/>
            <p:nvPr/>
          </p:nvSpPr>
          <p:spPr>
            <a:xfrm>
              <a:off x="0" y="-9525"/>
              <a:ext cx="2231136" cy="265557"/>
            </a:xfrm>
            <a:prstGeom prst="rect">
              <a:avLst/>
            </a:prstGeom>
          </p:spPr>
          <p:txBody>
            <a:bodyPr anchor="ctr" rtlCol="false" tIns="0" lIns="0" bIns="0" rIns="0"/>
            <a:lstStyle/>
            <a:p>
              <a:pPr algn="ctr">
                <a:lnSpc>
                  <a:spcPts val="1620"/>
                </a:lnSpc>
              </a:pPr>
              <a:r>
                <a:rPr lang="en-US" sz="1350" b="true">
                  <a:solidFill>
                    <a:srgbClr val="2A78D6"/>
                  </a:solidFill>
                  <a:latin typeface="Aptos Bold"/>
                  <a:ea typeface="Aptos Bold"/>
                  <a:cs typeface="Aptos Bold"/>
                  <a:sym typeface="Aptos Bold"/>
                </a:rPr>
                <a:t>2 · ASSOCIATION</a:t>
              </a:r>
            </a:p>
          </p:txBody>
        </p:sp>
      </p:grpSp>
      <p:grpSp>
        <p:nvGrpSpPr>
          <p:cNvPr name="Group 36" id="36"/>
          <p:cNvGrpSpPr/>
          <p:nvPr/>
        </p:nvGrpSpPr>
        <p:grpSpPr>
          <a:xfrm rot="0">
            <a:off x="6858000" y="3607308"/>
            <a:ext cx="4389120" cy="685800"/>
            <a:chOff x="0" y="0"/>
            <a:chExt cx="5852160" cy="914400"/>
          </a:xfrm>
        </p:grpSpPr>
        <p:sp>
          <p:nvSpPr>
            <p:cNvPr name="Freeform 37" id="37"/>
            <p:cNvSpPr/>
            <p:nvPr/>
          </p:nvSpPr>
          <p:spPr>
            <a:xfrm flipH="false" flipV="false" rot="0">
              <a:off x="0" y="0"/>
              <a:ext cx="5852160" cy="914400"/>
            </a:xfrm>
            <a:custGeom>
              <a:avLst/>
              <a:gdLst/>
              <a:ahLst/>
              <a:cxnLst/>
              <a:rect r="r" b="b" t="t" l="l"/>
              <a:pathLst>
                <a:path h="914400" w="5852160">
                  <a:moveTo>
                    <a:pt x="0" y="0"/>
                  </a:moveTo>
                  <a:lnTo>
                    <a:pt x="5852160" y="0"/>
                  </a:lnTo>
                  <a:lnTo>
                    <a:pt x="5852160" y="914400"/>
                  </a:lnTo>
                  <a:lnTo>
                    <a:pt x="0" y="914400"/>
                  </a:lnTo>
                  <a:close/>
                </a:path>
              </a:pathLst>
            </a:custGeom>
            <a:blipFill>
              <a:blip r:embed="rId3">
                <a:alphaModFix amt="0"/>
              </a:blip>
              <a:stretch>
                <a:fillRect l="0" t="-74704" r="0" b="-74704"/>
              </a:stretch>
            </a:blipFill>
          </p:spPr>
        </p:sp>
        <p:sp>
          <p:nvSpPr>
            <p:cNvPr name="TextBox 38" id="38"/>
            <p:cNvSpPr txBox="true"/>
            <p:nvPr/>
          </p:nvSpPr>
          <p:spPr>
            <a:xfrm>
              <a:off x="0" y="-19050"/>
              <a:ext cx="5852160" cy="933450"/>
            </a:xfrm>
            <a:prstGeom prst="rect">
              <a:avLst/>
            </a:prstGeom>
          </p:spPr>
          <p:txBody>
            <a:bodyPr anchor="ctr" rtlCol="false" tIns="0" lIns="0" bIns="0" rIns="0"/>
            <a:lstStyle/>
            <a:p>
              <a:pPr algn="l">
                <a:lnSpc>
                  <a:spcPts val="3204"/>
                </a:lnSpc>
              </a:pPr>
              <a:r>
                <a:rPr lang="en-US" sz="2670" b="true">
                  <a:solidFill>
                    <a:srgbClr val="20201E"/>
                  </a:solidFill>
                  <a:latin typeface="Georgia Bold"/>
                  <a:ea typeface="Georgia Bold"/>
                  <a:cs typeface="Georgia Bold"/>
                  <a:sym typeface="Georgia Bold"/>
                </a:rPr>
                <a:t>Later family formation tracks lower TFR</a:t>
              </a:r>
            </a:p>
          </p:txBody>
        </p:sp>
      </p:grpSp>
      <p:grpSp>
        <p:nvGrpSpPr>
          <p:cNvPr name="Group 39" id="39"/>
          <p:cNvGrpSpPr/>
          <p:nvPr/>
        </p:nvGrpSpPr>
        <p:grpSpPr>
          <a:xfrm rot="0">
            <a:off x="6858000" y="4498848"/>
            <a:ext cx="3429000" cy="246888"/>
            <a:chOff x="0" y="0"/>
            <a:chExt cx="4572000" cy="329184"/>
          </a:xfrm>
        </p:grpSpPr>
        <p:sp>
          <p:nvSpPr>
            <p:cNvPr name="Freeform 40" id="40"/>
            <p:cNvSpPr/>
            <p:nvPr/>
          </p:nvSpPr>
          <p:spPr>
            <a:xfrm flipH="false" flipV="false" rot="0">
              <a:off x="0" y="0"/>
              <a:ext cx="4572000" cy="329184"/>
            </a:xfrm>
            <a:custGeom>
              <a:avLst/>
              <a:gdLst/>
              <a:ahLst/>
              <a:cxnLst/>
              <a:rect r="r" b="b" t="t" l="l"/>
              <a:pathLst>
                <a:path h="329184" w="4572000">
                  <a:moveTo>
                    <a:pt x="0" y="0"/>
                  </a:moveTo>
                  <a:lnTo>
                    <a:pt x="4572000" y="0"/>
                  </a:lnTo>
                  <a:lnTo>
                    <a:pt x="4572000" y="329184"/>
                  </a:lnTo>
                  <a:lnTo>
                    <a:pt x="0" y="329184"/>
                  </a:lnTo>
                  <a:close/>
                </a:path>
              </a:pathLst>
            </a:custGeom>
            <a:blipFill>
              <a:blip r:embed="rId3">
                <a:alphaModFix amt="0"/>
              </a:blip>
              <a:stretch>
                <a:fillRect l="0" t="-220625" r="0" b="-220625"/>
              </a:stretch>
            </a:blipFill>
          </p:spPr>
        </p:sp>
        <p:sp>
          <p:nvSpPr>
            <p:cNvPr name="TextBox 41" id="41"/>
            <p:cNvSpPr txBox="true"/>
            <p:nvPr/>
          </p:nvSpPr>
          <p:spPr>
            <a:xfrm>
              <a:off x="0" y="0"/>
              <a:ext cx="4572000" cy="329184"/>
            </a:xfrm>
            <a:prstGeom prst="rect">
              <a:avLst/>
            </a:prstGeom>
          </p:spPr>
          <p:txBody>
            <a:bodyPr anchor="ctr" rtlCol="false" tIns="0" lIns="0" bIns="0" rIns="0"/>
            <a:lstStyle/>
            <a:p>
              <a:pPr algn="l">
                <a:lnSpc>
                  <a:spcPts val="1836"/>
                </a:lnSpc>
              </a:pPr>
              <a:r>
                <a:rPr lang="en-US" sz="1530">
                  <a:solidFill>
                    <a:srgbClr val="74736F"/>
                  </a:solidFill>
                  <a:latin typeface="Aptos"/>
                  <a:ea typeface="Aptos"/>
                  <a:cs typeface="Aptos"/>
                  <a:sym typeface="Aptos"/>
                </a:rPr>
                <a:t>Median age at first birth</a:t>
              </a:r>
            </a:p>
          </p:txBody>
        </p:sp>
      </p:grpSp>
      <p:grpSp>
        <p:nvGrpSpPr>
          <p:cNvPr name="Group 42" id="42"/>
          <p:cNvGrpSpPr/>
          <p:nvPr/>
        </p:nvGrpSpPr>
        <p:grpSpPr>
          <a:xfrm rot="0">
            <a:off x="6858000" y="4882896"/>
            <a:ext cx="3771900" cy="384048"/>
            <a:chOff x="0" y="0"/>
            <a:chExt cx="5029200" cy="512064"/>
          </a:xfrm>
        </p:grpSpPr>
        <p:sp>
          <p:nvSpPr>
            <p:cNvPr name="Freeform 43" id="43"/>
            <p:cNvSpPr/>
            <p:nvPr/>
          </p:nvSpPr>
          <p:spPr>
            <a:xfrm flipH="false" flipV="false" rot="0">
              <a:off x="0" y="0"/>
              <a:ext cx="5029200" cy="512064"/>
            </a:xfrm>
            <a:custGeom>
              <a:avLst/>
              <a:gdLst/>
              <a:ahLst/>
              <a:cxnLst/>
              <a:rect r="r" b="b" t="t" l="l"/>
              <a:pathLst>
                <a:path h="512064" w="5029200">
                  <a:moveTo>
                    <a:pt x="0" y="0"/>
                  </a:moveTo>
                  <a:lnTo>
                    <a:pt x="5029200" y="0"/>
                  </a:lnTo>
                  <a:lnTo>
                    <a:pt x="5029200" y="512064"/>
                  </a:lnTo>
                  <a:lnTo>
                    <a:pt x="0" y="512064"/>
                  </a:lnTo>
                  <a:close/>
                </a:path>
              </a:pathLst>
            </a:custGeom>
            <a:blipFill>
              <a:blip r:embed="rId3">
                <a:alphaModFix amt="0"/>
              </a:blip>
              <a:stretch>
                <a:fillRect l="0" t="-141370" r="0" b="-141370"/>
              </a:stretch>
            </a:blipFill>
          </p:spPr>
        </p:sp>
        <p:sp>
          <p:nvSpPr>
            <p:cNvPr name="TextBox 44" id="44"/>
            <p:cNvSpPr txBox="true"/>
            <p:nvPr/>
          </p:nvSpPr>
          <p:spPr>
            <a:xfrm>
              <a:off x="0" y="0"/>
              <a:ext cx="5029200" cy="512064"/>
            </a:xfrm>
            <a:prstGeom prst="rect">
              <a:avLst/>
            </a:prstGeom>
          </p:spPr>
          <p:txBody>
            <a:bodyPr anchor="ctr" rtlCol="false" tIns="0" lIns="0" bIns="0" rIns="0"/>
            <a:lstStyle/>
            <a:p>
              <a:pPr algn="l">
                <a:lnSpc>
                  <a:spcPts val="3690"/>
                </a:lnSpc>
              </a:pPr>
              <a:r>
                <a:rPr lang="en-US" sz="3075" b="true">
                  <a:solidFill>
                    <a:srgbClr val="2A78D6"/>
                  </a:solidFill>
                  <a:latin typeface="Aptos Bold"/>
                  <a:ea typeface="Aptos Bold"/>
                  <a:cs typeface="Aptos Bold"/>
                  <a:sym typeface="Aptos Bold"/>
                </a:rPr>
                <a:t>30.1  →  32.2</a:t>
              </a:r>
            </a:p>
          </p:txBody>
        </p:sp>
      </p:grpSp>
      <p:grpSp>
        <p:nvGrpSpPr>
          <p:cNvPr name="Group 45" id="45"/>
          <p:cNvGrpSpPr/>
          <p:nvPr/>
        </p:nvGrpSpPr>
        <p:grpSpPr>
          <a:xfrm rot="0">
            <a:off x="6858000" y="5554980"/>
            <a:ext cx="4183380" cy="356616"/>
            <a:chOff x="0" y="0"/>
            <a:chExt cx="5577840" cy="475488"/>
          </a:xfrm>
        </p:grpSpPr>
        <p:sp>
          <p:nvSpPr>
            <p:cNvPr name="Freeform 46" id="46"/>
            <p:cNvSpPr/>
            <p:nvPr/>
          </p:nvSpPr>
          <p:spPr>
            <a:xfrm flipH="false" flipV="false" rot="0">
              <a:off x="0" y="0"/>
              <a:ext cx="5577840" cy="475488"/>
            </a:xfrm>
            <a:custGeom>
              <a:avLst/>
              <a:gdLst/>
              <a:ahLst/>
              <a:cxnLst/>
              <a:rect r="r" b="b" t="t" l="l"/>
              <a:pathLst>
                <a:path h="475488" w="5577840">
                  <a:moveTo>
                    <a:pt x="0" y="0"/>
                  </a:moveTo>
                  <a:lnTo>
                    <a:pt x="5577840" y="0"/>
                  </a:lnTo>
                  <a:lnTo>
                    <a:pt x="5577840" y="475488"/>
                  </a:lnTo>
                  <a:lnTo>
                    <a:pt x="0" y="475488"/>
                  </a:lnTo>
                  <a:close/>
                </a:path>
              </a:pathLst>
            </a:custGeom>
            <a:blipFill>
              <a:blip r:embed="rId3">
                <a:alphaModFix amt="0"/>
              </a:blip>
              <a:stretch>
                <a:fillRect l="0" t="-178574" r="0" b="-178574"/>
              </a:stretch>
            </a:blipFill>
          </p:spPr>
        </p:sp>
        <p:sp>
          <p:nvSpPr>
            <p:cNvPr name="TextBox 47" id="47"/>
            <p:cNvSpPr txBox="true"/>
            <p:nvPr/>
          </p:nvSpPr>
          <p:spPr>
            <a:xfrm>
              <a:off x="0" y="0"/>
              <a:ext cx="5577840" cy="475488"/>
            </a:xfrm>
            <a:prstGeom prst="rect">
              <a:avLst/>
            </a:prstGeom>
          </p:spPr>
          <p:txBody>
            <a:bodyPr anchor="ctr" rtlCol="false" tIns="0" lIns="0" bIns="0" rIns="0"/>
            <a:lstStyle/>
            <a:p>
              <a:pPr algn="l">
                <a:lnSpc>
                  <a:spcPts val="2340"/>
                </a:lnSpc>
              </a:pPr>
              <a:r>
                <a:rPr lang="en-US" sz="1950" b="true">
                  <a:solidFill>
                    <a:srgbClr val="20201E"/>
                  </a:solidFill>
                  <a:latin typeface="Aptos Bold"/>
                  <a:ea typeface="Aptos Bold"/>
                  <a:cs typeface="Aptos Bold"/>
                  <a:sym typeface="Aptos Bold"/>
                </a:rPr>
                <a:t>vs TFR:  r = −0.88, p &lt; .001</a:t>
              </a:r>
            </a:p>
          </p:txBody>
        </p:sp>
      </p:grpSp>
      <p:grpSp>
        <p:nvGrpSpPr>
          <p:cNvPr name="Group 48" id="48"/>
          <p:cNvGrpSpPr/>
          <p:nvPr/>
        </p:nvGrpSpPr>
        <p:grpSpPr>
          <a:xfrm rot="0">
            <a:off x="6858000" y="6062472"/>
            <a:ext cx="4251960" cy="960120"/>
            <a:chOff x="0" y="0"/>
            <a:chExt cx="5669280" cy="1280160"/>
          </a:xfrm>
        </p:grpSpPr>
        <p:sp>
          <p:nvSpPr>
            <p:cNvPr name="Freeform 49" id="49"/>
            <p:cNvSpPr/>
            <p:nvPr/>
          </p:nvSpPr>
          <p:spPr>
            <a:xfrm flipH="false" flipV="false" rot="0">
              <a:off x="0" y="0"/>
              <a:ext cx="5669280" cy="1280160"/>
            </a:xfrm>
            <a:custGeom>
              <a:avLst/>
              <a:gdLst/>
              <a:ahLst/>
              <a:cxnLst/>
              <a:rect r="r" b="b" t="t" l="l"/>
              <a:pathLst>
                <a:path h="1280160" w="5669280">
                  <a:moveTo>
                    <a:pt x="0" y="0"/>
                  </a:moveTo>
                  <a:lnTo>
                    <a:pt x="5669280" y="0"/>
                  </a:lnTo>
                  <a:lnTo>
                    <a:pt x="5669280" y="1280160"/>
                  </a:lnTo>
                  <a:lnTo>
                    <a:pt x="0" y="1280160"/>
                  </a:lnTo>
                  <a:close/>
                </a:path>
              </a:pathLst>
            </a:custGeom>
            <a:blipFill>
              <a:blip r:embed="rId3">
                <a:alphaModFix amt="0"/>
              </a:blip>
              <a:stretch>
                <a:fillRect l="0" t="-36290" r="0" b="-36290"/>
              </a:stretch>
            </a:blipFill>
          </p:spPr>
        </p:sp>
        <p:sp>
          <p:nvSpPr>
            <p:cNvPr name="TextBox 50" id="50"/>
            <p:cNvSpPr txBox="true"/>
            <p:nvPr/>
          </p:nvSpPr>
          <p:spPr>
            <a:xfrm>
              <a:off x="0" y="0"/>
              <a:ext cx="5669280" cy="1280160"/>
            </a:xfrm>
            <a:prstGeom prst="rect">
              <a:avLst/>
            </a:prstGeom>
          </p:spPr>
          <p:txBody>
            <a:bodyPr anchor="ctr" rtlCol="false" tIns="0" lIns="0" bIns="0" rIns="0"/>
            <a:lstStyle/>
            <a:p>
              <a:pPr algn="l">
                <a:lnSpc>
                  <a:spcPts val="1980"/>
                </a:lnSpc>
              </a:pPr>
              <a:r>
                <a:rPr lang="en-US" sz="1650">
                  <a:solidFill>
                    <a:srgbClr val="20201E"/>
                  </a:solidFill>
                  <a:latin typeface="Aptos"/>
                  <a:ea typeface="Aptos"/>
                  <a:cs typeface="Aptos"/>
                  <a:sym typeface="Aptos"/>
                </a:rPr>
                <a:t>Later first birth shows the clearest direct association with lower fertility.</a:t>
              </a:r>
            </a:p>
          </p:txBody>
        </p:sp>
      </p:grpSp>
      <p:grpSp>
        <p:nvGrpSpPr>
          <p:cNvPr name="Group 51" id="51"/>
          <p:cNvGrpSpPr/>
          <p:nvPr/>
        </p:nvGrpSpPr>
        <p:grpSpPr>
          <a:xfrm rot="0">
            <a:off x="12417171" y="2953131"/>
            <a:ext cx="1966722" cy="430530"/>
            <a:chOff x="0" y="0"/>
            <a:chExt cx="2622296" cy="574040"/>
          </a:xfrm>
        </p:grpSpPr>
        <p:sp>
          <p:nvSpPr>
            <p:cNvPr name="Freeform 52" id="52"/>
            <p:cNvSpPr/>
            <p:nvPr/>
          </p:nvSpPr>
          <p:spPr>
            <a:xfrm flipH="false" flipV="false" rot="0">
              <a:off x="0" y="0"/>
              <a:ext cx="2622296" cy="574040"/>
            </a:xfrm>
            <a:custGeom>
              <a:avLst/>
              <a:gdLst/>
              <a:ahLst/>
              <a:cxnLst/>
              <a:rect r="r" b="b" t="t" l="l"/>
              <a:pathLst>
                <a:path h="574040" w="2622296">
                  <a:moveTo>
                    <a:pt x="0" y="153035"/>
                  </a:moveTo>
                  <a:cubicBezTo>
                    <a:pt x="0" y="68580"/>
                    <a:pt x="68580" y="0"/>
                    <a:pt x="153035" y="0"/>
                  </a:cubicBezTo>
                  <a:lnTo>
                    <a:pt x="2469261" y="0"/>
                  </a:lnTo>
                  <a:cubicBezTo>
                    <a:pt x="2553843" y="0"/>
                    <a:pt x="2622296" y="68580"/>
                    <a:pt x="2622296" y="153035"/>
                  </a:cubicBezTo>
                  <a:lnTo>
                    <a:pt x="2622296" y="421005"/>
                  </a:lnTo>
                  <a:cubicBezTo>
                    <a:pt x="2622296" y="505587"/>
                    <a:pt x="2553716" y="574040"/>
                    <a:pt x="2469261" y="574040"/>
                  </a:cubicBezTo>
                  <a:lnTo>
                    <a:pt x="153035" y="574040"/>
                  </a:lnTo>
                  <a:cubicBezTo>
                    <a:pt x="68580" y="574040"/>
                    <a:pt x="0" y="505460"/>
                    <a:pt x="0" y="421005"/>
                  </a:cubicBezTo>
                  <a:close/>
                </a:path>
              </a:pathLst>
            </a:custGeom>
            <a:solidFill>
              <a:srgbClr val="F7F2EC"/>
            </a:solidFill>
            <a:ln w="19050" cap="sq">
              <a:solidFill>
                <a:srgbClr val="F7F2EC"/>
              </a:solidFill>
              <a:prstDash val="solid"/>
              <a:miter/>
            </a:ln>
          </p:spPr>
        </p:sp>
      </p:grpSp>
      <p:grpSp>
        <p:nvGrpSpPr>
          <p:cNvPr name="Group 53" id="53"/>
          <p:cNvGrpSpPr/>
          <p:nvPr/>
        </p:nvGrpSpPr>
        <p:grpSpPr>
          <a:xfrm rot="0">
            <a:off x="12522708" y="3072384"/>
            <a:ext cx="1741932" cy="192024"/>
            <a:chOff x="0" y="0"/>
            <a:chExt cx="2322576" cy="256032"/>
          </a:xfrm>
        </p:grpSpPr>
        <p:sp>
          <p:nvSpPr>
            <p:cNvPr name="Freeform 54" id="54"/>
            <p:cNvSpPr/>
            <p:nvPr/>
          </p:nvSpPr>
          <p:spPr>
            <a:xfrm flipH="false" flipV="false" rot="0">
              <a:off x="0" y="0"/>
              <a:ext cx="2322576" cy="256032"/>
            </a:xfrm>
            <a:custGeom>
              <a:avLst/>
              <a:gdLst/>
              <a:ahLst/>
              <a:cxnLst/>
              <a:rect r="r" b="b" t="t" l="l"/>
              <a:pathLst>
                <a:path h="256032" w="2322576">
                  <a:moveTo>
                    <a:pt x="0" y="0"/>
                  </a:moveTo>
                  <a:lnTo>
                    <a:pt x="2322576" y="0"/>
                  </a:lnTo>
                  <a:lnTo>
                    <a:pt x="2322576" y="256032"/>
                  </a:lnTo>
                  <a:lnTo>
                    <a:pt x="0" y="256032"/>
                  </a:lnTo>
                  <a:close/>
                </a:path>
              </a:pathLst>
            </a:custGeom>
            <a:blipFill>
              <a:blip r:embed="rId3">
                <a:alphaModFix amt="0"/>
              </a:blip>
              <a:stretch>
                <a:fillRect l="0" t="-126757" r="0" b="-126757"/>
              </a:stretch>
            </a:blipFill>
          </p:spPr>
        </p:sp>
        <p:sp>
          <p:nvSpPr>
            <p:cNvPr name="TextBox 55" id="55"/>
            <p:cNvSpPr txBox="true"/>
            <p:nvPr/>
          </p:nvSpPr>
          <p:spPr>
            <a:xfrm>
              <a:off x="0" y="-9525"/>
              <a:ext cx="2322576" cy="265557"/>
            </a:xfrm>
            <a:prstGeom prst="rect">
              <a:avLst/>
            </a:prstGeom>
          </p:spPr>
          <p:txBody>
            <a:bodyPr anchor="ctr" rtlCol="false" tIns="0" lIns="0" bIns="0" rIns="0"/>
            <a:lstStyle/>
            <a:p>
              <a:pPr algn="ctr">
                <a:lnSpc>
                  <a:spcPts val="1602"/>
                </a:lnSpc>
              </a:pPr>
              <a:r>
                <a:rPr lang="en-US" sz="1335" b="true">
                  <a:solidFill>
                    <a:srgbClr val="F07C43"/>
                  </a:solidFill>
                  <a:latin typeface="Aptos Bold"/>
                  <a:ea typeface="Aptos Bold"/>
                  <a:cs typeface="Aptos Bold"/>
                  <a:sym typeface="Aptos Bold"/>
                </a:rPr>
                <a:t>3 · ROBUSTNESS</a:t>
              </a:r>
            </a:p>
          </p:txBody>
        </p:sp>
      </p:grpSp>
      <p:grpSp>
        <p:nvGrpSpPr>
          <p:cNvPr name="Group 56" id="56"/>
          <p:cNvGrpSpPr/>
          <p:nvPr/>
        </p:nvGrpSpPr>
        <p:grpSpPr>
          <a:xfrm rot="0">
            <a:off x="12508992" y="3483864"/>
            <a:ext cx="4361688" cy="1275588"/>
            <a:chOff x="0" y="0"/>
            <a:chExt cx="5815584" cy="1700784"/>
          </a:xfrm>
        </p:grpSpPr>
        <p:sp>
          <p:nvSpPr>
            <p:cNvPr name="Freeform 57" id="57"/>
            <p:cNvSpPr/>
            <p:nvPr/>
          </p:nvSpPr>
          <p:spPr>
            <a:xfrm flipH="false" flipV="false" rot="0">
              <a:off x="0" y="0"/>
              <a:ext cx="5815584" cy="1700784"/>
            </a:xfrm>
            <a:custGeom>
              <a:avLst/>
              <a:gdLst/>
              <a:ahLst/>
              <a:cxnLst/>
              <a:rect r="r" b="b" t="t" l="l"/>
              <a:pathLst>
                <a:path h="1700784" w="5815584">
                  <a:moveTo>
                    <a:pt x="0" y="0"/>
                  </a:moveTo>
                  <a:lnTo>
                    <a:pt x="5815584" y="0"/>
                  </a:lnTo>
                  <a:lnTo>
                    <a:pt x="5815584" y="1700784"/>
                  </a:lnTo>
                  <a:lnTo>
                    <a:pt x="0" y="1700784"/>
                  </a:lnTo>
                  <a:close/>
                </a:path>
              </a:pathLst>
            </a:custGeom>
            <a:blipFill>
              <a:blip r:embed="rId3">
                <a:alphaModFix amt="0"/>
              </a:blip>
              <a:stretch>
                <a:fillRect l="0" t="-35443" r="0" b="2190"/>
              </a:stretch>
            </a:blipFill>
          </p:spPr>
        </p:sp>
        <p:sp>
          <p:nvSpPr>
            <p:cNvPr name="TextBox 58" id="58"/>
            <p:cNvSpPr txBox="true"/>
            <p:nvPr/>
          </p:nvSpPr>
          <p:spPr>
            <a:xfrm>
              <a:off x="0" y="-19050"/>
              <a:ext cx="5815584" cy="1719834"/>
            </a:xfrm>
            <a:prstGeom prst="rect">
              <a:avLst/>
            </a:prstGeom>
          </p:spPr>
          <p:txBody>
            <a:bodyPr anchor="ctr" rtlCol="false" tIns="0" lIns="0" bIns="0" rIns="0"/>
            <a:lstStyle/>
            <a:p>
              <a:pPr algn="l">
                <a:lnSpc>
                  <a:spcPts val="3131"/>
                </a:lnSpc>
              </a:pPr>
              <a:r>
                <a:rPr lang="en-US" sz="2610" b="true">
                  <a:solidFill>
                    <a:srgbClr val="20201E"/>
                  </a:solidFill>
                  <a:latin typeface="Georgia Bold"/>
                  <a:ea typeface="Georgia Bold"/>
                  <a:cs typeface="Georgia Bold"/>
                  <a:sym typeface="Georgia Bold"/>
                </a:rPr>
                <a:t>The long-run shift matters more than the raw rate</a:t>
              </a:r>
            </a:p>
          </p:txBody>
        </p:sp>
      </p:grpSp>
      <p:grpSp>
        <p:nvGrpSpPr>
          <p:cNvPr name="Group 59" id="59"/>
          <p:cNvGrpSpPr/>
          <p:nvPr/>
        </p:nvGrpSpPr>
        <p:grpSpPr>
          <a:xfrm rot="0">
            <a:off x="12454128" y="4622292"/>
            <a:ext cx="3977640" cy="274320"/>
            <a:chOff x="0" y="0"/>
            <a:chExt cx="5303520" cy="365760"/>
          </a:xfrm>
        </p:grpSpPr>
        <p:sp>
          <p:nvSpPr>
            <p:cNvPr name="Freeform 60" id="60"/>
            <p:cNvSpPr/>
            <p:nvPr/>
          </p:nvSpPr>
          <p:spPr>
            <a:xfrm flipH="false" flipV="false" rot="0">
              <a:off x="0" y="0"/>
              <a:ext cx="5303520" cy="365760"/>
            </a:xfrm>
            <a:custGeom>
              <a:avLst/>
              <a:gdLst/>
              <a:ahLst/>
              <a:cxnLst/>
              <a:rect r="r" b="b" t="t" l="l"/>
              <a:pathLst>
                <a:path h="365760" w="5303520">
                  <a:moveTo>
                    <a:pt x="0" y="0"/>
                  </a:moveTo>
                  <a:lnTo>
                    <a:pt x="5303520" y="0"/>
                  </a:lnTo>
                  <a:lnTo>
                    <a:pt x="5303520" y="365760"/>
                  </a:lnTo>
                  <a:lnTo>
                    <a:pt x="0" y="365760"/>
                  </a:lnTo>
                  <a:close/>
                </a:path>
              </a:pathLst>
            </a:custGeom>
            <a:blipFill>
              <a:blip r:embed="rId3">
                <a:alphaModFix amt="0"/>
              </a:blip>
              <a:stretch>
                <a:fillRect l="0" t="-232533" r="0" b="-232533"/>
              </a:stretch>
            </a:blipFill>
          </p:spPr>
        </p:sp>
        <p:sp>
          <p:nvSpPr>
            <p:cNvPr name="TextBox 61" id="61"/>
            <p:cNvSpPr txBox="true"/>
            <p:nvPr/>
          </p:nvSpPr>
          <p:spPr>
            <a:xfrm>
              <a:off x="0" y="0"/>
              <a:ext cx="5303520" cy="365760"/>
            </a:xfrm>
            <a:prstGeom prst="rect">
              <a:avLst/>
            </a:prstGeom>
          </p:spPr>
          <p:txBody>
            <a:bodyPr anchor="ctr" rtlCol="false" tIns="0" lIns="0" bIns="0" rIns="0"/>
            <a:lstStyle/>
            <a:p>
              <a:pPr algn="l">
                <a:lnSpc>
                  <a:spcPts val="1854"/>
                </a:lnSpc>
              </a:pPr>
              <a:r>
                <a:rPr lang="en-US" sz="1545">
                  <a:solidFill>
                    <a:srgbClr val="74736F"/>
                  </a:solidFill>
                  <a:latin typeface="Aptos"/>
                  <a:ea typeface="Aptos"/>
                  <a:cs typeface="Aptos"/>
                  <a:sym typeface="Aptos"/>
                </a:rPr>
                <a:t>Shift index: 30–34 ÷ 25–29</a:t>
              </a:r>
            </a:p>
          </p:txBody>
        </p:sp>
      </p:grpSp>
      <p:grpSp>
        <p:nvGrpSpPr>
          <p:cNvPr name="Group 62" id="62"/>
          <p:cNvGrpSpPr/>
          <p:nvPr/>
        </p:nvGrpSpPr>
        <p:grpSpPr>
          <a:xfrm rot="0">
            <a:off x="12454128" y="4992624"/>
            <a:ext cx="3840480" cy="384048"/>
            <a:chOff x="0" y="0"/>
            <a:chExt cx="5120640" cy="512064"/>
          </a:xfrm>
        </p:grpSpPr>
        <p:sp>
          <p:nvSpPr>
            <p:cNvPr name="Freeform 63" id="63"/>
            <p:cNvSpPr/>
            <p:nvPr/>
          </p:nvSpPr>
          <p:spPr>
            <a:xfrm flipH="false" flipV="false" rot="0">
              <a:off x="0" y="0"/>
              <a:ext cx="5120640" cy="512064"/>
            </a:xfrm>
            <a:custGeom>
              <a:avLst/>
              <a:gdLst/>
              <a:ahLst/>
              <a:cxnLst/>
              <a:rect r="r" b="b" t="t" l="l"/>
              <a:pathLst>
                <a:path h="512064" w="5120640">
                  <a:moveTo>
                    <a:pt x="0" y="0"/>
                  </a:moveTo>
                  <a:lnTo>
                    <a:pt x="5120640" y="0"/>
                  </a:lnTo>
                  <a:lnTo>
                    <a:pt x="5120640" y="512064"/>
                  </a:lnTo>
                  <a:lnTo>
                    <a:pt x="0" y="512064"/>
                  </a:lnTo>
                  <a:close/>
                </a:path>
              </a:pathLst>
            </a:custGeom>
            <a:blipFill>
              <a:blip r:embed="rId3">
                <a:alphaModFix amt="0"/>
              </a:blip>
              <a:stretch>
                <a:fillRect l="0" t="-144850" r="0" b="-144850"/>
              </a:stretch>
            </a:blipFill>
          </p:spPr>
        </p:sp>
        <p:sp>
          <p:nvSpPr>
            <p:cNvPr name="TextBox 64" id="64"/>
            <p:cNvSpPr txBox="true"/>
            <p:nvPr/>
          </p:nvSpPr>
          <p:spPr>
            <a:xfrm>
              <a:off x="0" y="0"/>
              <a:ext cx="5120640" cy="512064"/>
            </a:xfrm>
            <a:prstGeom prst="rect">
              <a:avLst/>
            </a:prstGeom>
          </p:spPr>
          <p:txBody>
            <a:bodyPr anchor="ctr" rtlCol="false" tIns="0" lIns="0" bIns="0" rIns="0"/>
            <a:lstStyle/>
            <a:p>
              <a:pPr algn="l">
                <a:lnSpc>
                  <a:spcPts val="3690"/>
                </a:lnSpc>
              </a:pPr>
              <a:r>
                <a:rPr lang="en-US" sz="3075" b="true">
                  <a:solidFill>
                    <a:srgbClr val="F07C43"/>
                  </a:solidFill>
                  <a:latin typeface="Aptos Bold"/>
                  <a:ea typeface="Aptos Bold"/>
                  <a:cs typeface="Aptos Bold"/>
                  <a:sym typeface="Aptos Bold"/>
                </a:rPr>
                <a:t>0.82  →  1.17</a:t>
              </a:r>
            </a:p>
          </p:txBody>
        </p:sp>
      </p:grpSp>
      <p:grpSp>
        <p:nvGrpSpPr>
          <p:cNvPr name="Group 65" id="65"/>
          <p:cNvGrpSpPr/>
          <p:nvPr/>
        </p:nvGrpSpPr>
        <p:grpSpPr>
          <a:xfrm rot="0">
            <a:off x="12454128" y="5596128"/>
            <a:ext cx="4251960" cy="329184"/>
            <a:chOff x="0" y="0"/>
            <a:chExt cx="5669280" cy="438912"/>
          </a:xfrm>
        </p:grpSpPr>
        <p:sp>
          <p:nvSpPr>
            <p:cNvPr name="Freeform 66" id="66"/>
            <p:cNvSpPr/>
            <p:nvPr/>
          </p:nvSpPr>
          <p:spPr>
            <a:xfrm flipH="false" flipV="false" rot="0">
              <a:off x="0" y="0"/>
              <a:ext cx="5669280" cy="438912"/>
            </a:xfrm>
            <a:custGeom>
              <a:avLst/>
              <a:gdLst/>
              <a:ahLst/>
              <a:cxnLst/>
              <a:rect r="r" b="b" t="t" l="l"/>
              <a:pathLst>
                <a:path h="438912" w="5669280">
                  <a:moveTo>
                    <a:pt x="0" y="0"/>
                  </a:moveTo>
                  <a:lnTo>
                    <a:pt x="5669280" y="0"/>
                  </a:lnTo>
                  <a:lnTo>
                    <a:pt x="5669280" y="438912"/>
                  </a:lnTo>
                  <a:lnTo>
                    <a:pt x="0" y="438912"/>
                  </a:lnTo>
                  <a:close/>
                </a:path>
              </a:pathLst>
            </a:custGeom>
            <a:blipFill>
              <a:blip r:embed="rId3">
                <a:alphaModFix amt="0"/>
              </a:blip>
              <a:stretch>
                <a:fillRect l="0" t="-201681" r="0" b="-201681"/>
              </a:stretch>
            </a:blipFill>
          </p:spPr>
        </p:sp>
        <p:sp>
          <p:nvSpPr>
            <p:cNvPr name="TextBox 67" id="67"/>
            <p:cNvSpPr txBox="true"/>
            <p:nvPr/>
          </p:nvSpPr>
          <p:spPr>
            <a:xfrm>
              <a:off x="0" y="0"/>
              <a:ext cx="5669280" cy="438912"/>
            </a:xfrm>
            <a:prstGeom prst="rect">
              <a:avLst/>
            </a:prstGeom>
          </p:spPr>
          <p:txBody>
            <a:bodyPr anchor="ctr" rtlCol="false" tIns="0" lIns="0" bIns="0" rIns="0"/>
            <a:lstStyle/>
            <a:p>
              <a:pPr algn="l">
                <a:lnSpc>
                  <a:spcPts val="2340"/>
                </a:lnSpc>
              </a:pPr>
              <a:r>
                <a:rPr lang="en-US" sz="1950" b="true">
                  <a:solidFill>
                    <a:srgbClr val="20201E"/>
                  </a:solidFill>
                  <a:latin typeface="Aptos Bold"/>
                  <a:ea typeface="Aptos Bold"/>
                  <a:cs typeface="Aptos Bold"/>
                  <a:sym typeface="Aptos Bold"/>
                </a:rPr>
                <a:t>vs TFR:  r = −0.75, p &lt; .001</a:t>
              </a:r>
            </a:p>
          </p:txBody>
        </p:sp>
      </p:grpSp>
      <p:grpSp>
        <p:nvGrpSpPr>
          <p:cNvPr name="Group 68" id="68"/>
          <p:cNvGrpSpPr/>
          <p:nvPr/>
        </p:nvGrpSpPr>
        <p:grpSpPr>
          <a:xfrm rot="0">
            <a:off x="12454128" y="6103620"/>
            <a:ext cx="4224528" cy="1014984"/>
            <a:chOff x="0" y="0"/>
            <a:chExt cx="5632704" cy="1353312"/>
          </a:xfrm>
        </p:grpSpPr>
        <p:sp>
          <p:nvSpPr>
            <p:cNvPr name="Freeform 69" id="69"/>
            <p:cNvSpPr/>
            <p:nvPr/>
          </p:nvSpPr>
          <p:spPr>
            <a:xfrm flipH="false" flipV="false" rot="0">
              <a:off x="0" y="0"/>
              <a:ext cx="5632704" cy="1353312"/>
            </a:xfrm>
            <a:custGeom>
              <a:avLst/>
              <a:gdLst/>
              <a:ahLst/>
              <a:cxnLst/>
              <a:rect r="r" b="b" t="t" l="l"/>
              <a:pathLst>
                <a:path h="1353312" w="5632704">
                  <a:moveTo>
                    <a:pt x="0" y="0"/>
                  </a:moveTo>
                  <a:lnTo>
                    <a:pt x="5632704" y="0"/>
                  </a:lnTo>
                  <a:lnTo>
                    <a:pt x="5632704" y="1353312"/>
                  </a:lnTo>
                  <a:lnTo>
                    <a:pt x="0" y="1353312"/>
                  </a:lnTo>
                  <a:close/>
                </a:path>
              </a:pathLst>
            </a:custGeom>
            <a:blipFill>
              <a:blip r:embed="rId3">
                <a:alphaModFix amt="0"/>
              </a:blip>
              <a:stretch>
                <a:fillRect l="0" t="-31099" r="0" b="-31099"/>
              </a:stretch>
            </a:blipFill>
          </p:spPr>
        </p:sp>
        <p:sp>
          <p:nvSpPr>
            <p:cNvPr name="TextBox 70" id="70"/>
            <p:cNvSpPr txBox="true"/>
            <p:nvPr/>
          </p:nvSpPr>
          <p:spPr>
            <a:xfrm>
              <a:off x="0" y="0"/>
              <a:ext cx="5632704" cy="1353312"/>
            </a:xfrm>
            <a:prstGeom prst="rect">
              <a:avLst/>
            </a:prstGeom>
          </p:spPr>
          <p:txBody>
            <a:bodyPr anchor="ctr" rtlCol="false" tIns="0" lIns="0" bIns="0" rIns="0"/>
            <a:lstStyle/>
            <a:p>
              <a:pPr algn="l">
                <a:lnSpc>
                  <a:spcPts val="1925"/>
                </a:lnSpc>
              </a:pPr>
              <a:r>
                <a:rPr lang="en-US" sz="1604">
                  <a:solidFill>
                    <a:srgbClr val="20201E"/>
                  </a:solidFill>
                  <a:latin typeface="Aptos"/>
                  <a:ea typeface="Aptos"/>
                  <a:cs typeface="Aptos"/>
                  <a:sym typeface="Aptos"/>
                </a:rPr>
                <a:t>Raw 30–34 rate alone: r = −0.01, p = .96.</a:t>
              </a:r>
            </a:p>
            <a:p>
              <a:pPr algn="l">
                <a:lnSpc>
                  <a:spcPts val="1925"/>
                </a:lnSpc>
              </a:pPr>
              <a:r>
                <a:rPr lang="en-US" sz="1604">
                  <a:solidFill>
                    <a:srgbClr val="20201E"/>
                  </a:solidFill>
                  <a:latin typeface="Aptos"/>
                  <a:ea typeface="Aptos"/>
                  <a:cs typeface="Aptos"/>
                  <a:sym typeface="Aptos"/>
                </a:rPr>
                <a:t>Yearly changes and lags are mostly not significant.</a:t>
              </a:r>
            </a:p>
          </p:txBody>
        </p:sp>
      </p:grpSp>
      <p:grpSp>
        <p:nvGrpSpPr>
          <p:cNvPr name="Group 71" id="71"/>
          <p:cNvGrpSpPr/>
          <p:nvPr/>
        </p:nvGrpSpPr>
        <p:grpSpPr>
          <a:xfrm rot="0">
            <a:off x="897636" y="8057388"/>
            <a:ext cx="16474440" cy="1222248"/>
            <a:chOff x="0" y="0"/>
            <a:chExt cx="21965920" cy="1629664"/>
          </a:xfrm>
        </p:grpSpPr>
        <p:sp>
          <p:nvSpPr>
            <p:cNvPr name="Freeform 72" id="72"/>
            <p:cNvSpPr/>
            <p:nvPr/>
          </p:nvSpPr>
          <p:spPr>
            <a:xfrm flipH="false" flipV="false" rot="0">
              <a:off x="0" y="0"/>
              <a:ext cx="21965921" cy="1629664"/>
            </a:xfrm>
            <a:custGeom>
              <a:avLst/>
              <a:gdLst/>
              <a:ahLst/>
              <a:cxnLst/>
              <a:rect r="r" b="b" t="t" l="l"/>
              <a:pathLst>
                <a:path h="1629664" w="21965921">
                  <a:moveTo>
                    <a:pt x="0" y="92583"/>
                  </a:moveTo>
                  <a:cubicBezTo>
                    <a:pt x="0" y="41402"/>
                    <a:pt x="41402" y="0"/>
                    <a:pt x="92583" y="0"/>
                  </a:cubicBezTo>
                  <a:lnTo>
                    <a:pt x="21873338" y="0"/>
                  </a:lnTo>
                  <a:cubicBezTo>
                    <a:pt x="21924519" y="0"/>
                    <a:pt x="21965921" y="41402"/>
                    <a:pt x="21965921" y="92583"/>
                  </a:cubicBezTo>
                  <a:lnTo>
                    <a:pt x="21965921" y="1537081"/>
                  </a:lnTo>
                  <a:cubicBezTo>
                    <a:pt x="21965921" y="1588262"/>
                    <a:pt x="21924519" y="1629664"/>
                    <a:pt x="21873338" y="1629664"/>
                  </a:cubicBezTo>
                  <a:lnTo>
                    <a:pt x="92583" y="1629664"/>
                  </a:lnTo>
                  <a:cubicBezTo>
                    <a:pt x="41402" y="1629664"/>
                    <a:pt x="0" y="1588262"/>
                    <a:pt x="0" y="1537081"/>
                  </a:cubicBezTo>
                  <a:close/>
                </a:path>
              </a:pathLst>
            </a:custGeom>
            <a:solidFill>
              <a:srgbClr val="F2F1EE"/>
            </a:solidFill>
            <a:ln w="15240" cap="sq">
              <a:solidFill>
                <a:srgbClr val="E2E0DB"/>
              </a:solidFill>
              <a:prstDash val="solid"/>
              <a:miter/>
            </a:ln>
          </p:spPr>
        </p:sp>
      </p:grpSp>
      <p:grpSp>
        <p:nvGrpSpPr>
          <p:cNvPr name="Group 73" id="73"/>
          <p:cNvGrpSpPr/>
          <p:nvPr/>
        </p:nvGrpSpPr>
        <p:grpSpPr>
          <a:xfrm rot="0">
            <a:off x="1316736" y="8394192"/>
            <a:ext cx="1536192" cy="274320"/>
            <a:chOff x="0" y="0"/>
            <a:chExt cx="2048256" cy="365760"/>
          </a:xfrm>
        </p:grpSpPr>
        <p:sp>
          <p:nvSpPr>
            <p:cNvPr name="Freeform 74" id="74"/>
            <p:cNvSpPr/>
            <p:nvPr/>
          </p:nvSpPr>
          <p:spPr>
            <a:xfrm flipH="false" flipV="false" rot="0">
              <a:off x="0" y="0"/>
              <a:ext cx="2048256" cy="365760"/>
            </a:xfrm>
            <a:custGeom>
              <a:avLst/>
              <a:gdLst/>
              <a:ahLst/>
              <a:cxnLst/>
              <a:rect r="r" b="b" t="t" l="l"/>
              <a:pathLst>
                <a:path h="365760" w="2048256">
                  <a:moveTo>
                    <a:pt x="0" y="0"/>
                  </a:moveTo>
                  <a:lnTo>
                    <a:pt x="2048256" y="0"/>
                  </a:lnTo>
                  <a:lnTo>
                    <a:pt x="2048256" y="365760"/>
                  </a:lnTo>
                  <a:lnTo>
                    <a:pt x="0" y="365760"/>
                  </a:lnTo>
                  <a:close/>
                </a:path>
              </a:pathLst>
            </a:custGeom>
            <a:blipFill>
              <a:blip r:embed="rId3">
                <a:alphaModFix amt="0"/>
              </a:blip>
              <a:stretch>
                <a:fillRect l="0" t="-59116" r="0" b="-59116"/>
              </a:stretch>
            </a:blipFill>
          </p:spPr>
        </p:sp>
        <p:sp>
          <p:nvSpPr>
            <p:cNvPr name="TextBox 75" id="75"/>
            <p:cNvSpPr txBox="true"/>
            <p:nvPr/>
          </p:nvSpPr>
          <p:spPr>
            <a:xfrm>
              <a:off x="0" y="-9525"/>
              <a:ext cx="2048256" cy="375285"/>
            </a:xfrm>
            <a:prstGeom prst="rect">
              <a:avLst/>
            </a:prstGeom>
          </p:spPr>
          <p:txBody>
            <a:bodyPr anchor="ctr" rtlCol="false" tIns="0" lIns="0" bIns="0" rIns="0"/>
            <a:lstStyle/>
            <a:p>
              <a:pPr algn="l">
                <a:lnSpc>
                  <a:spcPts val="1907"/>
                </a:lnSpc>
              </a:pPr>
              <a:r>
                <a:rPr lang="en-US" sz="1589" b="true">
                  <a:solidFill>
                    <a:srgbClr val="5B46B2"/>
                  </a:solidFill>
                  <a:latin typeface="Aptos Bold"/>
                  <a:ea typeface="Aptos Bold"/>
                  <a:cs typeface="Aptos Bold"/>
                  <a:sym typeface="Aptos Bold"/>
                </a:rPr>
                <a:t>TAKEAWAY</a:t>
              </a:r>
            </a:p>
          </p:txBody>
        </p:sp>
      </p:grpSp>
      <p:sp>
        <p:nvSpPr>
          <p:cNvPr name="AutoShape 76" id="76"/>
          <p:cNvSpPr/>
          <p:nvPr/>
        </p:nvSpPr>
        <p:spPr>
          <a:xfrm rot="5303340">
            <a:off x="2747258" y="8581454"/>
            <a:ext cx="677685" cy="0"/>
          </a:xfrm>
          <a:prstGeom prst="line">
            <a:avLst/>
          </a:prstGeom>
          <a:ln cap="rnd" w="9525">
            <a:solidFill>
              <a:srgbClr val="D2D0CB"/>
            </a:solidFill>
            <a:prstDash val="solid"/>
            <a:headEnd type="none" len="sm" w="sm"/>
            <a:tailEnd type="none" len="sm" w="sm"/>
          </a:ln>
        </p:spPr>
      </p:sp>
      <p:grpSp>
        <p:nvGrpSpPr>
          <p:cNvPr name="Group 77" id="77"/>
          <p:cNvGrpSpPr/>
          <p:nvPr/>
        </p:nvGrpSpPr>
        <p:grpSpPr>
          <a:xfrm rot="0">
            <a:off x="3429000" y="8311896"/>
            <a:ext cx="13235940" cy="662741"/>
            <a:chOff x="0" y="0"/>
            <a:chExt cx="17647920" cy="883655"/>
          </a:xfrm>
        </p:grpSpPr>
        <p:sp>
          <p:nvSpPr>
            <p:cNvPr name="Freeform 78" id="78"/>
            <p:cNvSpPr/>
            <p:nvPr/>
          </p:nvSpPr>
          <p:spPr>
            <a:xfrm flipH="false" flipV="false" rot="0">
              <a:off x="0" y="0"/>
              <a:ext cx="17647920" cy="883655"/>
            </a:xfrm>
            <a:custGeom>
              <a:avLst/>
              <a:gdLst/>
              <a:ahLst/>
              <a:cxnLst/>
              <a:rect r="r" b="b" t="t" l="l"/>
              <a:pathLst>
                <a:path h="883655" w="17647920">
                  <a:moveTo>
                    <a:pt x="0" y="0"/>
                  </a:moveTo>
                  <a:lnTo>
                    <a:pt x="17647920" y="0"/>
                  </a:lnTo>
                  <a:lnTo>
                    <a:pt x="17647920" y="883655"/>
                  </a:lnTo>
                  <a:lnTo>
                    <a:pt x="0" y="883655"/>
                  </a:lnTo>
                  <a:close/>
                </a:path>
              </a:pathLst>
            </a:custGeom>
            <a:blipFill>
              <a:blip r:embed="rId3">
                <a:alphaModFix amt="0"/>
              </a:blip>
              <a:stretch>
                <a:fillRect l="0" t="-345684" r="0" b="-332607"/>
              </a:stretch>
            </a:blipFill>
          </p:spPr>
        </p:sp>
        <p:sp>
          <p:nvSpPr>
            <p:cNvPr name="TextBox 79" id="79"/>
            <p:cNvSpPr txBox="true"/>
            <p:nvPr/>
          </p:nvSpPr>
          <p:spPr>
            <a:xfrm>
              <a:off x="0" y="0"/>
              <a:ext cx="17647920" cy="883655"/>
            </a:xfrm>
            <a:prstGeom prst="rect">
              <a:avLst/>
            </a:prstGeom>
          </p:spPr>
          <p:txBody>
            <a:bodyPr anchor="ctr" rtlCol="false" tIns="0" lIns="0" bIns="0" rIns="0"/>
            <a:lstStyle/>
            <a:p>
              <a:pPr algn="l">
                <a:lnSpc>
                  <a:spcPts val="2340"/>
                </a:lnSpc>
              </a:pPr>
              <a:r>
                <a:rPr lang="en-US" sz="1950" b="true">
                  <a:solidFill>
                    <a:srgbClr val="1D2737"/>
                  </a:solidFill>
                  <a:latin typeface="Aptos Bold"/>
                  <a:ea typeface="Aptos Bold"/>
                  <a:cs typeface="Aptos Bold"/>
                  <a:sym typeface="Aptos Bold"/>
                </a:rPr>
                <a:t>Later marriage and later first birth are associated with lower TFR, </a:t>
              </a:r>
              <a:r>
                <a:rPr lang="en-US" sz="1950">
                  <a:solidFill>
                    <a:srgbClr val="20201E"/>
                  </a:solidFill>
                  <a:latin typeface="Aptos"/>
                  <a:ea typeface="Aptos"/>
                  <a:cs typeface="Aptos"/>
                  <a:sym typeface="Aptos"/>
                </a:rPr>
                <a:t>but the evidence supports a long-run correlation rather than a short-term causal effect.</a:t>
              </a:r>
            </a:p>
          </p:txBody>
        </p:sp>
      </p:grpSp>
      <p:grpSp>
        <p:nvGrpSpPr>
          <p:cNvPr name="Group 80" id="80"/>
          <p:cNvGrpSpPr/>
          <p:nvPr/>
        </p:nvGrpSpPr>
        <p:grpSpPr>
          <a:xfrm rot="0">
            <a:off x="13990320" y="9299448"/>
            <a:ext cx="2948940" cy="246888"/>
            <a:chOff x="0" y="0"/>
            <a:chExt cx="3931920" cy="329184"/>
          </a:xfrm>
        </p:grpSpPr>
        <p:sp>
          <p:nvSpPr>
            <p:cNvPr name="Freeform 81" id="81"/>
            <p:cNvSpPr/>
            <p:nvPr/>
          </p:nvSpPr>
          <p:spPr>
            <a:xfrm flipH="false" flipV="false" rot="0">
              <a:off x="0" y="0"/>
              <a:ext cx="3931920" cy="329184"/>
            </a:xfrm>
            <a:custGeom>
              <a:avLst/>
              <a:gdLst/>
              <a:ahLst/>
              <a:cxnLst/>
              <a:rect r="r" b="b" t="t" l="l"/>
              <a:pathLst>
                <a:path h="329184" w="3931920">
                  <a:moveTo>
                    <a:pt x="0" y="0"/>
                  </a:moveTo>
                  <a:lnTo>
                    <a:pt x="3931920" y="0"/>
                  </a:lnTo>
                  <a:lnTo>
                    <a:pt x="3931920" y="329184"/>
                  </a:lnTo>
                  <a:lnTo>
                    <a:pt x="0" y="329184"/>
                  </a:lnTo>
                  <a:close/>
                </a:path>
              </a:pathLst>
            </a:custGeom>
            <a:blipFill>
              <a:blip r:embed="rId3">
                <a:alphaModFix amt="0"/>
              </a:blip>
              <a:stretch>
                <a:fillRect l="0" t="-182737" r="0" b="-182737"/>
              </a:stretch>
            </a:blipFill>
          </p:spPr>
        </p:sp>
        <p:sp>
          <p:nvSpPr>
            <p:cNvPr name="TextBox 82" id="82"/>
            <p:cNvSpPr txBox="true"/>
            <p:nvPr/>
          </p:nvSpPr>
          <p:spPr>
            <a:xfrm>
              <a:off x="0" y="0"/>
              <a:ext cx="3931920" cy="329184"/>
            </a:xfrm>
            <a:prstGeom prst="rect">
              <a:avLst/>
            </a:prstGeom>
          </p:spPr>
          <p:txBody>
            <a:bodyPr anchor="ctr" rtlCol="false" tIns="0" lIns="0" bIns="0" rIns="0"/>
            <a:lstStyle/>
            <a:p>
              <a:pPr algn="r">
                <a:lnSpc>
                  <a:spcPts val="1692"/>
                </a:lnSpc>
              </a:pPr>
              <a:r>
                <a:rPr lang="en-US" sz="1410" i="true">
                  <a:solidFill>
                    <a:srgbClr val="74736F"/>
                  </a:solidFill>
                  <a:latin typeface="Aptos Italics"/>
                  <a:ea typeface="Aptos Italics"/>
                  <a:cs typeface="Aptos Italics"/>
                  <a:sym typeface="Aptos Italics"/>
                </a:rPr>
                <a:t>Association ≠ causation</a:t>
              </a:r>
            </a:p>
          </p:txBody>
        </p:sp>
      </p:grpSp>
      <p:grpSp>
        <p:nvGrpSpPr>
          <p:cNvPr name="Group 83" id="83"/>
          <p:cNvGrpSpPr/>
          <p:nvPr/>
        </p:nvGrpSpPr>
        <p:grpSpPr>
          <a:xfrm rot="0">
            <a:off x="822960" y="9793224"/>
            <a:ext cx="7680960" cy="246888"/>
            <a:chOff x="0" y="0"/>
            <a:chExt cx="10241280" cy="329184"/>
          </a:xfrm>
        </p:grpSpPr>
        <p:sp>
          <p:nvSpPr>
            <p:cNvPr name="Freeform 84" id="84"/>
            <p:cNvSpPr/>
            <p:nvPr/>
          </p:nvSpPr>
          <p:spPr>
            <a:xfrm flipH="false" flipV="false" rot="0">
              <a:off x="0" y="0"/>
              <a:ext cx="10241280" cy="329184"/>
            </a:xfrm>
            <a:custGeom>
              <a:avLst/>
              <a:gdLst/>
              <a:ahLst/>
              <a:cxnLst/>
              <a:rect r="r" b="b" t="t" l="l"/>
              <a:pathLst>
                <a:path h="329184" w="10241280">
                  <a:moveTo>
                    <a:pt x="0" y="0"/>
                  </a:moveTo>
                  <a:lnTo>
                    <a:pt x="10241280" y="0"/>
                  </a:lnTo>
                  <a:lnTo>
                    <a:pt x="10241280" y="329184"/>
                  </a:lnTo>
                  <a:lnTo>
                    <a:pt x="0" y="329184"/>
                  </a:lnTo>
                  <a:close/>
                </a:path>
              </a:pathLst>
            </a:custGeom>
            <a:blipFill>
              <a:blip r:embed="rId3">
                <a:alphaModFix amt="0"/>
              </a:blip>
              <a:stretch>
                <a:fillRect l="0" t="-556201" r="0" b="-556201"/>
              </a:stretch>
            </a:blipFill>
          </p:spPr>
        </p:sp>
        <p:sp>
          <p:nvSpPr>
            <p:cNvPr name="TextBox 85" id="85"/>
            <p:cNvSpPr txBox="true"/>
            <p:nvPr/>
          </p:nvSpPr>
          <p:spPr>
            <a:xfrm>
              <a:off x="0" y="0"/>
              <a:ext cx="10241280" cy="329184"/>
            </a:xfrm>
            <a:prstGeom prst="rect">
              <a:avLst/>
            </a:prstGeom>
          </p:spPr>
          <p:txBody>
            <a:bodyPr anchor="ctr" rtlCol="false" tIns="0" lIns="0" bIns="0" rIns="0"/>
            <a:lstStyle/>
            <a:p>
              <a:pPr algn="l">
                <a:lnSpc>
                  <a:spcPts val="1584"/>
                </a:lnSpc>
              </a:pPr>
              <a:r>
                <a:rPr lang="en-US" sz="1320">
                  <a:solidFill>
                    <a:srgbClr val="797873"/>
                  </a:solidFill>
                  <a:latin typeface="Aptos"/>
                  <a:ea typeface="Aptos"/>
                  <a:cs typeface="Aptos"/>
                  <a:sym typeface="Aptos"/>
                </a:rPr>
                <a:t>AN6100 Final Project · Marriage Factor × TFR</a:t>
              </a:r>
            </a:p>
          </p:txBody>
        </p:sp>
      </p:grpSp>
      <p:sp>
        <p:nvSpPr>
          <p:cNvPr name="TextBox 86" id="86"/>
          <p:cNvSpPr txBox="true"/>
          <p:nvPr/>
        </p:nvSpPr>
        <p:spPr>
          <a:xfrm rot="0">
            <a:off x="17030700" y="9801987"/>
            <a:ext cx="1017118" cy="200025"/>
          </a:xfrm>
          <a:prstGeom prst="rect">
            <a:avLst/>
          </a:prstGeom>
        </p:spPr>
        <p:txBody>
          <a:bodyPr anchor="t" rtlCol="false" tIns="0" lIns="0" bIns="0" rIns="0">
            <a:spAutoFit/>
          </a:bodyPr>
          <a:lstStyle/>
          <a:p>
            <a:pPr algn="l">
              <a:lnSpc>
                <a:spcPts val="1530"/>
              </a:lnSpc>
            </a:pPr>
            <a:r>
              <a:rPr lang="en-US" sz="1275">
                <a:solidFill>
                  <a:srgbClr val="8A8984"/>
                </a:solidFill>
                <a:latin typeface="Aptos"/>
                <a:ea typeface="Aptos"/>
                <a:cs typeface="Aptos"/>
                <a:sym typeface="Aptos"/>
              </a:rPr>
              <a:t>3</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1234440" y="3227070"/>
            <a:ext cx="15361920" cy="361950"/>
          </a:xfrm>
          <a:prstGeom prst="rect">
            <a:avLst/>
          </a:prstGeom>
        </p:spPr>
        <p:txBody>
          <a:bodyPr anchor="t" rtlCol="false" tIns="0" lIns="0" bIns="0" rIns="0">
            <a:spAutoFit/>
          </a:bodyPr>
          <a:lstStyle/>
          <a:p>
            <a:pPr algn="l">
              <a:lnSpc>
                <a:spcPts val="2375"/>
              </a:lnSpc>
            </a:pPr>
            <a:r>
              <a:rPr lang="en-US" sz="1979" b="true">
                <a:solidFill>
                  <a:srgbClr val="F08A5D"/>
                </a:solidFill>
                <a:latin typeface="Arial Bold"/>
                <a:ea typeface="Arial Bold"/>
                <a:cs typeface="Arial Bold"/>
                <a:sym typeface="Arial Bold"/>
              </a:rPr>
              <a:t>EDUCATION &amp; FERTILITY</a:t>
            </a:r>
          </a:p>
        </p:txBody>
      </p:sp>
      <p:sp>
        <p:nvSpPr>
          <p:cNvPr name="TextBox 3" id="3"/>
          <p:cNvSpPr txBox="true"/>
          <p:nvPr/>
        </p:nvSpPr>
        <p:spPr>
          <a:xfrm rot="0">
            <a:off x="1177290" y="4027170"/>
            <a:ext cx="15933420" cy="2327910"/>
          </a:xfrm>
          <a:prstGeom prst="rect">
            <a:avLst/>
          </a:prstGeom>
        </p:spPr>
        <p:txBody>
          <a:bodyPr anchor="t" rtlCol="false" tIns="0" lIns="0" bIns="0" rIns="0">
            <a:spAutoFit/>
          </a:bodyPr>
          <a:lstStyle/>
          <a:p>
            <a:pPr algn="l">
              <a:lnSpc>
                <a:spcPts val="8208"/>
              </a:lnSpc>
            </a:pPr>
            <a:r>
              <a:rPr lang="en-US" sz="6840" b="true">
                <a:solidFill>
                  <a:srgbClr val="F3F1EA"/>
                </a:solidFill>
                <a:latin typeface="Georgia Bold"/>
                <a:ea typeface="Georgia Bold"/>
                <a:cs typeface="Georgia Bold"/>
                <a:sym typeface="Georgia Bold"/>
              </a:rPr>
              <a:t>Do education costs help explain</a:t>
            </a:r>
          </a:p>
          <a:p>
            <a:pPr algn="l">
              <a:lnSpc>
                <a:spcPts val="8208"/>
              </a:lnSpc>
            </a:pPr>
            <a:r>
              <a:rPr lang="en-US" sz="6840" b="true">
                <a:solidFill>
                  <a:srgbClr val="F3F1EA"/>
                </a:solidFill>
                <a:latin typeface="Georgia Bold"/>
                <a:ea typeface="Georgia Bold"/>
                <a:cs typeface="Georgia Bold"/>
                <a:sym typeface="Georgia Bold"/>
              </a:rPr>
              <a:t>the falling birth rate?</a:t>
            </a:r>
          </a:p>
        </p:txBody>
      </p:sp>
      <p:sp>
        <p:nvSpPr>
          <p:cNvPr name="TextBox 4" id="4"/>
          <p:cNvSpPr txBox="true"/>
          <p:nvPr/>
        </p:nvSpPr>
        <p:spPr>
          <a:xfrm rot="0">
            <a:off x="1234440" y="6598920"/>
            <a:ext cx="15704820" cy="521970"/>
          </a:xfrm>
          <a:prstGeom prst="rect">
            <a:avLst/>
          </a:prstGeom>
        </p:spPr>
        <p:txBody>
          <a:bodyPr anchor="t" rtlCol="false" tIns="0" lIns="0" bIns="0" rIns="0">
            <a:spAutoFit/>
          </a:bodyPr>
          <a:lstStyle/>
          <a:p>
            <a:pPr algn="l">
              <a:lnSpc>
                <a:spcPts val="3131"/>
              </a:lnSpc>
            </a:pPr>
            <a:r>
              <a:rPr lang="en-US" sz="2610">
                <a:solidFill>
                  <a:srgbClr val="C4C8D2"/>
                </a:solidFill>
                <a:latin typeface="Arial"/>
                <a:ea typeface="Arial"/>
                <a:cs typeface="Arial"/>
                <a:sym typeface="Arial"/>
              </a:rPr>
              <a:t>Education prices and public support vs TFR</a:t>
            </a:r>
          </a:p>
        </p:txBody>
      </p:sp>
      <p:sp>
        <p:nvSpPr>
          <p:cNvPr name="TextBox 5" id="5"/>
          <p:cNvSpPr txBox="true"/>
          <p:nvPr/>
        </p:nvSpPr>
        <p:spPr>
          <a:xfrm rot="0">
            <a:off x="1234440" y="9056370"/>
            <a:ext cx="15590520" cy="304800"/>
          </a:xfrm>
          <a:prstGeom prst="rect">
            <a:avLst/>
          </a:prstGeom>
        </p:spPr>
        <p:txBody>
          <a:bodyPr anchor="t" rtlCol="false" tIns="0" lIns="0" bIns="0" rIns="0">
            <a:spAutoFit/>
          </a:bodyPr>
          <a:lstStyle/>
          <a:p>
            <a:pPr algn="l">
              <a:lnSpc>
                <a:spcPts val="2160"/>
              </a:lnSpc>
            </a:pPr>
            <a:r>
              <a:rPr lang="en-US" sz="1800">
                <a:solidFill>
                  <a:srgbClr val="9AA1B0"/>
                </a:solidFill>
                <a:latin typeface="Arial"/>
                <a:ea typeface="Arial"/>
                <a:cs typeface="Arial"/>
                <a:sym typeface="Arial"/>
              </a:rPr>
              <a:t>Presenter: Huang Yixuan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TextBox 2" id="2"/>
          <p:cNvSpPr txBox="true"/>
          <p:nvPr/>
        </p:nvSpPr>
        <p:spPr>
          <a:xfrm rot="0">
            <a:off x="822960" y="367665"/>
            <a:ext cx="6675120" cy="215265"/>
          </a:xfrm>
          <a:prstGeom prst="rect">
            <a:avLst/>
          </a:prstGeom>
        </p:spPr>
        <p:txBody>
          <a:bodyPr anchor="t" rtlCol="false" tIns="0" lIns="0" bIns="0" rIns="0">
            <a:spAutoFit/>
          </a:bodyPr>
          <a:lstStyle/>
          <a:p>
            <a:pPr algn="l">
              <a:lnSpc>
                <a:spcPts val="1727"/>
              </a:lnSpc>
            </a:pPr>
            <a:r>
              <a:rPr lang="en-US" sz="1439" b="true">
                <a:solidFill>
                  <a:srgbClr val="667487"/>
                </a:solidFill>
                <a:latin typeface="Arial Bold"/>
                <a:ea typeface="Arial Bold"/>
                <a:cs typeface="Arial Bold"/>
                <a:sym typeface="Arial Bold"/>
              </a:rPr>
              <a:t>EDUCATION &amp; FERTILITY</a:t>
            </a:r>
          </a:p>
        </p:txBody>
      </p:sp>
      <p:sp>
        <p:nvSpPr>
          <p:cNvPr name="TextBox 3" id="3"/>
          <p:cNvSpPr txBox="true"/>
          <p:nvPr/>
        </p:nvSpPr>
        <p:spPr>
          <a:xfrm rot="0">
            <a:off x="12893040" y="367665"/>
            <a:ext cx="33604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Presenter: Huang Yixuan</a:t>
            </a:r>
          </a:p>
        </p:txBody>
      </p:sp>
      <p:sp>
        <p:nvSpPr>
          <p:cNvPr name="TextBox 4" id="4"/>
          <p:cNvSpPr txBox="true"/>
          <p:nvPr/>
        </p:nvSpPr>
        <p:spPr>
          <a:xfrm rot="0">
            <a:off x="16550640" y="367665"/>
            <a:ext cx="9601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01 / 04</a:t>
            </a:r>
          </a:p>
        </p:txBody>
      </p:sp>
      <p:sp>
        <p:nvSpPr>
          <p:cNvPr name="TextBox 5" id="5"/>
          <p:cNvSpPr txBox="true"/>
          <p:nvPr/>
        </p:nvSpPr>
        <p:spPr>
          <a:xfrm rot="0">
            <a:off x="765810" y="861060"/>
            <a:ext cx="16733520" cy="647700"/>
          </a:xfrm>
          <a:prstGeom prst="rect">
            <a:avLst/>
          </a:prstGeom>
        </p:spPr>
        <p:txBody>
          <a:bodyPr anchor="t" rtlCol="false" tIns="0" lIns="0" bIns="0" rIns="0">
            <a:spAutoFit/>
          </a:bodyPr>
          <a:lstStyle/>
          <a:p>
            <a:pPr algn="l">
              <a:lnSpc>
                <a:spcPts val="4968"/>
              </a:lnSpc>
            </a:pPr>
            <a:r>
              <a:rPr lang="en-US" sz="4140" b="true">
                <a:solidFill>
                  <a:srgbClr val="25364B"/>
                </a:solidFill>
                <a:latin typeface="Arial Bold"/>
                <a:ea typeface="Arial Bold"/>
                <a:cs typeface="Arial Bold"/>
                <a:sym typeface="Arial Bold"/>
              </a:rPr>
              <a:t>Education prices and TFR</a:t>
            </a:r>
          </a:p>
        </p:txBody>
      </p:sp>
      <p:sp>
        <p:nvSpPr>
          <p:cNvPr name="TextBox 6" id="6"/>
          <p:cNvSpPr txBox="true"/>
          <p:nvPr/>
        </p:nvSpPr>
        <p:spPr>
          <a:xfrm rot="0">
            <a:off x="822960" y="1670685"/>
            <a:ext cx="16642080" cy="329565"/>
          </a:xfrm>
          <a:prstGeom prst="rect">
            <a:avLst/>
          </a:prstGeom>
        </p:spPr>
        <p:txBody>
          <a:bodyPr anchor="t" rtlCol="false" tIns="0" lIns="0" bIns="0" rIns="0">
            <a:spAutoFit/>
          </a:bodyPr>
          <a:lstStyle/>
          <a:p>
            <a:pPr algn="l">
              <a:lnSpc>
                <a:spcPts val="2484"/>
              </a:lnSpc>
            </a:pPr>
            <a:r>
              <a:rPr lang="en-US" sz="2070">
                <a:solidFill>
                  <a:srgbClr val="667487"/>
                </a:solidFill>
                <a:latin typeface="Arial"/>
                <a:ea typeface="Arial"/>
                <a:cs typeface="Arial"/>
                <a:sym typeface="Arial"/>
              </a:rPr>
              <a:t>2010–2025. All four series use 2010 = 100.</a:t>
            </a:r>
          </a:p>
        </p:txBody>
      </p:sp>
      <p:grpSp>
        <p:nvGrpSpPr>
          <p:cNvPr name="Group 7" id="7"/>
          <p:cNvGrpSpPr/>
          <p:nvPr/>
        </p:nvGrpSpPr>
        <p:grpSpPr>
          <a:xfrm rot="0">
            <a:off x="737587" y="2366010"/>
            <a:ext cx="16812816" cy="5977890"/>
            <a:chOff x="0" y="0"/>
            <a:chExt cx="22417088" cy="7970520"/>
          </a:xfrm>
        </p:grpSpPr>
        <p:sp>
          <p:nvSpPr>
            <p:cNvPr name="Freeform 8" id="8"/>
            <p:cNvSpPr/>
            <p:nvPr/>
          </p:nvSpPr>
          <p:spPr>
            <a:xfrm flipH="false" flipV="false" rot="0">
              <a:off x="0" y="0"/>
              <a:ext cx="22417151" cy="7970520"/>
            </a:xfrm>
            <a:custGeom>
              <a:avLst/>
              <a:gdLst/>
              <a:ahLst/>
              <a:cxnLst/>
              <a:rect r="r" b="b" t="t" l="l"/>
              <a:pathLst>
                <a:path h="7970520" w="22417151">
                  <a:moveTo>
                    <a:pt x="0" y="0"/>
                  </a:moveTo>
                  <a:lnTo>
                    <a:pt x="22417151" y="0"/>
                  </a:lnTo>
                  <a:lnTo>
                    <a:pt x="22417151" y="7970520"/>
                  </a:lnTo>
                  <a:lnTo>
                    <a:pt x="0" y="7970520"/>
                  </a:lnTo>
                  <a:lnTo>
                    <a:pt x="0" y="0"/>
                  </a:lnTo>
                  <a:close/>
                </a:path>
              </a:pathLst>
            </a:custGeom>
            <a:blipFill>
              <a:blip r:embed="rId3"/>
              <a:stretch>
                <a:fillRect l="0" t="0" r="0" b="0"/>
              </a:stretch>
            </a:blipFill>
          </p:spPr>
        </p:sp>
      </p:grpSp>
      <p:sp>
        <p:nvSpPr>
          <p:cNvPr name="TextBox 9" id="9"/>
          <p:cNvSpPr txBox="true"/>
          <p:nvPr/>
        </p:nvSpPr>
        <p:spPr>
          <a:xfrm rot="0">
            <a:off x="822960" y="8599170"/>
            <a:ext cx="16642080" cy="864870"/>
          </a:xfrm>
          <a:prstGeom prst="rect">
            <a:avLst/>
          </a:prstGeom>
        </p:spPr>
        <p:txBody>
          <a:bodyPr anchor="t" rtlCol="false" tIns="0" lIns="0" bIns="0" rIns="0">
            <a:spAutoFit/>
          </a:bodyPr>
          <a:lstStyle/>
          <a:p>
            <a:pPr algn="l">
              <a:lnSpc>
                <a:spcPts val="2915"/>
              </a:lnSpc>
            </a:pPr>
            <a:r>
              <a:rPr lang="en-US" sz="2429">
                <a:solidFill>
                  <a:srgbClr val="25364B"/>
                </a:solidFill>
                <a:latin typeface="Arial"/>
                <a:ea typeface="Arial"/>
                <a:cs typeface="Arial"/>
                <a:sym typeface="Arial"/>
              </a:rPr>
              <a:t>Tuition prices rose 70.4%, faster than general education (38.0%) and textbooks (15.1%), while TFR fell 24.3%. Higher anticipated education costs may make another child harder to afford.</a:t>
            </a:r>
          </a:p>
        </p:txBody>
      </p:sp>
      <p:sp>
        <p:nvSpPr>
          <p:cNvPr name="TextBox 10" id="10"/>
          <p:cNvSpPr txBox="true"/>
          <p:nvPr/>
        </p:nvSpPr>
        <p:spPr>
          <a:xfrm rot="0">
            <a:off x="822960" y="9742170"/>
            <a:ext cx="16642080" cy="167640"/>
          </a:xfrm>
          <a:prstGeom prst="rect">
            <a:avLst/>
          </a:prstGeom>
        </p:spPr>
        <p:txBody>
          <a:bodyPr anchor="t" rtlCol="false" tIns="0" lIns="0" bIns="0" rIns="0">
            <a:spAutoFit/>
          </a:bodyPr>
          <a:lstStyle/>
          <a:p>
            <a:pPr algn="l">
              <a:lnSpc>
                <a:spcPts val="1404"/>
              </a:lnSpc>
            </a:pPr>
            <a:r>
              <a:rPr lang="en-US" sz="1170">
                <a:solidFill>
                  <a:srgbClr val="667487"/>
                </a:solidFill>
                <a:latin typeface="Arial"/>
                <a:ea typeface="Arial"/>
                <a:cs typeface="Arial"/>
                <a:sym typeface="Arial"/>
              </a:rPr>
              <a:t>Sources: SingStat M213801, M810091. TFR index 75.7 corresponds to 0.87 children per woman.</a:t>
            </a:r>
          </a:p>
        </p:txBody>
      </p:sp>
      <p:sp>
        <p:nvSpPr>
          <p:cNvPr name="TextBox 11" id="11"/>
          <p:cNvSpPr txBox="true"/>
          <p:nvPr/>
        </p:nvSpPr>
        <p:spPr>
          <a:xfrm rot="0">
            <a:off x="822960" y="10048875"/>
            <a:ext cx="16642080" cy="112395"/>
          </a:xfrm>
          <a:prstGeom prst="rect">
            <a:avLst/>
          </a:prstGeom>
        </p:spPr>
        <p:txBody>
          <a:bodyPr anchor="t" rtlCol="false" tIns="0" lIns="0" bIns="0" rIns="0">
            <a:spAutoFit/>
          </a:bodyPr>
          <a:lstStyle/>
          <a:p>
            <a:pPr algn="l">
              <a:lnSpc>
                <a:spcPts val="1080"/>
              </a:lnSpc>
            </a:pPr>
            <a:r>
              <a:rPr lang="en-US" sz="900">
                <a:solidFill>
                  <a:srgbClr val="667487"/>
                </a:solidFill>
                <a:latin typeface="Arial"/>
                <a:ea typeface="Arial"/>
                <a:cs typeface="Arial"/>
                <a:sym typeface="Arial"/>
              </a:rPr>
              <a:t>Dashboard figures reproduced as non-editable source images.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TextBox 2" id="2"/>
          <p:cNvSpPr txBox="true"/>
          <p:nvPr/>
        </p:nvSpPr>
        <p:spPr>
          <a:xfrm rot="0">
            <a:off x="822960" y="367665"/>
            <a:ext cx="6675120" cy="215265"/>
          </a:xfrm>
          <a:prstGeom prst="rect">
            <a:avLst/>
          </a:prstGeom>
        </p:spPr>
        <p:txBody>
          <a:bodyPr anchor="t" rtlCol="false" tIns="0" lIns="0" bIns="0" rIns="0">
            <a:spAutoFit/>
          </a:bodyPr>
          <a:lstStyle/>
          <a:p>
            <a:pPr algn="l">
              <a:lnSpc>
                <a:spcPts val="1727"/>
              </a:lnSpc>
            </a:pPr>
            <a:r>
              <a:rPr lang="en-US" sz="1439" b="true">
                <a:solidFill>
                  <a:srgbClr val="667487"/>
                </a:solidFill>
                <a:latin typeface="Arial Bold"/>
                <a:ea typeface="Arial Bold"/>
                <a:cs typeface="Arial Bold"/>
                <a:sym typeface="Arial Bold"/>
              </a:rPr>
              <a:t>EDUCATION &amp; FERTILITY</a:t>
            </a:r>
          </a:p>
        </p:txBody>
      </p:sp>
      <p:sp>
        <p:nvSpPr>
          <p:cNvPr name="TextBox 3" id="3"/>
          <p:cNvSpPr txBox="true"/>
          <p:nvPr/>
        </p:nvSpPr>
        <p:spPr>
          <a:xfrm rot="0">
            <a:off x="12893040" y="367665"/>
            <a:ext cx="33604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Presenter: Huang Yixuan</a:t>
            </a:r>
          </a:p>
        </p:txBody>
      </p:sp>
      <p:sp>
        <p:nvSpPr>
          <p:cNvPr name="TextBox 4" id="4"/>
          <p:cNvSpPr txBox="true"/>
          <p:nvPr/>
        </p:nvSpPr>
        <p:spPr>
          <a:xfrm rot="0">
            <a:off x="16550640" y="367665"/>
            <a:ext cx="9601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02 / 04</a:t>
            </a:r>
          </a:p>
        </p:txBody>
      </p:sp>
      <p:sp>
        <p:nvSpPr>
          <p:cNvPr name="TextBox 5" id="5"/>
          <p:cNvSpPr txBox="true"/>
          <p:nvPr/>
        </p:nvSpPr>
        <p:spPr>
          <a:xfrm rot="0">
            <a:off x="765810" y="861060"/>
            <a:ext cx="16733520" cy="647700"/>
          </a:xfrm>
          <a:prstGeom prst="rect">
            <a:avLst/>
          </a:prstGeom>
        </p:spPr>
        <p:txBody>
          <a:bodyPr anchor="t" rtlCol="false" tIns="0" lIns="0" bIns="0" rIns="0">
            <a:spAutoFit/>
          </a:bodyPr>
          <a:lstStyle/>
          <a:p>
            <a:pPr algn="l">
              <a:lnSpc>
                <a:spcPts val="4968"/>
              </a:lnSpc>
            </a:pPr>
            <a:r>
              <a:rPr lang="en-US" sz="4140" b="true">
                <a:solidFill>
                  <a:srgbClr val="25364B"/>
                </a:solidFill>
                <a:latin typeface="Arial Bold"/>
                <a:ea typeface="Arial Bold"/>
                <a:cs typeface="Arial Bold"/>
                <a:sym typeface="Arial Bold"/>
              </a:rPr>
              <a:t>What drove education price changes</a:t>
            </a:r>
          </a:p>
        </p:txBody>
      </p:sp>
      <p:sp>
        <p:nvSpPr>
          <p:cNvPr name="TextBox 6" id="6"/>
          <p:cNvSpPr txBox="true"/>
          <p:nvPr/>
        </p:nvSpPr>
        <p:spPr>
          <a:xfrm rot="0">
            <a:off x="822960" y="1670685"/>
            <a:ext cx="16642080" cy="329565"/>
          </a:xfrm>
          <a:prstGeom prst="rect">
            <a:avLst/>
          </a:prstGeom>
        </p:spPr>
        <p:txBody>
          <a:bodyPr anchor="t" rtlCol="false" tIns="0" lIns="0" bIns="0" rIns="0">
            <a:spAutoFit/>
          </a:bodyPr>
          <a:lstStyle/>
          <a:p>
            <a:pPr algn="l">
              <a:lnSpc>
                <a:spcPts val="2484"/>
              </a:lnSpc>
            </a:pPr>
            <a:r>
              <a:rPr lang="en-US" sz="2070">
                <a:solidFill>
                  <a:srgbClr val="667487"/>
                </a:solidFill>
                <a:latin typeface="Arial"/>
                <a:ea typeface="Arial"/>
                <a:cs typeface="Arial"/>
                <a:sym typeface="Arial"/>
              </a:rPr>
              <a:t>Annual inflation (%), 2011–2025. Highlighted episodes: 2020 and 2023–2024.</a:t>
            </a:r>
          </a:p>
        </p:txBody>
      </p:sp>
      <p:grpSp>
        <p:nvGrpSpPr>
          <p:cNvPr name="Group 7" id="7"/>
          <p:cNvGrpSpPr/>
          <p:nvPr/>
        </p:nvGrpSpPr>
        <p:grpSpPr>
          <a:xfrm rot="0">
            <a:off x="731520" y="2345055"/>
            <a:ext cx="16824960" cy="5608320"/>
            <a:chOff x="0" y="0"/>
            <a:chExt cx="22433280" cy="7477760"/>
          </a:xfrm>
        </p:grpSpPr>
        <p:sp>
          <p:nvSpPr>
            <p:cNvPr name="Freeform 8" id="8"/>
            <p:cNvSpPr/>
            <p:nvPr/>
          </p:nvSpPr>
          <p:spPr>
            <a:xfrm flipH="false" flipV="false" rot="0">
              <a:off x="0" y="0"/>
              <a:ext cx="22433280" cy="7477760"/>
            </a:xfrm>
            <a:custGeom>
              <a:avLst/>
              <a:gdLst/>
              <a:ahLst/>
              <a:cxnLst/>
              <a:rect r="r" b="b" t="t" l="l"/>
              <a:pathLst>
                <a:path h="7477760" w="22433280">
                  <a:moveTo>
                    <a:pt x="0" y="0"/>
                  </a:moveTo>
                  <a:lnTo>
                    <a:pt x="22433280" y="0"/>
                  </a:lnTo>
                  <a:lnTo>
                    <a:pt x="22433280" y="7477760"/>
                  </a:lnTo>
                  <a:lnTo>
                    <a:pt x="0" y="7477760"/>
                  </a:lnTo>
                  <a:lnTo>
                    <a:pt x="0" y="0"/>
                  </a:lnTo>
                  <a:close/>
                </a:path>
              </a:pathLst>
            </a:custGeom>
            <a:blipFill>
              <a:blip r:embed="rId3"/>
              <a:stretch>
                <a:fillRect l="0" t="0" r="0" b="0"/>
              </a:stretch>
            </a:blipFill>
          </p:spPr>
        </p:sp>
      </p:grpSp>
      <p:sp>
        <p:nvSpPr>
          <p:cNvPr name="TextBox 9" id="9"/>
          <p:cNvSpPr txBox="true"/>
          <p:nvPr/>
        </p:nvSpPr>
        <p:spPr>
          <a:xfrm rot="0">
            <a:off x="822960" y="8176260"/>
            <a:ext cx="7932420" cy="327660"/>
          </a:xfrm>
          <a:prstGeom prst="rect">
            <a:avLst/>
          </a:prstGeom>
        </p:spPr>
        <p:txBody>
          <a:bodyPr anchor="t" rtlCol="false" tIns="0" lIns="0" bIns="0" rIns="0">
            <a:spAutoFit/>
          </a:bodyPr>
          <a:lstStyle/>
          <a:p>
            <a:pPr algn="l">
              <a:lnSpc>
                <a:spcPts val="2700"/>
              </a:lnSpc>
            </a:pPr>
            <a:r>
              <a:rPr lang="en-US" sz="2250" b="true">
                <a:solidFill>
                  <a:srgbClr val="2A78D6"/>
                </a:solidFill>
                <a:latin typeface="Arial Bold"/>
                <a:ea typeface="Arial Bold"/>
                <a:cs typeface="Arial Bold"/>
                <a:sym typeface="Arial Bold"/>
              </a:rPr>
              <a:t>2020: preschool subsidy relief</a:t>
            </a:r>
          </a:p>
        </p:txBody>
      </p:sp>
      <p:sp>
        <p:nvSpPr>
          <p:cNvPr name="TextBox 10" id="10"/>
          <p:cNvSpPr txBox="true"/>
          <p:nvPr/>
        </p:nvSpPr>
        <p:spPr>
          <a:xfrm rot="0">
            <a:off x="822960" y="8700135"/>
            <a:ext cx="7932420" cy="752475"/>
          </a:xfrm>
          <a:prstGeom prst="rect">
            <a:avLst/>
          </a:prstGeom>
        </p:spPr>
        <p:txBody>
          <a:bodyPr anchor="t" rtlCol="false" tIns="0" lIns="0" bIns="0" rIns="0">
            <a:spAutoFit/>
          </a:bodyPr>
          <a:lstStyle/>
          <a:p>
            <a:pPr algn="l">
              <a:lnSpc>
                <a:spcPts val="2592"/>
              </a:lnSpc>
            </a:pPr>
            <a:r>
              <a:rPr lang="en-US" sz="2160">
                <a:solidFill>
                  <a:srgbClr val="25364B"/>
                </a:solidFill>
                <a:latin typeface="Arial"/>
                <a:ea typeface="Arial"/>
                <a:cs typeface="Arial"/>
                <a:sym typeface="Arial"/>
              </a:rPr>
              <a:t>Enhanced preschool subsidies reduced covered fees, helping explain the 2.0% fall in general education prices.</a:t>
            </a:r>
          </a:p>
        </p:txBody>
      </p:sp>
      <p:sp>
        <p:nvSpPr>
          <p:cNvPr name="TextBox 11" id="11"/>
          <p:cNvSpPr txBox="true"/>
          <p:nvPr/>
        </p:nvSpPr>
        <p:spPr>
          <a:xfrm rot="0">
            <a:off x="9601200" y="8176260"/>
            <a:ext cx="7863840" cy="327660"/>
          </a:xfrm>
          <a:prstGeom prst="rect">
            <a:avLst/>
          </a:prstGeom>
        </p:spPr>
        <p:txBody>
          <a:bodyPr anchor="t" rtlCol="false" tIns="0" lIns="0" bIns="0" rIns="0">
            <a:spAutoFit/>
          </a:bodyPr>
          <a:lstStyle/>
          <a:p>
            <a:pPr algn="l">
              <a:lnSpc>
                <a:spcPts val="2700"/>
              </a:lnSpc>
            </a:pPr>
            <a:r>
              <a:rPr lang="en-US" sz="2250" b="true">
                <a:solidFill>
                  <a:srgbClr val="EB6834"/>
                </a:solidFill>
                <a:latin typeface="Arial Bold"/>
                <a:ea typeface="Arial Bold"/>
                <a:cs typeface="Arial Bold"/>
                <a:sym typeface="Arial Bold"/>
              </a:rPr>
              <a:t>2023–2024: possible tax pressure</a:t>
            </a:r>
          </a:p>
        </p:txBody>
      </p:sp>
      <p:sp>
        <p:nvSpPr>
          <p:cNvPr name="TextBox 12" id="12"/>
          <p:cNvSpPr txBox="true"/>
          <p:nvPr/>
        </p:nvSpPr>
        <p:spPr>
          <a:xfrm rot="0">
            <a:off x="9601200" y="8700135"/>
            <a:ext cx="7863840" cy="752475"/>
          </a:xfrm>
          <a:prstGeom prst="rect">
            <a:avLst/>
          </a:prstGeom>
        </p:spPr>
        <p:txBody>
          <a:bodyPr anchor="t" rtlCol="false" tIns="0" lIns="0" bIns="0" rIns="0">
            <a:spAutoFit/>
          </a:bodyPr>
          <a:lstStyle/>
          <a:p>
            <a:pPr algn="l">
              <a:lnSpc>
                <a:spcPts val="2592"/>
              </a:lnSpc>
            </a:pPr>
            <a:r>
              <a:rPr lang="en-US" sz="2160">
                <a:solidFill>
                  <a:srgbClr val="25364B"/>
                </a:solidFill>
                <a:latin typeface="Arial"/>
                <a:ea typeface="Arial"/>
                <a:cs typeface="Arial"/>
                <a:sym typeface="Arial"/>
              </a:rPr>
              <a:t>GST rose to 8% in 2023 and 9% in 2024, potentially adding to taxable private course fees.</a:t>
            </a:r>
          </a:p>
        </p:txBody>
      </p:sp>
      <p:sp>
        <p:nvSpPr>
          <p:cNvPr name="TextBox 13" id="13"/>
          <p:cNvSpPr txBox="true"/>
          <p:nvPr/>
        </p:nvSpPr>
        <p:spPr>
          <a:xfrm rot="0">
            <a:off x="822960" y="9742170"/>
            <a:ext cx="16642080" cy="167640"/>
          </a:xfrm>
          <a:prstGeom prst="rect">
            <a:avLst/>
          </a:prstGeom>
        </p:spPr>
        <p:txBody>
          <a:bodyPr anchor="t" rtlCol="false" tIns="0" lIns="0" bIns="0" rIns="0">
            <a:spAutoFit/>
          </a:bodyPr>
          <a:lstStyle/>
          <a:p>
            <a:pPr algn="l">
              <a:lnSpc>
                <a:spcPts val="1404"/>
              </a:lnSpc>
            </a:pPr>
            <a:r>
              <a:rPr lang="en-US" sz="1170">
                <a:solidFill>
                  <a:srgbClr val="667487"/>
                </a:solidFill>
                <a:latin typeface="Arial"/>
                <a:ea typeface="Arial"/>
                <a:cs typeface="Arial"/>
                <a:sym typeface="Arial"/>
              </a:rPr>
              <a:t>Chart: SingStat M213801. Policy context: SingStat CPI paper (2021), IRAS GST guidance.</a:t>
            </a:r>
          </a:p>
        </p:txBody>
      </p:sp>
      <p:sp>
        <p:nvSpPr>
          <p:cNvPr name="TextBox 14" id="14"/>
          <p:cNvSpPr txBox="true"/>
          <p:nvPr/>
        </p:nvSpPr>
        <p:spPr>
          <a:xfrm rot="0">
            <a:off x="822960" y="10048875"/>
            <a:ext cx="16642080" cy="112395"/>
          </a:xfrm>
          <a:prstGeom prst="rect">
            <a:avLst/>
          </a:prstGeom>
        </p:spPr>
        <p:txBody>
          <a:bodyPr anchor="t" rtlCol="false" tIns="0" lIns="0" bIns="0" rIns="0">
            <a:spAutoFit/>
          </a:bodyPr>
          <a:lstStyle/>
          <a:p>
            <a:pPr algn="l">
              <a:lnSpc>
                <a:spcPts val="1080"/>
              </a:lnSpc>
            </a:pPr>
            <a:r>
              <a:rPr lang="en-US" sz="900">
                <a:solidFill>
                  <a:srgbClr val="667487"/>
                </a:solidFill>
                <a:latin typeface="Arial"/>
                <a:ea typeface="Arial"/>
                <a:cs typeface="Arial"/>
                <a:sym typeface="Arial"/>
              </a:rPr>
              <a:t>Dashboard figures reproduced as non-editable source images.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TextBox 2" id="2"/>
          <p:cNvSpPr txBox="true"/>
          <p:nvPr/>
        </p:nvSpPr>
        <p:spPr>
          <a:xfrm rot="0">
            <a:off x="822960" y="367665"/>
            <a:ext cx="6675120" cy="215265"/>
          </a:xfrm>
          <a:prstGeom prst="rect">
            <a:avLst/>
          </a:prstGeom>
        </p:spPr>
        <p:txBody>
          <a:bodyPr anchor="t" rtlCol="false" tIns="0" lIns="0" bIns="0" rIns="0">
            <a:spAutoFit/>
          </a:bodyPr>
          <a:lstStyle/>
          <a:p>
            <a:pPr algn="l">
              <a:lnSpc>
                <a:spcPts val="1727"/>
              </a:lnSpc>
            </a:pPr>
            <a:r>
              <a:rPr lang="en-US" sz="1439" b="true">
                <a:solidFill>
                  <a:srgbClr val="667487"/>
                </a:solidFill>
                <a:latin typeface="Arial Bold"/>
                <a:ea typeface="Arial Bold"/>
                <a:cs typeface="Arial Bold"/>
                <a:sym typeface="Arial Bold"/>
              </a:rPr>
              <a:t>EDUCATION &amp; FERTILITY</a:t>
            </a:r>
          </a:p>
        </p:txBody>
      </p:sp>
      <p:sp>
        <p:nvSpPr>
          <p:cNvPr name="TextBox 3" id="3"/>
          <p:cNvSpPr txBox="true"/>
          <p:nvPr/>
        </p:nvSpPr>
        <p:spPr>
          <a:xfrm rot="0">
            <a:off x="12893040" y="367665"/>
            <a:ext cx="33604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Presenter: Huang Yixuan</a:t>
            </a:r>
          </a:p>
        </p:txBody>
      </p:sp>
      <p:sp>
        <p:nvSpPr>
          <p:cNvPr name="TextBox 4" id="4"/>
          <p:cNvSpPr txBox="true"/>
          <p:nvPr/>
        </p:nvSpPr>
        <p:spPr>
          <a:xfrm rot="0">
            <a:off x="16550640" y="367665"/>
            <a:ext cx="9601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03 / 04</a:t>
            </a:r>
          </a:p>
        </p:txBody>
      </p:sp>
      <p:sp>
        <p:nvSpPr>
          <p:cNvPr name="TextBox 5" id="5"/>
          <p:cNvSpPr txBox="true"/>
          <p:nvPr/>
        </p:nvSpPr>
        <p:spPr>
          <a:xfrm rot="0">
            <a:off x="765810" y="861060"/>
            <a:ext cx="16733520" cy="647700"/>
          </a:xfrm>
          <a:prstGeom prst="rect">
            <a:avLst/>
          </a:prstGeom>
        </p:spPr>
        <p:txBody>
          <a:bodyPr anchor="t" rtlCol="false" tIns="0" lIns="0" bIns="0" rIns="0">
            <a:spAutoFit/>
          </a:bodyPr>
          <a:lstStyle/>
          <a:p>
            <a:pPr algn="l">
              <a:lnSpc>
                <a:spcPts val="4968"/>
              </a:lnSpc>
            </a:pPr>
            <a:r>
              <a:rPr lang="en-US" sz="4140" b="true">
                <a:solidFill>
                  <a:srgbClr val="25364B"/>
                </a:solidFill>
                <a:latin typeface="Arial Bold"/>
                <a:ea typeface="Arial Bold"/>
                <a:cs typeface="Arial Bold"/>
                <a:sym typeface="Arial Bold"/>
              </a:rPr>
              <a:t>Public support and budget allocation</a:t>
            </a:r>
          </a:p>
        </p:txBody>
      </p:sp>
      <p:sp>
        <p:nvSpPr>
          <p:cNvPr name="TextBox 6" id="6"/>
          <p:cNvSpPr txBox="true"/>
          <p:nvPr/>
        </p:nvSpPr>
        <p:spPr>
          <a:xfrm rot="0">
            <a:off x="822960" y="1670685"/>
            <a:ext cx="16642080" cy="329565"/>
          </a:xfrm>
          <a:prstGeom prst="rect">
            <a:avLst/>
          </a:prstGeom>
        </p:spPr>
        <p:txBody>
          <a:bodyPr anchor="t" rtlCol="false" tIns="0" lIns="0" bIns="0" rIns="0">
            <a:spAutoFit/>
          </a:bodyPr>
          <a:lstStyle/>
          <a:p>
            <a:pPr algn="l">
              <a:lnSpc>
                <a:spcPts val="2484"/>
              </a:lnSpc>
            </a:pPr>
            <a:r>
              <a:rPr lang="en-US" sz="2070">
                <a:solidFill>
                  <a:srgbClr val="667487"/>
                </a:solidFill>
                <a:latin typeface="Arial"/>
                <a:ea typeface="Arial"/>
                <a:cs typeface="Arial"/>
                <a:sym typeface="Arial"/>
              </a:rPr>
              <a:t>FY2010–FY2025. Per-pupil funding more than doubled. Total education spending rose 53.2%.</a:t>
            </a:r>
          </a:p>
        </p:txBody>
      </p:sp>
      <p:grpSp>
        <p:nvGrpSpPr>
          <p:cNvPr name="Group 7" id="7"/>
          <p:cNvGrpSpPr/>
          <p:nvPr/>
        </p:nvGrpSpPr>
        <p:grpSpPr>
          <a:xfrm rot="0">
            <a:off x="731520" y="2228850"/>
            <a:ext cx="16824960" cy="3364992"/>
            <a:chOff x="0" y="0"/>
            <a:chExt cx="22433280" cy="4486656"/>
          </a:xfrm>
        </p:grpSpPr>
        <p:sp>
          <p:nvSpPr>
            <p:cNvPr name="Freeform 8" id="8"/>
            <p:cNvSpPr/>
            <p:nvPr/>
          </p:nvSpPr>
          <p:spPr>
            <a:xfrm flipH="false" flipV="false" rot="0">
              <a:off x="0" y="0"/>
              <a:ext cx="22433280" cy="4486656"/>
            </a:xfrm>
            <a:custGeom>
              <a:avLst/>
              <a:gdLst/>
              <a:ahLst/>
              <a:cxnLst/>
              <a:rect r="r" b="b" t="t" l="l"/>
              <a:pathLst>
                <a:path h="4486656" w="22433280">
                  <a:moveTo>
                    <a:pt x="0" y="0"/>
                  </a:moveTo>
                  <a:lnTo>
                    <a:pt x="22433280" y="0"/>
                  </a:lnTo>
                  <a:lnTo>
                    <a:pt x="22433280" y="4486656"/>
                  </a:lnTo>
                  <a:lnTo>
                    <a:pt x="0" y="4486656"/>
                  </a:lnTo>
                  <a:lnTo>
                    <a:pt x="0" y="0"/>
                  </a:lnTo>
                  <a:close/>
                </a:path>
              </a:pathLst>
            </a:custGeom>
            <a:blipFill>
              <a:blip r:embed="rId3"/>
              <a:stretch>
                <a:fillRect l="0" t="0" r="0" b="0"/>
              </a:stretch>
            </a:blipFill>
          </p:spPr>
        </p:sp>
      </p:grpSp>
      <p:sp>
        <p:nvSpPr>
          <p:cNvPr name="TextBox 9" id="9"/>
          <p:cNvSpPr txBox="true"/>
          <p:nvPr/>
        </p:nvSpPr>
        <p:spPr>
          <a:xfrm rot="0">
            <a:off x="822960" y="5659755"/>
            <a:ext cx="8389620" cy="295275"/>
          </a:xfrm>
          <a:prstGeom prst="rect">
            <a:avLst/>
          </a:prstGeom>
        </p:spPr>
        <p:txBody>
          <a:bodyPr anchor="t" rtlCol="false" tIns="0" lIns="0" bIns="0" rIns="0">
            <a:spAutoFit/>
          </a:bodyPr>
          <a:lstStyle/>
          <a:p>
            <a:pPr algn="l">
              <a:lnSpc>
                <a:spcPts val="2592"/>
              </a:lnSpc>
            </a:pPr>
            <a:r>
              <a:rPr lang="en-US" sz="2160" b="true">
                <a:solidFill>
                  <a:srgbClr val="25364B"/>
                </a:solidFill>
                <a:latin typeface="Arial Bold"/>
                <a:ea typeface="Arial Bold"/>
                <a:cs typeface="Arial Bold"/>
                <a:sym typeface="Arial Bold"/>
              </a:rPr>
              <a:t>FY2025   Total: S$15.12bn</a:t>
            </a:r>
          </a:p>
        </p:txBody>
      </p:sp>
      <p:grpSp>
        <p:nvGrpSpPr>
          <p:cNvPr name="Group 10" id="10"/>
          <p:cNvGrpSpPr/>
          <p:nvPr/>
        </p:nvGrpSpPr>
        <p:grpSpPr>
          <a:xfrm rot="0">
            <a:off x="685800" y="6115050"/>
            <a:ext cx="8572500" cy="3429000"/>
            <a:chOff x="0" y="0"/>
            <a:chExt cx="11430000" cy="4572000"/>
          </a:xfrm>
        </p:grpSpPr>
        <p:sp>
          <p:nvSpPr>
            <p:cNvPr name="Freeform 11" id="11"/>
            <p:cNvSpPr/>
            <p:nvPr/>
          </p:nvSpPr>
          <p:spPr>
            <a:xfrm flipH="false" flipV="false" rot="0">
              <a:off x="0" y="0"/>
              <a:ext cx="11430000" cy="4572000"/>
            </a:xfrm>
            <a:custGeom>
              <a:avLst/>
              <a:gdLst/>
              <a:ahLst/>
              <a:cxnLst/>
              <a:rect r="r" b="b" t="t" l="l"/>
              <a:pathLst>
                <a:path h="4572000" w="11430000">
                  <a:moveTo>
                    <a:pt x="0" y="0"/>
                  </a:moveTo>
                  <a:lnTo>
                    <a:pt x="11430000" y="0"/>
                  </a:lnTo>
                  <a:lnTo>
                    <a:pt x="11430000" y="4572000"/>
                  </a:lnTo>
                  <a:lnTo>
                    <a:pt x="0" y="4572000"/>
                  </a:lnTo>
                  <a:lnTo>
                    <a:pt x="0" y="0"/>
                  </a:lnTo>
                  <a:close/>
                </a:path>
              </a:pathLst>
            </a:custGeom>
            <a:blipFill>
              <a:blip r:embed="rId4"/>
              <a:stretch>
                <a:fillRect l="0" t="0" r="0" b="0"/>
              </a:stretch>
            </a:blipFill>
          </p:spPr>
        </p:sp>
      </p:grpSp>
      <p:sp>
        <p:nvSpPr>
          <p:cNvPr name="TextBox 12" id="12"/>
          <p:cNvSpPr txBox="true"/>
          <p:nvPr/>
        </p:nvSpPr>
        <p:spPr>
          <a:xfrm rot="0">
            <a:off x="9806940" y="5774055"/>
            <a:ext cx="7658100" cy="1243965"/>
          </a:xfrm>
          <a:prstGeom prst="rect">
            <a:avLst/>
          </a:prstGeom>
        </p:spPr>
        <p:txBody>
          <a:bodyPr anchor="t" rtlCol="false" tIns="0" lIns="0" bIns="0" rIns="0">
            <a:spAutoFit/>
          </a:bodyPr>
          <a:lstStyle/>
          <a:p>
            <a:pPr algn="l">
              <a:lnSpc>
                <a:spcPts val="2484"/>
              </a:lnSpc>
            </a:pPr>
            <a:r>
              <a:rPr lang="en-US" sz="2070">
                <a:solidFill>
                  <a:srgbClr val="25364B"/>
                </a:solidFill>
                <a:latin typeface="Arial"/>
                <a:ea typeface="Arial"/>
                <a:cs typeface="Arial"/>
                <a:sym typeface="Arial"/>
              </a:rPr>
              <a:t>Spending per pupil rose 118.6% in primary and 106.5% in secondary education. Primary and secondary/JC together received 46.1% of the FY2025 budget, showing sustained support for school education.</a:t>
            </a:r>
          </a:p>
        </p:txBody>
      </p:sp>
      <p:sp>
        <p:nvSpPr>
          <p:cNvPr name="TextBox 13" id="13"/>
          <p:cNvSpPr txBox="true"/>
          <p:nvPr/>
        </p:nvSpPr>
        <p:spPr>
          <a:xfrm rot="0">
            <a:off x="9806940" y="7237095"/>
            <a:ext cx="7658100" cy="1243965"/>
          </a:xfrm>
          <a:prstGeom prst="rect">
            <a:avLst/>
          </a:prstGeom>
        </p:spPr>
        <p:txBody>
          <a:bodyPr anchor="t" rtlCol="false" tIns="0" lIns="0" bIns="0" rIns="0">
            <a:spAutoFit/>
          </a:bodyPr>
          <a:lstStyle/>
          <a:p>
            <a:pPr algn="l">
              <a:lnSpc>
                <a:spcPts val="2484"/>
              </a:lnSpc>
            </a:pPr>
            <a:r>
              <a:rPr lang="en-US" sz="2070">
                <a:solidFill>
                  <a:srgbClr val="25364B"/>
                </a:solidFill>
                <a:latin typeface="Arial"/>
                <a:ea typeface="Arial"/>
                <a:cs typeface="Arial"/>
                <a:sym typeface="Arial"/>
              </a:rPr>
              <a:t>Total funding grew 53.2%. Other and ITE gained share, while secondary/JC and tertiary shares fell despite higher spending. Capital spending recovered after FY2022.</a:t>
            </a:r>
          </a:p>
        </p:txBody>
      </p:sp>
      <p:sp>
        <p:nvSpPr>
          <p:cNvPr name="TextBox 14" id="14"/>
          <p:cNvSpPr txBox="true"/>
          <p:nvPr/>
        </p:nvSpPr>
        <p:spPr>
          <a:xfrm rot="0">
            <a:off x="9806940" y="8425815"/>
            <a:ext cx="7658100" cy="1072515"/>
          </a:xfrm>
          <a:prstGeom prst="rect">
            <a:avLst/>
          </a:prstGeom>
        </p:spPr>
        <p:txBody>
          <a:bodyPr anchor="t" rtlCol="false" tIns="0" lIns="0" bIns="0" rIns="0">
            <a:spAutoFit/>
          </a:bodyPr>
          <a:lstStyle/>
          <a:p>
            <a:pPr algn="l">
              <a:lnSpc>
                <a:spcPts val="2484"/>
              </a:lnSpc>
            </a:pPr>
            <a:r>
              <a:rPr lang="en-US" sz="2070">
                <a:solidFill>
                  <a:srgbClr val="25364B"/>
                </a:solidFill>
                <a:latin typeface="Arial"/>
                <a:ea typeface="Arial"/>
                <a:cs typeface="Arial"/>
                <a:sym typeface="Arial"/>
              </a:rPr>
              <a:t>Public provision therefore supports school resources and wider skills development, alongside the private tuition costs that families face.</a:t>
            </a:r>
          </a:p>
        </p:txBody>
      </p:sp>
      <p:sp>
        <p:nvSpPr>
          <p:cNvPr name="TextBox 15" id="15"/>
          <p:cNvSpPr txBox="true"/>
          <p:nvPr/>
        </p:nvSpPr>
        <p:spPr>
          <a:xfrm rot="0">
            <a:off x="822960" y="9742170"/>
            <a:ext cx="16642080" cy="167640"/>
          </a:xfrm>
          <a:prstGeom prst="rect">
            <a:avLst/>
          </a:prstGeom>
        </p:spPr>
        <p:txBody>
          <a:bodyPr anchor="t" rtlCol="false" tIns="0" lIns="0" bIns="0" rIns="0">
            <a:spAutoFit/>
          </a:bodyPr>
          <a:lstStyle/>
          <a:p>
            <a:pPr algn="l">
              <a:lnSpc>
                <a:spcPts val="1404"/>
              </a:lnSpc>
            </a:pPr>
            <a:r>
              <a:rPr lang="en-US" sz="1170">
                <a:solidFill>
                  <a:srgbClr val="667487"/>
                </a:solidFill>
                <a:latin typeface="Arial"/>
                <a:ea typeface="Arial"/>
                <a:cs typeface="Arial"/>
                <a:sym typeface="Arial"/>
              </a:rPr>
              <a:t>Sources: SingStat M850291 and M850011. Nominal S$. FY2025 revised estimates.</a:t>
            </a:r>
          </a:p>
        </p:txBody>
      </p:sp>
      <p:sp>
        <p:nvSpPr>
          <p:cNvPr name="TextBox 16" id="16"/>
          <p:cNvSpPr txBox="true"/>
          <p:nvPr/>
        </p:nvSpPr>
        <p:spPr>
          <a:xfrm rot="0">
            <a:off x="822960" y="10048875"/>
            <a:ext cx="16642080" cy="112395"/>
          </a:xfrm>
          <a:prstGeom prst="rect">
            <a:avLst/>
          </a:prstGeom>
        </p:spPr>
        <p:txBody>
          <a:bodyPr anchor="t" rtlCol="false" tIns="0" lIns="0" bIns="0" rIns="0">
            <a:spAutoFit/>
          </a:bodyPr>
          <a:lstStyle/>
          <a:p>
            <a:pPr algn="l">
              <a:lnSpc>
                <a:spcPts val="1080"/>
              </a:lnSpc>
            </a:pPr>
            <a:r>
              <a:rPr lang="en-US" sz="900">
                <a:solidFill>
                  <a:srgbClr val="667487"/>
                </a:solidFill>
                <a:latin typeface="Arial"/>
                <a:ea typeface="Arial"/>
                <a:cs typeface="Arial"/>
                <a:sym typeface="Arial"/>
              </a:rPr>
              <a:t>Dashboard figures reproduced as non-editable source images.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TextBox 2" id="2"/>
          <p:cNvSpPr txBox="true"/>
          <p:nvPr/>
        </p:nvSpPr>
        <p:spPr>
          <a:xfrm rot="0">
            <a:off x="822960" y="367665"/>
            <a:ext cx="6675120" cy="215265"/>
          </a:xfrm>
          <a:prstGeom prst="rect">
            <a:avLst/>
          </a:prstGeom>
        </p:spPr>
        <p:txBody>
          <a:bodyPr anchor="t" rtlCol="false" tIns="0" lIns="0" bIns="0" rIns="0">
            <a:spAutoFit/>
          </a:bodyPr>
          <a:lstStyle/>
          <a:p>
            <a:pPr algn="l">
              <a:lnSpc>
                <a:spcPts val="1727"/>
              </a:lnSpc>
            </a:pPr>
            <a:r>
              <a:rPr lang="en-US" sz="1439" b="true">
                <a:solidFill>
                  <a:srgbClr val="667487"/>
                </a:solidFill>
                <a:latin typeface="Arial Bold"/>
                <a:ea typeface="Arial Bold"/>
                <a:cs typeface="Arial Bold"/>
                <a:sym typeface="Arial Bold"/>
              </a:rPr>
              <a:t>EDUCATION &amp; FERTILITY</a:t>
            </a:r>
          </a:p>
        </p:txBody>
      </p:sp>
      <p:sp>
        <p:nvSpPr>
          <p:cNvPr name="TextBox 3" id="3"/>
          <p:cNvSpPr txBox="true"/>
          <p:nvPr/>
        </p:nvSpPr>
        <p:spPr>
          <a:xfrm rot="0">
            <a:off x="12893040" y="367665"/>
            <a:ext cx="33604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Presenter: Huang Yixuan</a:t>
            </a:r>
          </a:p>
        </p:txBody>
      </p:sp>
      <p:sp>
        <p:nvSpPr>
          <p:cNvPr name="TextBox 4" id="4"/>
          <p:cNvSpPr txBox="true"/>
          <p:nvPr/>
        </p:nvSpPr>
        <p:spPr>
          <a:xfrm rot="0">
            <a:off x="16550640" y="367665"/>
            <a:ext cx="960120" cy="215265"/>
          </a:xfrm>
          <a:prstGeom prst="rect">
            <a:avLst/>
          </a:prstGeom>
        </p:spPr>
        <p:txBody>
          <a:bodyPr anchor="t" rtlCol="false" tIns="0" lIns="0" bIns="0" rIns="0">
            <a:spAutoFit/>
          </a:bodyPr>
          <a:lstStyle/>
          <a:p>
            <a:pPr algn="l">
              <a:lnSpc>
                <a:spcPts val="1727"/>
              </a:lnSpc>
            </a:pPr>
            <a:r>
              <a:rPr lang="en-US" sz="1439">
                <a:solidFill>
                  <a:srgbClr val="667487"/>
                </a:solidFill>
                <a:latin typeface="Arial"/>
                <a:ea typeface="Arial"/>
                <a:cs typeface="Arial"/>
                <a:sym typeface="Arial"/>
              </a:rPr>
              <a:t>04 / 04</a:t>
            </a:r>
          </a:p>
        </p:txBody>
      </p:sp>
      <p:sp>
        <p:nvSpPr>
          <p:cNvPr name="TextBox 5" id="5"/>
          <p:cNvSpPr txBox="true"/>
          <p:nvPr/>
        </p:nvSpPr>
        <p:spPr>
          <a:xfrm rot="0">
            <a:off x="765810" y="861060"/>
            <a:ext cx="16733520" cy="647700"/>
          </a:xfrm>
          <a:prstGeom prst="rect">
            <a:avLst/>
          </a:prstGeom>
        </p:spPr>
        <p:txBody>
          <a:bodyPr anchor="t" rtlCol="false" tIns="0" lIns="0" bIns="0" rIns="0">
            <a:spAutoFit/>
          </a:bodyPr>
          <a:lstStyle/>
          <a:p>
            <a:pPr algn="l">
              <a:lnSpc>
                <a:spcPts val="4968"/>
              </a:lnSpc>
            </a:pPr>
            <a:r>
              <a:rPr lang="en-US" sz="4140" b="true">
                <a:solidFill>
                  <a:srgbClr val="25364B"/>
                </a:solidFill>
                <a:latin typeface="Arial Bold"/>
                <a:ea typeface="Arial Bold"/>
                <a:cs typeface="Arial Bold"/>
                <a:sym typeface="Arial Bold"/>
              </a:rPr>
              <a:t>Education prices and TFR</a:t>
            </a:r>
          </a:p>
        </p:txBody>
      </p:sp>
      <p:sp>
        <p:nvSpPr>
          <p:cNvPr name="TextBox 6" id="6"/>
          <p:cNvSpPr txBox="true"/>
          <p:nvPr/>
        </p:nvSpPr>
        <p:spPr>
          <a:xfrm rot="0">
            <a:off x="822960" y="1670685"/>
            <a:ext cx="16642080" cy="329565"/>
          </a:xfrm>
          <a:prstGeom prst="rect">
            <a:avLst/>
          </a:prstGeom>
        </p:spPr>
        <p:txBody>
          <a:bodyPr anchor="t" rtlCol="false" tIns="0" lIns="0" bIns="0" rIns="0">
            <a:spAutoFit/>
          </a:bodyPr>
          <a:lstStyle/>
          <a:p>
            <a:pPr algn="l">
              <a:lnSpc>
                <a:spcPts val="2484"/>
              </a:lnSpc>
            </a:pPr>
            <a:r>
              <a:rPr lang="en-US" sz="2070">
                <a:solidFill>
                  <a:srgbClr val="667487"/>
                </a:solidFill>
                <a:latin typeface="Arial"/>
                <a:ea typeface="Arial"/>
                <a:cs typeface="Arial"/>
                <a:sym typeface="Arial"/>
              </a:rPr>
              <a:t>2010–2025. Pearson r and two-sided p-values use 16 annual level observations.</a:t>
            </a:r>
          </a:p>
        </p:txBody>
      </p:sp>
      <p:grpSp>
        <p:nvGrpSpPr>
          <p:cNvPr name="Group 7" id="7"/>
          <p:cNvGrpSpPr/>
          <p:nvPr/>
        </p:nvGrpSpPr>
        <p:grpSpPr>
          <a:xfrm rot="0">
            <a:off x="731520" y="2628910"/>
            <a:ext cx="16824960" cy="5185772"/>
            <a:chOff x="0" y="0"/>
            <a:chExt cx="22433280" cy="6914363"/>
          </a:xfrm>
        </p:grpSpPr>
        <p:sp>
          <p:nvSpPr>
            <p:cNvPr name="Freeform 8" id="8"/>
            <p:cNvSpPr/>
            <p:nvPr/>
          </p:nvSpPr>
          <p:spPr>
            <a:xfrm flipH="false" flipV="false" rot="0">
              <a:off x="0" y="0"/>
              <a:ext cx="22433280" cy="6914388"/>
            </a:xfrm>
            <a:custGeom>
              <a:avLst/>
              <a:gdLst/>
              <a:ahLst/>
              <a:cxnLst/>
              <a:rect r="r" b="b" t="t" l="l"/>
              <a:pathLst>
                <a:path h="6914388" w="22433280">
                  <a:moveTo>
                    <a:pt x="0" y="0"/>
                  </a:moveTo>
                  <a:lnTo>
                    <a:pt x="22433280" y="0"/>
                  </a:lnTo>
                  <a:lnTo>
                    <a:pt x="22433280" y="6914388"/>
                  </a:lnTo>
                  <a:lnTo>
                    <a:pt x="0" y="6914388"/>
                  </a:lnTo>
                  <a:lnTo>
                    <a:pt x="0" y="0"/>
                  </a:lnTo>
                  <a:close/>
                </a:path>
              </a:pathLst>
            </a:custGeom>
            <a:blipFill>
              <a:blip r:embed="rId3"/>
              <a:stretch>
                <a:fillRect l="0" t="0" r="0" b="0"/>
              </a:stretch>
            </a:blipFill>
          </p:spPr>
        </p:sp>
      </p:grpSp>
      <p:sp>
        <p:nvSpPr>
          <p:cNvPr name="TextBox 9" id="9"/>
          <p:cNvSpPr txBox="true"/>
          <p:nvPr/>
        </p:nvSpPr>
        <p:spPr>
          <a:xfrm rot="0">
            <a:off x="822960" y="8599170"/>
            <a:ext cx="16642080" cy="899160"/>
          </a:xfrm>
          <a:prstGeom prst="rect">
            <a:avLst/>
          </a:prstGeom>
        </p:spPr>
        <p:txBody>
          <a:bodyPr anchor="t" rtlCol="false" tIns="0" lIns="0" bIns="0" rIns="0">
            <a:spAutoFit/>
          </a:bodyPr>
          <a:lstStyle/>
          <a:p>
            <a:pPr algn="l">
              <a:lnSpc>
                <a:spcPts val="2915"/>
              </a:lnSpc>
            </a:pPr>
            <a:r>
              <a:rPr lang="en-US" sz="2429">
                <a:solidFill>
                  <a:srgbClr val="25364B"/>
                </a:solidFill>
                <a:latin typeface="Arial"/>
                <a:ea typeface="Arial"/>
                <a:cs typeface="Arial"/>
                <a:sym typeface="Arial"/>
              </a:rPr>
              <a:t>Tuition prices show the strongest negative level correlation with TFR. General education and textbook prices show similar negative associations.</a:t>
            </a:r>
          </a:p>
        </p:txBody>
      </p:sp>
      <p:sp>
        <p:nvSpPr>
          <p:cNvPr name="TextBox 10" id="10"/>
          <p:cNvSpPr txBox="true"/>
          <p:nvPr/>
        </p:nvSpPr>
        <p:spPr>
          <a:xfrm rot="0">
            <a:off x="822960" y="9742170"/>
            <a:ext cx="16642080" cy="167640"/>
          </a:xfrm>
          <a:prstGeom prst="rect">
            <a:avLst/>
          </a:prstGeom>
        </p:spPr>
        <p:txBody>
          <a:bodyPr anchor="t" rtlCol="false" tIns="0" lIns="0" bIns="0" rIns="0">
            <a:spAutoFit/>
          </a:bodyPr>
          <a:lstStyle/>
          <a:p>
            <a:pPr algn="l">
              <a:lnSpc>
                <a:spcPts val="1404"/>
              </a:lnSpc>
            </a:pPr>
            <a:r>
              <a:rPr lang="en-US" sz="1170">
                <a:solidFill>
                  <a:srgbClr val="667487"/>
                </a:solidFill>
                <a:latin typeface="Arial"/>
                <a:ea typeface="Arial"/>
                <a:cs typeface="Arial"/>
                <a:sym typeface="Arial"/>
              </a:rPr>
              <a:t>Sources: SingStat M213801 and M810091. Price indices use 2010 = 100. TFR is children per woman.</a:t>
            </a:r>
          </a:p>
        </p:txBody>
      </p:sp>
      <p:sp>
        <p:nvSpPr>
          <p:cNvPr name="TextBox 11" id="11"/>
          <p:cNvSpPr txBox="true"/>
          <p:nvPr/>
        </p:nvSpPr>
        <p:spPr>
          <a:xfrm rot="0">
            <a:off x="822960" y="10048875"/>
            <a:ext cx="16642080" cy="112395"/>
          </a:xfrm>
          <a:prstGeom prst="rect">
            <a:avLst/>
          </a:prstGeom>
        </p:spPr>
        <p:txBody>
          <a:bodyPr anchor="t" rtlCol="false" tIns="0" lIns="0" bIns="0" rIns="0">
            <a:spAutoFit/>
          </a:bodyPr>
          <a:lstStyle/>
          <a:p>
            <a:pPr algn="l">
              <a:lnSpc>
                <a:spcPts val="1080"/>
              </a:lnSpc>
            </a:pPr>
            <a:r>
              <a:rPr lang="en-US" sz="900">
                <a:solidFill>
                  <a:srgbClr val="667487"/>
                </a:solidFill>
                <a:latin typeface="Arial"/>
                <a:ea typeface="Arial"/>
                <a:cs typeface="Arial"/>
                <a:sym typeface="Arial"/>
              </a:rPr>
              <a:t>Dashboard figures reproduced as non-editable source images.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680314" y="441808"/>
            <a:ext cx="8778240" cy="348234"/>
          </a:xfrm>
          <a:prstGeom prst="rect">
            <a:avLst/>
          </a:prstGeom>
        </p:spPr>
        <p:txBody>
          <a:bodyPr anchor="t" rtlCol="false" tIns="0" lIns="0" bIns="0" rIns="0">
            <a:spAutoFit/>
          </a:bodyPr>
          <a:lstStyle/>
          <a:p>
            <a:pPr algn="l">
              <a:lnSpc>
                <a:spcPts val="2015"/>
              </a:lnSpc>
            </a:pPr>
            <a:r>
              <a:rPr lang="en-US" sz="1679" b="true">
                <a:solidFill>
                  <a:srgbClr val="F08A5D"/>
                </a:solidFill>
                <a:latin typeface="Arial Bold"/>
                <a:ea typeface="Arial Bold"/>
                <a:cs typeface="Arial Bold"/>
                <a:sym typeface="Arial Bold"/>
              </a:rPr>
              <a:t>OVERALL CONCLUSION</a:t>
            </a:r>
          </a:p>
        </p:txBody>
      </p:sp>
      <p:sp>
        <p:nvSpPr>
          <p:cNvPr name="TextBox 3" id="3"/>
          <p:cNvSpPr txBox="true"/>
          <p:nvPr/>
        </p:nvSpPr>
        <p:spPr>
          <a:xfrm rot="0">
            <a:off x="680314" y="934136"/>
            <a:ext cx="11631168" cy="689839"/>
          </a:xfrm>
          <a:prstGeom prst="rect">
            <a:avLst/>
          </a:prstGeom>
        </p:spPr>
        <p:txBody>
          <a:bodyPr anchor="t" rtlCol="false" tIns="0" lIns="0" bIns="0" rIns="0">
            <a:spAutoFit/>
          </a:bodyPr>
          <a:lstStyle/>
          <a:p>
            <a:pPr algn="l">
              <a:lnSpc>
                <a:spcPts val="4895"/>
              </a:lnSpc>
            </a:pPr>
            <a:r>
              <a:rPr lang="en-US" sz="4079">
                <a:solidFill>
                  <a:srgbClr val="F3F1EA"/>
                </a:solidFill>
                <a:latin typeface="Georgia"/>
                <a:ea typeface="Georgia"/>
                <a:cs typeface="Georgia"/>
                <a:sym typeface="Georgia"/>
              </a:rPr>
              <a:t>Every factor trended with falling TFR</a:t>
            </a:r>
          </a:p>
        </p:txBody>
      </p:sp>
      <p:sp>
        <p:nvSpPr>
          <p:cNvPr name="TextBox 4" id="4"/>
          <p:cNvSpPr txBox="true"/>
          <p:nvPr/>
        </p:nvSpPr>
        <p:spPr>
          <a:xfrm rot="0">
            <a:off x="680314" y="1736598"/>
            <a:ext cx="11631168" cy="370180"/>
          </a:xfrm>
          <a:prstGeom prst="rect">
            <a:avLst/>
          </a:prstGeom>
        </p:spPr>
        <p:txBody>
          <a:bodyPr anchor="t" rtlCol="false" tIns="0" lIns="0" bIns="0" rIns="0">
            <a:spAutoFit/>
          </a:bodyPr>
          <a:lstStyle/>
          <a:p>
            <a:pPr algn="l">
              <a:lnSpc>
                <a:spcPts val="2015"/>
              </a:lnSpc>
            </a:pPr>
            <a:r>
              <a:rPr lang="en-US" sz="1679">
                <a:solidFill>
                  <a:srgbClr val="9AA1B0"/>
                </a:solidFill>
                <a:latin typeface="Arial"/>
                <a:ea typeface="Arial"/>
                <a:cs typeface="Arial"/>
                <a:sym typeface="Arial"/>
              </a:rPr>
              <a:t>Pearson r between each factor and resident TFR, annual levels, 2010–2025</a:t>
            </a:r>
          </a:p>
        </p:txBody>
      </p:sp>
      <p:grpSp>
        <p:nvGrpSpPr>
          <p:cNvPr name="Group 5" id="5"/>
          <p:cNvGrpSpPr/>
          <p:nvPr/>
        </p:nvGrpSpPr>
        <p:grpSpPr>
          <a:xfrm rot="0">
            <a:off x="12560237" y="460858"/>
            <a:ext cx="5047488" cy="1645920"/>
            <a:chOff x="0" y="0"/>
            <a:chExt cx="6729984" cy="2194560"/>
          </a:xfrm>
        </p:grpSpPr>
        <p:sp>
          <p:nvSpPr>
            <p:cNvPr name="Freeform 6" id="6"/>
            <p:cNvSpPr/>
            <p:nvPr/>
          </p:nvSpPr>
          <p:spPr>
            <a:xfrm flipH="false" flipV="false" rot="0">
              <a:off x="0" y="0"/>
              <a:ext cx="6729984" cy="2194560"/>
            </a:xfrm>
            <a:custGeom>
              <a:avLst/>
              <a:gdLst/>
              <a:ahLst/>
              <a:cxnLst/>
              <a:rect r="r" b="b" t="t" l="l"/>
              <a:pathLst>
                <a:path h="2194560" w="6729984">
                  <a:moveTo>
                    <a:pt x="0" y="175514"/>
                  </a:moveTo>
                  <a:cubicBezTo>
                    <a:pt x="0" y="78613"/>
                    <a:pt x="78613" y="0"/>
                    <a:pt x="175514" y="0"/>
                  </a:cubicBezTo>
                  <a:lnTo>
                    <a:pt x="6554470" y="0"/>
                  </a:lnTo>
                  <a:cubicBezTo>
                    <a:pt x="6651371" y="0"/>
                    <a:pt x="6729984" y="78613"/>
                    <a:pt x="6729984" y="175514"/>
                  </a:cubicBezTo>
                  <a:lnTo>
                    <a:pt x="6729984" y="2019046"/>
                  </a:lnTo>
                  <a:cubicBezTo>
                    <a:pt x="6729984" y="2115947"/>
                    <a:pt x="6651371" y="2194560"/>
                    <a:pt x="6554470" y="2194560"/>
                  </a:cubicBezTo>
                  <a:lnTo>
                    <a:pt x="175514" y="2194560"/>
                  </a:lnTo>
                  <a:cubicBezTo>
                    <a:pt x="78613" y="2194560"/>
                    <a:pt x="0" y="2115947"/>
                    <a:pt x="0" y="2019046"/>
                  </a:cubicBezTo>
                  <a:close/>
                </a:path>
              </a:pathLst>
            </a:custGeom>
            <a:solidFill>
              <a:srgbClr val="262F42"/>
            </a:solidFill>
          </p:spPr>
        </p:sp>
      </p:grpSp>
      <p:sp>
        <p:nvSpPr>
          <p:cNvPr name="TextBox 7" id="7"/>
          <p:cNvSpPr txBox="true"/>
          <p:nvPr/>
        </p:nvSpPr>
        <p:spPr>
          <a:xfrm rot="0">
            <a:off x="12801638" y="595427"/>
            <a:ext cx="2414016" cy="348234"/>
          </a:xfrm>
          <a:prstGeom prst="rect">
            <a:avLst/>
          </a:prstGeom>
        </p:spPr>
        <p:txBody>
          <a:bodyPr anchor="t" rtlCol="false" tIns="0" lIns="0" bIns="0" rIns="0">
            <a:spAutoFit/>
          </a:bodyPr>
          <a:lstStyle/>
          <a:p>
            <a:pPr algn="l">
              <a:lnSpc>
                <a:spcPts val="1584"/>
              </a:lnSpc>
            </a:pPr>
            <a:r>
              <a:rPr lang="en-US" sz="1320" b="true">
                <a:solidFill>
                  <a:srgbClr val="9AA1B0"/>
                </a:solidFill>
                <a:latin typeface="Arial Bold"/>
                <a:ea typeface="Arial Bold"/>
                <a:cs typeface="Arial Bold"/>
                <a:sym typeface="Arial Bold"/>
              </a:rPr>
              <a:t>RESIDENT TFR</a:t>
            </a:r>
          </a:p>
        </p:txBody>
      </p:sp>
      <p:sp>
        <p:nvSpPr>
          <p:cNvPr name="TextBox 8" id="8"/>
          <p:cNvSpPr txBox="true"/>
          <p:nvPr/>
        </p:nvSpPr>
        <p:spPr>
          <a:xfrm rot="0">
            <a:off x="12801638" y="934136"/>
            <a:ext cx="2194560" cy="558165"/>
          </a:xfrm>
          <a:prstGeom prst="rect">
            <a:avLst/>
          </a:prstGeom>
        </p:spPr>
        <p:txBody>
          <a:bodyPr anchor="t" rtlCol="false" tIns="0" lIns="0" bIns="0" rIns="0">
            <a:spAutoFit/>
          </a:bodyPr>
          <a:lstStyle/>
          <a:p>
            <a:pPr algn="l">
              <a:lnSpc>
                <a:spcPts val="2879"/>
              </a:lnSpc>
            </a:pPr>
            <a:r>
              <a:rPr lang="en-US" sz="2400" b="true">
                <a:solidFill>
                  <a:srgbClr val="F3F1EA"/>
                </a:solidFill>
                <a:latin typeface="Arial Bold"/>
                <a:ea typeface="Arial Bold"/>
                <a:cs typeface="Arial Bold"/>
                <a:sym typeface="Arial Bold"/>
              </a:rPr>
              <a:t>1.15 → 0.87</a:t>
            </a:r>
          </a:p>
        </p:txBody>
      </p:sp>
      <p:sp>
        <p:nvSpPr>
          <p:cNvPr name="TextBox 9" id="9"/>
          <p:cNvSpPr txBox="true"/>
          <p:nvPr/>
        </p:nvSpPr>
        <p:spPr>
          <a:xfrm rot="0">
            <a:off x="12801638" y="1451305"/>
            <a:ext cx="2194560" cy="348234"/>
          </a:xfrm>
          <a:prstGeom prst="rect">
            <a:avLst/>
          </a:prstGeom>
        </p:spPr>
        <p:txBody>
          <a:bodyPr anchor="t" rtlCol="false" tIns="0" lIns="0" bIns="0" rIns="0">
            <a:spAutoFit/>
          </a:bodyPr>
          <a:lstStyle/>
          <a:p>
            <a:pPr algn="l">
              <a:lnSpc>
                <a:spcPts val="1584"/>
              </a:lnSpc>
            </a:pPr>
            <a:r>
              <a:rPr lang="en-US" sz="1320" b="true">
                <a:solidFill>
                  <a:srgbClr val="F08A5D"/>
                </a:solidFill>
                <a:latin typeface="Arial Bold"/>
                <a:ea typeface="Arial Bold"/>
                <a:cs typeface="Arial Bold"/>
                <a:sym typeface="Arial Bold"/>
              </a:rPr>
              <a:t>−24.3%</a:t>
            </a:r>
            <a:r>
              <a:rPr lang="en-US" sz="1320">
                <a:solidFill>
                  <a:srgbClr val="9AA1B0"/>
                </a:solidFill>
                <a:latin typeface="Arial"/>
                <a:ea typeface="Arial"/>
                <a:cs typeface="Arial"/>
                <a:sym typeface="Arial"/>
              </a:rPr>
              <a:t>  since 2010</a:t>
            </a:r>
          </a:p>
        </p:txBody>
      </p:sp>
      <p:sp>
        <p:nvSpPr>
          <p:cNvPr name="Freeform 10" id="10"/>
          <p:cNvSpPr/>
          <p:nvPr/>
        </p:nvSpPr>
        <p:spPr>
          <a:xfrm flipH="false" flipV="false" rot="0">
            <a:off x="14959012" y="835866"/>
            <a:ext cx="2334768" cy="852011"/>
          </a:xfrm>
          <a:custGeom>
            <a:avLst/>
            <a:gdLst/>
            <a:ahLst/>
            <a:cxnLst/>
            <a:rect r="r" b="b" t="t" l="l"/>
            <a:pathLst>
              <a:path h="852011" w="2334768">
                <a:moveTo>
                  <a:pt x="0" y="0"/>
                </a:moveTo>
                <a:lnTo>
                  <a:pt x="2334768" y="0"/>
                </a:lnTo>
                <a:lnTo>
                  <a:pt x="2334768" y="852012"/>
                </a:lnTo>
                <a:lnTo>
                  <a:pt x="0" y="852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14919388" y="1070086"/>
            <a:ext cx="109728" cy="109728"/>
            <a:chOff x="0" y="0"/>
            <a:chExt cx="146304" cy="146304"/>
          </a:xfrm>
        </p:grpSpPr>
        <p:sp>
          <p:nvSpPr>
            <p:cNvPr name="Freeform 12" id="12"/>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3F1EA"/>
            </a:solidFill>
          </p:spPr>
        </p:sp>
      </p:grpSp>
      <p:grpSp>
        <p:nvGrpSpPr>
          <p:cNvPr name="Group 13" id="13"/>
          <p:cNvGrpSpPr/>
          <p:nvPr/>
        </p:nvGrpSpPr>
        <p:grpSpPr>
          <a:xfrm rot="0">
            <a:off x="17223676" y="1617774"/>
            <a:ext cx="109728" cy="109728"/>
            <a:chOff x="0" y="0"/>
            <a:chExt cx="146304" cy="146304"/>
          </a:xfrm>
        </p:grpSpPr>
        <p:sp>
          <p:nvSpPr>
            <p:cNvPr name="Freeform 14" id="1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08A5D"/>
            </a:solidFill>
          </p:spPr>
        </p:sp>
      </p:grpSp>
      <p:sp>
        <p:nvSpPr>
          <p:cNvPr name="TextBox 15" id="15"/>
          <p:cNvSpPr txBox="true"/>
          <p:nvPr/>
        </p:nvSpPr>
        <p:spPr>
          <a:xfrm rot="0">
            <a:off x="14864524" y="1790014"/>
            <a:ext cx="658368" cy="228981"/>
          </a:xfrm>
          <a:prstGeom prst="rect">
            <a:avLst/>
          </a:prstGeom>
        </p:spPr>
        <p:txBody>
          <a:bodyPr anchor="t" rtlCol="false" tIns="0" lIns="0" bIns="0" rIns="0">
            <a:spAutoFit/>
          </a:bodyPr>
          <a:lstStyle/>
          <a:p>
            <a:pPr algn="l">
              <a:lnSpc>
                <a:spcPts val="1367"/>
              </a:lnSpc>
            </a:pPr>
            <a:r>
              <a:rPr lang="en-US" sz="1139">
                <a:solidFill>
                  <a:srgbClr val="9AA1B0"/>
                </a:solidFill>
                <a:latin typeface="Arial"/>
                <a:ea typeface="Arial"/>
                <a:cs typeface="Arial"/>
                <a:sym typeface="Arial"/>
              </a:rPr>
              <a:t>2010</a:t>
            </a:r>
          </a:p>
        </p:txBody>
      </p:sp>
      <p:sp>
        <p:nvSpPr>
          <p:cNvPr name="TextBox 16" id="16"/>
          <p:cNvSpPr txBox="true"/>
          <p:nvPr/>
        </p:nvSpPr>
        <p:spPr>
          <a:xfrm rot="0">
            <a:off x="16729900" y="1790014"/>
            <a:ext cx="658368" cy="228981"/>
          </a:xfrm>
          <a:prstGeom prst="rect">
            <a:avLst/>
          </a:prstGeom>
        </p:spPr>
        <p:txBody>
          <a:bodyPr anchor="t" rtlCol="false" tIns="0" lIns="0" bIns="0" rIns="0">
            <a:spAutoFit/>
          </a:bodyPr>
          <a:lstStyle/>
          <a:p>
            <a:pPr algn="r">
              <a:lnSpc>
                <a:spcPts val="1367"/>
              </a:lnSpc>
            </a:pPr>
            <a:r>
              <a:rPr lang="en-US" sz="1139">
                <a:solidFill>
                  <a:srgbClr val="9AA1B0"/>
                </a:solidFill>
                <a:latin typeface="Arial"/>
                <a:ea typeface="Arial"/>
                <a:cs typeface="Arial"/>
                <a:sym typeface="Arial"/>
              </a:rPr>
              <a:t>2025</a:t>
            </a:r>
          </a:p>
        </p:txBody>
      </p:sp>
      <p:grpSp>
        <p:nvGrpSpPr>
          <p:cNvPr name="Group 17" id="17"/>
          <p:cNvGrpSpPr/>
          <p:nvPr/>
        </p:nvGrpSpPr>
        <p:grpSpPr>
          <a:xfrm rot="0">
            <a:off x="680314" y="2600554"/>
            <a:ext cx="175565" cy="175565"/>
            <a:chOff x="0" y="0"/>
            <a:chExt cx="234086" cy="234086"/>
          </a:xfrm>
        </p:grpSpPr>
        <p:sp>
          <p:nvSpPr>
            <p:cNvPr name="Freeform 18" id="18"/>
            <p:cNvSpPr/>
            <p:nvPr/>
          </p:nvSpPr>
          <p:spPr>
            <a:xfrm flipH="false" flipV="false" rot="0">
              <a:off x="0" y="0"/>
              <a:ext cx="234061" cy="234061"/>
            </a:xfrm>
            <a:custGeom>
              <a:avLst/>
              <a:gdLst/>
              <a:ahLst/>
              <a:cxnLst/>
              <a:rect r="r" b="b" t="t" l="l"/>
              <a:pathLst>
                <a:path h="234061" w="234061">
                  <a:moveTo>
                    <a:pt x="0" y="0"/>
                  </a:moveTo>
                  <a:lnTo>
                    <a:pt x="234061" y="0"/>
                  </a:lnTo>
                  <a:lnTo>
                    <a:pt x="234061" y="234061"/>
                  </a:lnTo>
                  <a:lnTo>
                    <a:pt x="0" y="234061"/>
                  </a:lnTo>
                  <a:close/>
                </a:path>
              </a:pathLst>
            </a:custGeom>
            <a:solidFill>
              <a:srgbClr val="F08A5D"/>
            </a:solidFill>
          </p:spPr>
        </p:sp>
      </p:grpSp>
      <p:grpSp>
        <p:nvGrpSpPr>
          <p:cNvPr name="Group 19" id="19"/>
          <p:cNvGrpSpPr/>
          <p:nvPr/>
        </p:nvGrpSpPr>
        <p:grpSpPr>
          <a:xfrm rot="0">
            <a:off x="943661" y="2523744"/>
            <a:ext cx="3950208" cy="329184"/>
            <a:chOff x="0" y="0"/>
            <a:chExt cx="5266944" cy="438912"/>
          </a:xfrm>
        </p:grpSpPr>
        <p:sp>
          <p:nvSpPr>
            <p:cNvPr name="Freeform 20" id="20"/>
            <p:cNvSpPr/>
            <p:nvPr/>
          </p:nvSpPr>
          <p:spPr>
            <a:xfrm flipH="false" flipV="false" rot="0">
              <a:off x="0" y="0"/>
              <a:ext cx="5266944" cy="438912"/>
            </a:xfrm>
            <a:custGeom>
              <a:avLst/>
              <a:gdLst/>
              <a:ahLst/>
              <a:cxnLst/>
              <a:rect r="r" b="b" t="t" l="l"/>
              <a:pathLst>
                <a:path h="438912" w="5266944">
                  <a:moveTo>
                    <a:pt x="0" y="0"/>
                  </a:moveTo>
                  <a:lnTo>
                    <a:pt x="5266944" y="0"/>
                  </a:lnTo>
                  <a:lnTo>
                    <a:pt x="5266944" y="438912"/>
                  </a:lnTo>
                  <a:lnTo>
                    <a:pt x="0" y="438912"/>
                  </a:lnTo>
                  <a:close/>
                </a:path>
              </a:pathLst>
            </a:custGeom>
            <a:blipFill>
              <a:blip r:embed="rId5">
                <a:alphaModFix amt="0"/>
              </a:blip>
              <a:stretch>
                <a:fillRect l="0" t="-183820" r="0" b="-183820"/>
              </a:stretch>
            </a:blipFill>
          </p:spPr>
        </p:sp>
        <p:sp>
          <p:nvSpPr>
            <p:cNvPr name="TextBox 21" id="21"/>
            <p:cNvSpPr txBox="true"/>
            <p:nvPr/>
          </p:nvSpPr>
          <p:spPr>
            <a:xfrm>
              <a:off x="0" y="-19050"/>
              <a:ext cx="5266944" cy="457962"/>
            </a:xfrm>
            <a:prstGeom prst="rect">
              <a:avLst/>
            </a:prstGeom>
          </p:spPr>
          <p:txBody>
            <a:bodyPr anchor="ctr" rtlCol="false" tIns="0" lIns="0" bIns="0" rIns="0"/>
            <a:lstStyle/>
            <a:p>
              <a:pPr algn="l">
                <a:lnSpc>
                  <a:spcPts val="1655"/>
                </a:lnSpc>
              </a:pPr>
              <a:r>
                <a:rPr lang="en-US" sz="1380">
                  <a:solidFill>
                    <a:srgbClr val="C4C8D2"/>
                  </a:solidFill>
                  <a:latin typeface="Arial"/>
                  <a:ea typeface="Arial"/>
                  <a:cs typeface="Arial"/>
                  <a:sym typeface="Arial"/>
                </a:rPr>
                <a:t>Negative: factor up, TFR down</a:t>
              </a:r>
            </a:p>
          </p:txBody>
        </p:sp>
      </p:grpSp>
      <p:grpSp>
        <p:nvGrpSpPr>
          <p:cNvPr name="Group 22" id="22"/>
          <p:cNvGrpSpPr/>
          <p:nvPr/>
        </p:nvGrpSpPr>
        <p:grpSpPr>
          <a:xfrm rot="0">
            <a:off x="4081882" y="2600554"/>
            <a:ext cx="175565" cy="175565"/>
            <a:chOff x="0" y="0"/>
            <a:chExt cx="234086" cy="234086"/>
          </a:xfrm>
        </p:grpSpPr>
        <p:sp>
          <p:nvSpPr>
            <p:cNvPr name="Freeform 23" id="23"/>
            <p:cNvSpPr/>
            <p:nvPr/>
          </p:nvSpPr>
          <p:spPr>
            <a:xfrm flipH="false" flipV="false" rot="0">
              <a:off x="0" y="0"/>
              <a:ext cx="234061" cy="234061"/>
            </a:xfrm>
            <a:custGeom>
              <a:avLst/>
              <a:gdLst/>
              <a:ahLst/>
              <a:cxnLst/>
              <a:rect r="r" b="b" t="t" l="l"/>
              <a:pathLst>
                <a:path h="234061" w="234061">
                  <a:moveTo>
                    <a:pt x="0" y="0"/>
                  </a:moveTo>
                  <a:lnTo>
                    <a:pt x="234061" y="0"/>
                  </a:lnTo>
                  <a:lnTo>
                    <a:pt x="234061" y="234061"/>
                  </a:lnTo>
                  <a:lnTo>
                    <a:pt x="0" y="234061"/>
                  </a:lnTo>
                  <a:close/>
                </a:path>
              </a:pathLst>
            </a:custGeom>
            <a:solidFill>
              <a:srgbClr val="5FC4B0"/>
            </a:solidFill>
          </p:spPr>
        </p:sp>
      </p:grpSp>
      <p:grpSp>
        <p:nvGrpSpPr>
          <p:cNvPr name="Group 24" id="24"/>
          <p:cNvGrpSpPr/>
          <p:nvPr/>
        </p:nvGrpSpPr>
        <p:grpSpPr>
          <a:xfrm rot="0">
            <a:off x="4345229" y="2523744"/>
            <a:ext cx="3950208" cy="329184"/>
            <a:chOff x="0" y="0"/>
            <a:chExt cx="5266944" cy="438912"/>
          </a:xfrm>
        </p:grpSpPr>
        <p:sp>
          <p:nvSpPr>
            <p:cNvPr name="Freeform 25" id="25"/>
            <p:cNvSpPr/>
            <p:nvPr/>
          </p:nvSpPr>
          <p:spPr>
            <a:xfrm flipH="false" flipV="false" rot="0">
              <a:off x="0" y="0"/>
              <a:ext cx="5266944" cy="438912"/>
            </a:xfrm>
            <a:custGeom>
              <a:avLst/>
              <a:gdLst/>
              <a:ahLst/>
              <a:cxnLst/>
              <a:rect r="r" b="b" t="t" l="l"/>
              <a:pathLst>
                <a:path h="438912" w="5266944">
                  <a:moveTo>
                    <a:pt x="0" y="0"/>
                  </a:moveTo>
                  <a:lnTo>
                    <a:pt x="5266944" y="0"/>
                  </a:lnTo>
                  <a:lnTo>
                    <a:pt x="5266944" y="438912"/>
                  </a:lnTo>
                  <a:lnTo>
                    <a:pt x="0" y="438912"/>
                  </a:lnTo>
                  <a:close/>
                </a:path>
              </a:pathLst>
            </a:custGeom>
            <a:blipFill>
              <a:blip r:embed="rId5">
                <a:alphaModFix amt="0"/>
              </a:blip>
              <a:stretch>
                <a:fillRect l="0" t="-183820" r="0" b="-183820"/>
              </a:stretch>
            </a:blipFill>
          </p:spPr>
        </p:sp>
        <p:sp>
          <p:nvSpPr>
            <p:cNvPr name="TextBox 26" id="26"/>
            <p:cNvSpPr txBox="true"/>
            <p:nvPr/>
          </p:nvSpPr>
          <p:spPr>
            <a:xfrm>
              <a:off x="0" y="-19050"/>
              <a:ext cx="5266944" cy="457962"/>
            </a:xfrm>
            <a:prstGeom prst="rect">
              <a:avLst/>
            </a:prstGeom>
          </p:spPr>
          <p:txBody>
            <a:bodyPr anchor="ctr" rtlCol="false" tIns="0" lIns="0" bIns="0" rIns="0"/>
            <a:lstStyle/>
            <a:p>
              <a:pPr algn="l">
                <a:lnSpc>
                  <a:spcPts val="1655"/>
                </a:lnSpc>
              </a:pPr>
              <a:r>
                <a:rPr lang="en-US" sz="1380">
                  <a:solidFill>
                    <a:srgbClr val="C4C8D2"/>
                  </a:solidFill>
                  <a:latin typeface="Arial"/>
                  <a:ea typeface="Arial"/>
                  <a:cs typeface="Arial"/>
                  <a:sym typeface="Arial"/>
                </a:rPr>
                <a:t>Positive: factor and TFR fall together</a:t>
              </a:r>
            </a:p>
          </p:txBody>
        </p:sp>
      </p:grpSp>
      <p:grpSp>
        <p:nvGrpSpPr>
          <p:cNvPr name="Group 27" id="27"/>
          <p:cNvGrpSpPr/>
          <p:nvPr/>
        </p:nvGrpSpPr>
        <p:grpSpPr>
          <a:xfrm rot="0">
            <a:off x="8196682" y="2600554"/>
            <a:ext cx="175565" cy="175565"/>
            <a:chOff x="0" y="0"/>
            <a:chExt cx="234086" cy="234086"/>
          </a:xfrm>
        </p:grpSpPr>
        <p:sp>
          <p:nvSpPr>
            <p:cNvPr name="Freeform 28" id="28"/>
            <p:cNvSpPr/>
            <p:nvPr/>
          </p:nvSpPr>
          <p:spPr>
            <a:xfrm flipH="false" flipV="false" rot="0">
              <a:off x="0" y="0"/>
              <a:ext cx="234061" cy="234061"/>
            </a:xfrm>
            <a:custGeom>
              <a:avLst/>
              <a:gdLst/>
              <a:ahLst/>
              <a:cxnLst/>
              <a:rect r="r" b="b" t="t" l="l"/>
              <a:pathLst>
                <a:path h="234061" w="234061">
                  <a:moveTo>
                    <a:pt x="0" y="0"/>
                  </a:moveTo>
                  <a:lnTo>
                    <a:pt x="234061" y="0"/>
                  </a:lnTo>
                  <a:lnTo>
                    <a:pt x="234061" y="234061"/>
                  </a:lnTo>
                  <a:lnTo>
                    <a:pt x="0" y="234061"/>
                  </a:lnTo>
                  <a:close/>
                </a:path>
              </a:pathLst>
            </a:custGeom>
            <a:solidFill>
              <a:srgbClr val="5B6478"/>
            </a:solidFill>
          </p:spPr>
        </p:sp>
      </p:grpSp>
      <p:grpSp>
        <p:nvGrpSpPr>
          <p:cNvPr name="Group 29" id="29"/>
          <p:cNvGrpSpPr/>
          <p:nvPr/>
        </p:nvGrpSpPr>
        <p:grpSpPr>
          <a:xfrm rot="0">
            <a:off x="8460029" y="2523744"/>
            <a:ext cx="3950208" cy="329184"/>
            <a:chOff x="0" y="0"/>
            <a:chExt cx="5266944" cy="438912"/>
          </a:xfrm>
        </p:grpSpPr>
        <p:sp>
          <p:nvSpPr>
            <p:cNvPr name="Freeform 30" id="30"/>
            <p:cNvSpPr/>
            <p:nvPr/>
          </p:nvSpPr>
          <p:spPr>
            <a:xfrm flipH="false" flipV="false" rot="0">
              <a:off x="0" y="0"/>
              <a:ext cx="5266944" cy="438912"/>
            </a:xfrm>
            <a:custGeom>
              <a:avLst/>
              <a:gdLst/>
              <a:ahLst/>
              <a:cxnLst/>
              <a:rect r="r" b="b" t="t" l="l"/>
              <a:pathLst>
                <a:path h="438912" w="5266944">
                  <a:moveTo>
                    <a:pt x="0" y="0"/>
                  </a:moveTo>
                  <a:lnTo>
                    <a:pt x="5266944" y="0"/>
                  </a:lnTo>
                  <a:lnTo>
                    <a:pt x="5266944" y="438912"/>
                  </a:lnTo>
                  <a:lnTo>
                    <a:pt x="0" y="438912"/>
                  </a:lnTo>
                  <a:close/>
                </a:path>
              </a:pathLst>
            </a:custGeom>
            <a:blipFill>
              <a:blip r:embed="rId5">
                <a:alphaModFix amt="0"/>
              </a:blip>
              <a:stretch>
                <a:fillRect l="0" t="-183820" r="0" b="-183820"/>
              </a:stretch>
            </a:blipFill>
          </p:spPr>
        </p:sp>
        <p:sp>
          <p:nvSpPr>
            <p:cNvPr name="TextBox 31" id="31"/>
            <p:cNvSpPr txBox="true"/>
            <p:nvPr/>
          </p:nvSpPr>
          <p:spPr>
            <a:xfrm>
              <a:off x="0" y="-19050"/>
              <a:ext cx="5266944" cy="457962"/>
            </a:xfrm>
            <a:prstGeom prst="rect">
              <a:avLst/>
            </a:prstGeom>
          </p:spPr>
          <p:txBody>
            <a:bodyPr anchor="ctr" rtlCol="false" tIns="0" lIns="0" bIns="0" rIns="0"/>
            <a:lstStyle/>
            <a:p>
              <a:pPr algn="l">
                <a:lnSpc>
                  <a:spcPts val="1655"/>
                </a:lnSpc>
              </a:pPr>
              <a:r>
                <a:rPr lang="en-US" sz="1380">
                  <a:solidFill>
                    <a:srgbClr val="C4C8D2"/>
                  </a:solidFill>
                  <a:latin typeface="Arial"/>
                  <a:ea typeface="Arial"/>
                  <a:cs typeface="Arial"/>
                  <a:sym typeface="Arial"/>
                </a:rPr>
                <a:t>Not significant (p ≥ 0.05)</a:t>
              </a:r>
            </a:p>
          </p:txBody>
        </p:sp>
      </p:grpSp>
      <p:grpSp>
        <p:nvGrpSpPr>
          <p:cNvPr name="Group 32" id="32"/>
          <p:cNvGrpSpPr/>
          <p:nvPr/>
        </p:nvGrpSpPr>
        <p:grpSpPr>
          <a:xfrm rot="0">
            <a:off x="680314" y="3138221"/>
            <a:ext cx="3209915" cy="4630522"/>
            <a:chOff x="0" y="0"/>
            <a:chExt cx="4279887" cy="6174029"/>
          </a:xfrm>
        </p:grpSpPr>
        <p:sp>
          <p:nvSpPr>
            <p:cNvPr name="Freeform 33" id="33"/>
            <p:cNvSpPr/>
            <p:nvPr/>
          </p:nvSpPr>
          <p:spPr>
            <a:xfrm flipH="false" flipV="false" rot="0">
              <a:off x="0" y="0"/>
              <a:ext cx="4279900" cy="6173978"/>
            </a:xfrm>
            <a:custGeom>
              <a:avLst/>
              <a:gdLst/>
              <a:ahLst/>
              <a:cxnLst/>
              <a:rect r="r" b="b" t="t" l="l"/>
              <a:pathLst>
                <a:path h="6173978" w="4279900">
                  <a:moveTo>
                    <a:pt x="0" y="171196"/>
                  </a:moveTo>
                  <a:cubicBezTo>
                    <a:pt x="0" y="76708"/>
                    <a:pt x="76708" y="0"/>
                    <a:pt x="171196" y="0"/>
                  </a:cubicBezTo>
                  <a:lnTo>
                    <a:pt x="4108704" y="0"/>
                  </a:lnTo>
                  <a:cubicBezTo>
                    <a:pt x="4203192" y="0"/>
                    <a:pt x="4279900" y="76708"/>
                    <a:pt x="4279900" y="171196"/>
                  </a:cubicBezTo>
                  <a:lnTo>
                    <a:pt x="4279900" y="6002782"/>
                  </a:lnTo>
                  <a:cubicBezTo>
                    <a:pt x="4279900" y="6097270"/>
                    <a:pt x="4203192" y="6173978"/>
                    <a:pt x="4108704" y="6173978"/>
                  </a:cubicBezTo>
                  <a:lnTo>
                    <a:pt x="171196" y="6173978"/>
                  </a:lnTo>
                  <a:cubicBezTo>
                    <a:pt x="76708" y="6173978"/>
                    <a:pt x="0" y="6097397"/>
                    <a:pt x="0" y="6002782"/>
                  </a:cubicBezTo>
                  <a:close/>
                </a:path>
              </a:pathLst>
            </a:custGeom>
            <a:solidFill>
              <a:srgbClr val="262F42"/>
            </a:solidFill>
          </p:spPr>
        </p:sp>
      </p:grpSp>
      <p:grpSp>
        <p:nvGrpSpPr>
          <p:cNvPr name="Group 34" id="34"/>
          <p:cNvGrpSpPr/>
          <p:nvPr/>
        </p:nvGrpSpPr>
        <p:grpSpPr>
          <a:xfrm rot="0">
            <a:off x="899770" y="3357677"/>
            <a:ext cx="54864" cy="329184"/>
            <a:chOff x="0" y="0"/>
            <a:chExt cx="73152" cy="438912"/>
          </a:xfrm>
        </p:grpSpPr>
        <p:sp>
          <p:nvSpPr>
            <p:cNvPr name="Freeform 35" id="35"/>
            <p:cNvSpPr/>
            <p:nvPr/>
          </p:nvSpPr>
          <p:spPr>
            <a:xfrm flipH="false" flipV="false" rot="0">
              <a:off x="0" y="0"/>
              <a:ext cx="73152" cy="438912"/>
            </a:xfrm>
            <a:custGeom>
              <a:avLst/>
              <a:gdLst/>
              <a:ahLst/>
              <a:cxnLst/>
              <a:rect r="r" b="b" t="t" l="l"/>
              <a:pathLst>
                <a:path h="438912" w="73152">
                  <a:moveTo>
                    <a:pt x="0" y="0"/>
                  </a:moveTo>
                  <a:lnTo>
                    <a:pt x="73152" y="0"/>
                  </a:lnTo>
                  <a:lnTo>
                    <a:pt x="73152" y="438912"/>
                  </a:lnTo>
                  <a:lnTo>
                    <a:pt x="0" y="438912"/>
                  </a:lnTo>
                  <a:close/>
                </a:path>
              </a:pathLst>
            </a:custGeom>
            <a:solidFill>
              <a:srgbClr val="F08A5D"/>
            </a:solidFill>
          </p:spPr>
        </p:sp>
      </p:grpSp>
      <p:grpSp>
        <p:nvGrpSpPr>
          <p:cNvPr name="Group 36" id="36"/>
          <p:cNvGrpSpPr/>
          <p:nvPr/>
        </p:nvGrpSpPr>
        <p:grpSpPr>
          <a:xfrm rot="0">
            <a:off x="1053389" y="3324758"/>
            <a:ext cx="2661275" cy="395021"/>
            <a:chOff x="0" y="0"/>
            <a:chExt cx="3548367" cy="526694"/>
          </a:xfrm>
        </p:grpSpPr>
        <p:sp>
          <p:nvSpPr>
            <p:cNvPr name="Freeform 37" id="37"/>
            <p:cNvSpPr/>
            <p:nvPr/>
          </p:nvSpPr>
          <p:spPr>
            <a:xfrm flipH="false" flipV="false" rot="0">
              <a:off x="0" y="0"/>
              <a:ext cx="3548368" cy="526694"/>
            </a:xfrm>
            <a:custGeom>
              <a:avLst/>
              <a:gdLst/>
              <a:ahLst/>
              <a:cxnLst/>
              <a:rect r="r" b="b" t="t" l="l"/>
              <a:pathLst>
                <a:path h="526694" w="3548368">
                  <a:moveTo>
                    <a:pt x="0" y="0"/>
                  </a:moveTo>
                  <a:lnTo>
                    <a:pt x="3548368" y="0"/>
                  </a:lnTo>
                  <a:lnTo>
                    <a:pt x="3548368" y="526694"/>
                  </a:lnTo>
                  <a:lnTo>
                    <a:pt x="0" y="526694"/>
                  </a:lnTo>
                  <a:close/>
                </a:path>
              </a:pathLst>
            </a:custGeom>
            <a:blipFill>
              <a:blip r:embed="rId5">
                <a:alphaModFix amt="0"/>
              </a:blip>
              <a:stretch>
                <a:fillRect l="0" t="-81271" r="0" b="-81271"/>
              </a:stretch>
            </a:blipFill>
          </p:spPr>
        </p:sp>
        <p:sp>
          <p:nvSpPr>
            <p:cNvPr name="TextBox 38" id="38"/>
            <p:cNvSpPr txBox="true"/>
            <p:nvPr/>
          </p:nvSpPr>
          <p:spPr>
            <a:xfrm>
              <a:off x="0" y="-19050"/>
              <a:ext cx="3548367" cy="545744"/>
            </a:xfrm>
            <a:prstGeom prst="rect">
              <a:avLst/>
            </a:prstGeom>
          </p:spPr>
          <p:txBody>
            <a:bodyPr anchor="ctr" rtlCol="false" tIns="0" lIns="0" bIns="0" rIns="0"/>
            <a:lstStyle/>
            <a:p>
              <a:pPr algn="l">
                <a:lnSpc>
                  <a:spcPts val="2304"/>
                </a:lnSpc>
              </a:pPr>
              <a:r>
                <a:rPr lang="en-US" sz="1920" b="true">
                  <a:solidFill>
                    <a:srgbClr val="F3F1EA"/>
                  </a:solidFill>
                  <a:latin typeface="Arial Bold"/>
                  <a:ea typeface="Arial Bold"/>
                  <a:cs typeface="Arial Bold"/>
                  <a:sym typeface="Arial Bold"/>
                </a:rPr>
                <a:t>Healthcare</a:t>
              </a:r>
            </a:p>
          </p:txBody>
        </p:sp>
      </p:grpSp>
      <p:grpSp>
        <p:nvGrpSpPr>
          <p:cNvPr name="Group 39" id="39"/>
          <p:cNvGrpSpPr/>
          <p:nvPr/>
        </p:nvGrpSpPr>
        <p:grpSpPr>
          <a:xfrm rot="0">
            <a:off x="2792949" y="3357677"/>
            <a:ext cx="877824" cy="329184"/>
            <a:chOff x="0" y="0"/>
            <a:chExt cx="1170432" cy="438912"/>
          </a:xfrm>
        </p:grpSpPr>
        <p:sp>
          <p:nvSpPr>
            <p:cNvPr name="Freeform 40" id="40"/>
            <p:cNvSpPr/>
            <p:nvPr/>
          </p:nvSpPr>
          <p:spPr>
            <a:xfrm flipH="false" flipV="false" rot="0">
              <a:off x="0" y="0"/>
              <a:ext cx="1170432" cy="438912"/>
            </a:xfrm>
            <a:custGeom>
              <a:avLst/>
              <a:gdLst/>
              <a:ahLst/>
              <a:cxnLst/>
              <a:rect r="r" b="b" t="t" l="l"/>
              <a:pathLst>
                <a:path h="438912" w="1170432">
                  <a:moveTo>
                    <a:pt x="0" y="0"/>
                  </a:moveTo>
                  <a:lnTo>
                    <a:pt x="1170432" y="0"/>
                  </a:lnTo>
                  <a:lnTo>
                    <a:pt x="1170432" y="438912"/>
                  </a:lnTo>
                  <a:lnTo>
                    <a:pt x="0" y="438912"/>
                  </a:lnTo>
                  <a:close/>
                </a:path>
              </a:pathLst>
            </a:custGeom>
            <a:blipFill>
              <a:blip r:embed="rId5">
                <a:alphaModFix amt="0"/>
              </a:blip>
              <a:stretch>
                <a:fillRect l="0" t="-1960" r="0" b="-1960"/>
              </a:stretch>
            </a:blipFill>
          </p:spPr>
        </p:sp>
        <p:sp>
          <p:nvSpPr>
            <p:cNvPr name="TextBox 41" id="41"/>
            <p:cNvSpPr txBox="true"/>
            <p:nvPr/>
          </p:nvSpPr>
          <p:spPr>
            <a:xfrm>
              <a:off x="0" y="-19050"/>
              <a:ext cx="1170432" cy="457962"/>
            </a:xfrm>
            <a:prstGeom prst="rect">
              <a:avLst/>
            </a:prstGeom>
          </p:spPr>
          <p:txBody>
            <a:bodyPr anchor="ctr" rtlCol="false" tIns="0" lIns="0" bIns="0" rIns="0"/>
            <a:lstStyle/>
            <a:p>
              <a:pPr algn="r">
                <a:lnSpc>
                  <a:spcPts val="1439"/>
                </a:lnSpc>
              </a:pPr>
              <a:r>
                <a:rPr lang="en-US" sz="1200">
                  <a:solidFill>
                    <a:srgbClr val="9AA1B0"/>
                  </a:solidFill>
                  <a:latin typeface="Arial"/>
                  <a:ea typeface="Arial"/>
                  <a:cs typeface="Arial"/>
                  <a:sym typeface="Arial"/>
                </a:rPr>
                <a:t>5 factors</a:t>
              </a:r>
            </a:p>
          </p:txBody>
        </p:sp>
      </p:grpSp>
      <p:sp>
        <p:nvSpPr>
          <p:cNvPr name="TextBox 42" id="42"/>
          <p:cNvSpPr txBox="true"/>
          <p:nvPr/>
        </p:nvSpPr>
        <p:spPr>
          <a:xfrm rot="0">
            <a:off x="899770" y="3909212"/>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Healthcare prices, overall</a:t>
            </a:r>
          </a:p>
        </p:txBody>
      </p:sp>
      <p:grpSp>
        <p:nvGrpSpPr>
          <p:cNvPr name="Group 43" id="43"/>
          <p:cNvGrpSpPr/>
          <p:nvPr/>
        </p:nvGrpSpPr>
        <p:grpSpPr>
          <a:xfrm rot="0">
            <a:off x="899770" y="4323283"/>
            <a:ext cx="2167499" cy="21946"/>
            <a:chOff x="0" y="0"/>
            <a:chExt cx="2889999" cy="29261"/>
          </a:xfrm>
        </p:grpSpPr>
        <p:sp>
          <p:nvSpPr>
            <p:cNvPr name="Freeform 44" id="4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45" id="45"/>
          <p:cNvGrpSpPr/>
          <p:nvPr/>
        </p:nvGrpSpPr>
        <p:grpSpPr>
          <a:xfrm rot="0">
            <a:off x="1975837" y="4202582"/>
            <a:ext cx="15364" cy="263347"/>
            <a:chOff x="0" y="0"/>
            <a:chExt cx="20485" cy="351130"/>
          </a:xfrm>
        </p:grpSpPr>
        <p:sp>
          <p:nvSpPr>
            <p:cNvPr name="Freeform 46" id="4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47" id="47"/>
          <p:cNvGrpSpPr/>
          <p:nvPr/>
        </p:nvGrpSpPr>
        <p:grpSpPr>
          <a:xfrm rot="0">
            <a:off x="1073172" y="4246474"/>
            <a:ext cx="910352" cy="175565"/>
            <a:chOff x="0" y="0"/>
            <a:chExt cx="1213802" cy="234086"/>
          </a:xfrm>
        </p:grpSpPr>
        <p:sp>
          <p:nvSpPr>
            <p:cNvPr name="Freeform 48" id="48"/>
            <p:cNvSpPr/>
            <p:nvPr/>
          </p:nvSpPr>
          <p:spPr>
            <a:xfrm flipH="false" flipV="false" rot="0">
              <a:off x="0" y="0"/>
              <a:ext cx="1213739" cy="234061"/>
            </a:xfrm>
            <a:custGeom>
              <a:avLst/>
              <a:gdLst/>
              <a:ahLst/>
              <a:cxnLst/>
              <a:rect r="r" b="b" t="t" l="l"/>
              <a:pathLst>
                <a:path h="234061" w="1213739">
                  <a:moveTo>
                    <a:pt x="0" y="0"/>
                  </a:moveTo>
                  <a:lnTo>
                    <a:pt x="1213739" y="0"/>
                  </a:lnTo>
                  <a:lnTo>
                    <a:pt x="1213739" y="234061"/>
                  </a:lnTo>
                  <a:lnTo>
                    <a:pt x="0" y="234061"/>
                  </a:lnTo>
                  <a:close/>
                </a:path>
              </a:pathLst>
            </a:custGeom>
            <a:solidFill>
              <a:srgbClr val="F08A5D"/>
            </a:solidFill>
          </p:spPr>
        </p:sp>
      </p:grpSp>
      <p:grpSp>
        <p:nvGrpSpPr>
          <p:cNvPr name="Group 49" id="49"/>
          <p:cNvGrpSpPr/>
          <p:nvPr/>
        </p:nvGrpSpPr>
        <p:grpSpPr>
          <a:xfrm rot="0">
            <a:off x="3155051" y="4169664"/>
            <a:ext cx="680314" cy="329184"/>
            <a:chOff x="0" y="0"/>
            <a:chExt cx="907085" cy="438912"/>
          </a:xfrm>
        </p:grpSpPr>
        <p:sp>
          <p:nvSpPr>
            <p:cNvPr name="Freeform 50" id="5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51" id="5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−0.84</a:t>
              </a:r>
            </a:p>
          </p:txBody>
        </p:sp>
      </p:grpSp>
      <p:sp>
        <p:nvSpPr>
          <p:cNvPr name="TextBox 52" id="52"/>
          <p:cNvSpPr txBox="true"/>
          <p:nvPr/>
        </p:nvSpPr>
        <p:spPr>
          <a:xfrm rot="0">
            <a:off x="899770" y="465536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Health insurance prices</a:t>
            </a:r>
          </a:p>
        </p:txBody>
      </p:sp>
      <p:grpSp>
        <p:nvGrpSpPr>
          <p:cNvPr name="Group 53" id="53"/>
          <p:cNvGrpSpPr/>
          <p:nvPr/>
        </p:nvGrpSpPr>
        <p:grpSpPr>
          <a:xfrm rot="0">
            <a:off x="899770" y="5069434"/>
            <a:ext cx="2167499" cy="21946"/>
            <a:chOff x="0" y="0"/>
            <a:chExt cx="2889999" cy="29261"/>
          </a:xfrm>
        </p:grpSpPr>
        <p:sp>
          <p:nvSpPr>
            <p:cNvPr name="Freeform 54" id="5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55" id="55"/>
          <p:cNvGrpSpPr/>
          <p:nvPr/>
        </p:nvGrpSpPr>
        <p:grpSpPr>
          <a:xfrm rot="0">
            <a:off x="1975837" y="4948733"/>
            <a:ext cx="15364" cy="263347"/>
            <a:chOff x="0" y="0"/>
            <a:chExt cx="20485" cy="351130"/>
          </a:xfrm>
        </p:grpSpPr>
        <p:sp>
          <p:nvSpPr>
            <p:cNvPr name="Freeform 56" id="5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57" id="57"/>
          <p:cNvGrpSpPr/>
          <p:nvPr/>
        </p:nvGrpSpPr>
        <p:grpSpPr>
          <a:xfrm rot="0">
            <a:off x="1008145" y="4992624"/>
            <a:ext cx="975379" cy="175565"/>
            <a:chOff x="0" y="0"/>
            <a:chExt cx="1300505" cy="234086"/>
          </a:xfrm>
        </p:grpSpPr>
        <p:sp>
          <p:nvSpPr>
            <p:cNvPr name="Freeform 58" id="58"/>
            <p:cNvSpPr/>
            <p:nvPr/>
          </p:nvSpPr>
          <p:spPr>
            <a:xfrm flipH="false" flipV="false" rot="0">
              <a:off x="0" y="0"/>
              <a:ext cx="1300480" cy="234061"/>
            </a:xfrm>
            <a:custGeom>
              <a:avLst/>
              <a:gdLst/>
              <a:ahLst/>
              <a:cxnLst/>
              <a:rect r="r" b="b" t="t" l="l"/>
              <a:pathLst>
                <a:path h="234061" w="1300480">
                  <a:moveTo>
                    <a:pt x="0" y="0"/>
                  </a:moveTo>
                  <a:lnTo>
                    <a:pt x="1300480" y="0"/>
                  </a:lnTo>
                  <a:lnTo>
                    <a:pt x="1300480" y="234061"/>
                  </a:lnTo>
                  <a:lnTo>
                    <a:pt x="0" y="234061"/>
                  </a:lnTo>
                  <a:close/>
                </a:path>
              </a:pathLst>
            </a:custGeom>
            <a:solidFill>
              <a:srgbClr val="F08A5D"/>
            </a:solidFill>
          </p:spPr>
        </p:sp>
      </p:grpSp>
      <p:grpSp>
        <p:nvGrpSpPr>
          <p:cNvPr name="Group 59" id="59"/>
          <p:cNvGrpSpPr/>
          <p:nvPr/>
        </p:nvGrpSpPr>
        <p:grpSpPr>
          <a:xfrm rot="0">
            <a:off x="3155051" y="4915814"/>
            <a:ext cx="680314" cy="329184"/>
            <a:chOff x="0" y="0"/>
            <a:chExt cx="907085" cy="438912"/>
          </a:xfrm>
        </p:grpSpPr>
        <p:sp>
          <p:nvSpPr>
            <p:cNvPr name="Freeform 60" id="6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61" id="6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−0.90</a:t>
              </a:r>
            </a:p>
          </p:txBody>
        </p:sp>
      </p:grpSp>
      <p:sp>
        <p:nvSpPr>
          <p:cNvPr name="TextBox 62" id="62"/>
          <p:cNvSpPr txBox="true"/>
          <p:nvPr/>
        </p:nvSpPr>
        <p:spPr>
          <a:xfrm rot="0">
            <a:off x="899770" y="540151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Inpatient care prices</a:t>
            </a:r>
          </a:p>
        </p:txBody>
      </p:sp>
      <p:grpSp>
        <p:nvGrpSpPr>
          <p:cNvPr name="Group 63" id="63"/>
          <p:cNvGrpSpPr/>
          <p:nvPr/>
        </p:nvGrpSpPr>
        <p:grpSpPr>
          <a:xfrm rot="0">
            <a:off x="899770" y="5815584"/>
            <a:ext cx="2167499" cy="21946"/>
            <a:chOff x="0" y="0"/>
            <a:chExt cx="2889999" cy="29261"/>
          </a:xfrm>
        </p:grpSpPr>
        <p:sp>
          <p:nvSpPr>
            <p:cNvPr name="Freeform 64" id="6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65" id="65"/>
          <p:cNvGrpSpPr/>
          <p:nvPr/>
        </p:nvGrpSpPr>
        <p:grpSpPr>
          <a:xfrm rot="0">
            <a:off x="1975837" y="5694883"/>
            <a:ext cx="15364" cy="263347"/>
            <a:chOff x="0" y="0"/>
            <a:chExt cx="20485" cy="351130"/>
          </a:xfrm>
        </p:grpSpPr>
        <p:sp>
          <p:nvSpPr>
            <p:cNvPr name="Freeform 66" id="6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67" id="67"/>
          <p:cNvGrpSpPr/>
          <p:nvPr/>
        </p:nvGrpSpPr>
        <p:grpSpPr>
          <a:xfrm rot="0">
            <a:off x="1094842" y="5738774"/>
            <a:ext cx="888673" cy="175565"/>
            <a:chOff x="0" y="0"/>
            <a:chExt cx="1184897" cy="234086"/>
          </a:xfrm>
        </p:grpSpPr>
        <p:sp>
          <p:nvSpPr>
            <p:cNvPr name="Freeform 68" id="68"/>
            <p:cNvSpPr/>
            <p:nvPr/>
          </p:nvSpPr>
          <p:spPr>
            <a:xfrm flipH="false" flipV="false" rot="0">
              <a:off x="0" y="0"/>
              <a:ext cx="1184910" cy="234061"/>
            </a:xfrm>
            <a:custGeom>
              <a:avLst/>
              <a:gdLst/>
              <a:ahLst/>
              <a:cxnLst/>
              <a:rect r="r" b="b" t="t" l="l"/>
              <a:pathLst>
                <a:path h="234061" w="1184910">
                  <a:moveTo>
                    <a:pt x="0" y="0"/>
                  </a:moveTo>
                  <a:lnTo>
                    <a:pt x="1184910" y="0"/>
                  </a:lnTo>
                  <a:lnTo>
                    <a:pt x="1184910" y="234061"/>
                  </a:lnTo>
                  <a:lnTo>
                    <a:pt x="0" y="234061"/>
                  </a:lnTo>
                  <a:close/>
                </a:path>
              </a:pathLst>
            </a:custGeom>
            <a:solidFill>
              <a:srgbClr val="F08A5D"/>
            </a:solidFill>
          </p:spPr>
        </p:sp>
      </p:grpSp>
      <p:grpSp>
        <p:nvGrpSpPr>
          <p:cNvPr name="Group 69" id="69"/>
          <p:cNvGrpSpPr/>
          <p:nvPr/>
        </p:nvGrpSpPr>
        <p:grpSpPr>
          <a:xfrm rot="0">
            <a:off x="3155051" y="5661965"/>
            <a:ext cx="680314" cy="329184"/>
            <a:chOff x="0" y="0"/>
            <a:chExt cx="907085" cy="438912"/>
          </a:xfrm>
        </p:grpSpPr>
        <p:sp>
          <p:nvSpPr>
            <p:cNvPr name="Freeform 70" id="7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71" id="7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−0.82</a:t>
              </a:r>
            </a:p>
          </p:txBody>
        </p:sp>
      </p:grpSp>
      <p:sp>
        <p:nvSpPr>
          <p:cNvPr name="TextBox 72" id="72"/>
          <p:cNvSpPr txBox="true"/>
          <p:nvPr/>
        </p:nvSpPr>
        <p:spPr>
          <a:xfrm rot="0">
            <a:off x="899770" y="6147664"/>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Medicines prices</a:t>
            </a:r>
          </a:p>
        </p:txBody>
      </p:sp>
      <p:grpSp>
        <p:nvGrpSpPr>
          <p:cNvPr name="Group 73" id="73"/>
          <p:cNvGrpSpPr/>
          <p:nvPr/>
        </p:nvGrpSpPr>
        <p:grpSpPr>
          <a:xfrm rot="0">
            <a:off x="899770" y="6561734"/>
            <a:ext cx="2167499" cy="21946"/>
            <a:chOff x="0" y="0"/>
            <a:chExt cx="2889999" cy="29261"/>
          </a:xfrm>
        </p:grpSpPr>
        <p:sp>
          <p:nvSpPr>
            <p:cNvPr name="Freeform 74" id="7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75" id="75"/>
          <p:cNvGrpSpPr/>
          <p:nvPr/>
        </p:nvGrpSpPr>
        <p:grpSpPr>
          <a:xfrm rot="0">
            <a:off x="1975837" y="6441034"/>
            <a:ext cx="15364" cy="263347"/>
            <a:chOff x="0" y="0"/>
            <a:chExt cx="20485" cy="351130"/>
          </a:xfrm>
        </p:grpSpPr>
        <p:sp>
          <p:nvSpPr>
            <p:cNvPr name="Freeform 76" id="7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77" id="77"/>
          <p:cNvGrpSpPr/>
          <p:nvPr/>
        </p:nvGrpSpPr>
        <p:grpSpPr>
          <a:xfrm rot="0">
            <a:off x="1604210" y="6484925"/>
            <a:ext cx="379314" cy="175565"/>
            <a:chOff x="0" y="0"/>
            <a:chExt cx="505752" cy="234086"/>
          </a:xfrm>
        </p:grpSpPr>
        <p:sp>
          <p:nvSpPr>
            <p:cNvPr name="Freeform 78" id="78"/>
            <p:cNvSpPr/>
            <p:nvPr/>
          </p:nvSpPr>
          <p:spPr>
            <a:xfrm flipH="false" flipV="false" rot="0">
              <a:off x="0" y="0"/>
              <a:ext cx="505714" cy="234061"/>
            </a:xfrm>
            <a:custGeom>
              <a:avLst/>
              <a:gdLst/>
              <a:ahLst/>
              <a:cxnLst/>
              <a:rect r="r" b="b" t="t" l="l"/>
              <a:pathLst>
                <a:path h="234061" w="505714">
                  <a:moveTo>
                    <a:pt x="0" y="0"/>
                  </a:moveTo>
                  <a:lnTo>
                    <a:pt x="505714" y="0"/>
                  </a:lnTo>
                  <a:lnTo>
                    <a:pt x="505714" y="234061"/>
                  </a:lnTo>
                  <a:lnTo>
                    <a:pt x="0" y="234061"/>
                  </a:lnTo>
                  <a:close/>
                </a:path>
              </a:pathLst>
            </a:custGeom>
            <a:solidFill>
              <a:srgbClr val="5B6478"/>
            </a:solidFill>
          </p:spPr>
        </p:sp>
      </p:grpSp>
      <p:grpSp>
        <p:nvGrpSpPr>
          <p:cNvPr name="Group 79" id="79"/>
          <p:cNvGrpSpPr/>
          <p:nvPr/>
        </p:nvGrpSpPr>
        <p:grpSpPr>
          <a:xfrm rot="0">
            <a:off x="3155051" y="6408115"/>
            <a:ext cx="680314" cy="329184"/>
            <a:chOff x="0" y="0"/>
            <a:chExt cx="907085" cy="438912"/>
          </a:xfrm>
        </p:grpSpPr>
        <p:sp>
          <p:nvSpPr>
            <p:cNvPr name="Freeform 80" id="8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81" id="81"/>
            <p:cNvSpPr txBox="true"/>
            <p:nvPr/>
          </p:nvSpPr>
          <p:spPr>
            <a:xfrm>
              <a:off x="0" y="-9525"/>
              <a:ext cx="907085" cy="448437"/>
            </a:xfrm>
            <a:prstGeom prst="rect">
              <a:avLst/>
            </a:prstGeom>
          </p:spPr>
          <p:txBody>
            <a:bodyPr anchor="ctr" rtlCol="false" tIns="0" lIns="0" bIns="0" rIns="0"/>
            <a:lstStyle/>
            <a:p>
              <a:pPr algn="r">
                <a:lnSpc>
                  <a:spcPts val="1872"/>
                </a:lnSpc>
              </a:pPr>
              <a:r>
                <a:rPr lang="en-US" sz="1560">
                  <a:solidFill>
                    <a:srgbClr val="9AA1B0"/>
                  </a:solidFill>
                  <a:latin typeface="Arial"/>
                  <a:ea typeface="Arial"/>
                  <a:cs typeface="Arial"/>
                  <a:sym typeface="Arial"/>
                </a:rPr>
                <a:t>−0.35</a:t>
              </a:r>
            </a:p>
          </p:txBody>
        </p:sp>
      </p:grpSp>
      <p:sp>
        <p:nvSpPr>
          <p:cNvPr name="TextBox 82" id="82"/>
          <p:cNvSpPr txBox="true"/>
          <p:nvPr/>
        </p:nvSpPr>
        <p:spPr>
          <a:xfrm rot="0">
            <a:off x="899770" y="6893814"/>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Gov. health spending per person</a:t>
            </a:r>
          </a:p>
        </p:txBody>
      </p:sp>
      <p:grpSp>
        <p:nvGrpSpPr>
          <p:cNvPr name="Group 83" id="83"/>
          <p:cNvGrpSpPr/>
          <p:nvPr/>
        </p:nvGrpSpPr>
        <p:grpSpPr>
          <a:xfrm rot="0">
            <a:off x="899770" y="7307885"/>
            <a:ext cx="2167499" cy="21946"/>
            <a:chOff x="0" y="0"/>
            <a:chExt cx="2889999" cy="29261"/>
          </a:xfrm>
        </p:grpSpPr>
        <p:sp>
          <p:nvSpPr>
            <p:cNvPr name="Freeform 84" id="8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85" id="85"/>
          <p:cNvGrpSpPr/>
          <p:nvPr/>
        </p:nvGrpSpPr>
        <p:grpSpPr>
          <a:xfrm rot="0">
            <a:off x="1975837" y="7187184"/>
            <a:ext cx="15364" cy="263347"/>
            <a:chOff x="0" y="0"/>
            <a:chExt cx="20485" cy="351130"/>
          </a:xfrm>
        </p:grpSpPr>
        <p:sp>
          <p:nvSpPr>
            <p:cNvPr name="Freeform 86" id="8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87" id="87"/>
          <p:cNvGrpSpPr/>
          <p:nvPr/>
        </p:nvGrpSpPr>
        <p:grpSpPr>
          <a:xfrm rot="0">
            <a:off x="1149029" y="7231075"/>
            <a:ext cx="834485" cy="175565"/>
            <a:chOff x="0" y="0"/>
            <a:chExt cx="1112647" cy="234086"/>
          </a:xfrm>
        </p:grpSpPr>
        <p:sp>
          <p:nvSpPr>
            <p:cNvPr name="Freeform 88" id="88"/>
            <p:cNvSpPr/>
            <p:nvPr/>
          </p:nvSpPr>
          <p:spPr>
            <a:xfrm flipH="false" flipV="false" rot="0">
              <a:off x="0" y="0"/>
              <a:ext cx="1112647" cy="234061"/>
            </a:xfrm>
            <a:custGeom>
              <a:avLst/>
              <a:gdLst/>
              <a:ahLst/>
              <a:cxnLst/>
              <a:rect r="r" b="b" t="t" l="l"/>
              <a:pathLst>
                <a:path h="234061" w="1112647">
                  <a:moveTo>
                    <a:pt x="0" y="0"/>
                  </a:moveTo>
                  <a:lnTo>
                    <a:pt x="1112647" y="0"/>
                  </a:lnTo>
                  <a:lnTo>
                    <a:pt x="1112647" y="234061"/>
                  </a:lnTo>
                  <a:lnTo>
                    <a:pt x="0" y="234061"/>
                  </a:lnTo>
                  <a:close/>
                </a:path>
              </a:pathLst>
            </a:custGeom>
            <a:solidFill>
              <a:srgbClr val="F08A5D"/>
            </a:solidFill>
          </p:spPr>
        </p:sp>
      </p:grpSp>
      <p:grpSp>
        <p:nvGrpSpPr>
          <p:cNvPr name="Group 89" id="89"/>
          <p:cNvGrpSpPr/>
          <p:nvPr/>
        </p:nvGrpSpPr>
        <p:grpSpPr>
          <a:xfrm rot="0">
            <a:off x="3155051" y="7154266"/>
            <a:ext cx="680314" cy="329184"/>
            <a:chOff x="0" y="0"/>
            <a:chExt cx="907085" cy="438912"/>
          </a:xfrm>
        </p:grpSpPr>
        <p:sp>
          <p:nvSpPr>
            <p:cNvPr name="Freeform 90" id="9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91" id="9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−0.77</a:t>
              </a:r>
            </a:p>
          </p:txBody>
        </p:sp>
      </p:grpSp>
      <p:grpSp>
        <p:nvGrpSpPr>
          <p:cNvPr name="Group 92" id="92"/>
          <p:cNvGrpSpPr/>
          <p:nvPr/>
        </p:nvGrpSpPr>
        <p:grpSpPr>
          <a:xfrm rot="0">
            <a:off x="4109685" y="3138221"/>
            <a:ext cx="3209915" cy="4630522"/>
            <a:chOff x="0" y="0"/>
            <a:chExt cx="4279887" cy="6174029"/>
          </a:xfrm>
        </p:grpSpPr>
        <p:sp>
          <p:nvSpPr>
            <p:cNvPr name="Freeform 93" id="93"/>
            <p:cNvSpPr/>
            <p:nvPr/>
          </p:nvSpPr>
          <p:spPr>
            <a:xfrm flipH="false" flipV="false" rot="0">
              <a:off x="0" y="0"/>
              <a:ext cx="4279900" cy="6173978"/>
            </a:xfrm>
            <a:custGeom>
              <a:avLst/>
              <a:gdLst/>
              <a:ahLst/>
              <a:cxnLst/>
              <a:rect r="r" b="b" t="t" l="l"/>
              <a:pathLst>
                <a:path h="6173978" w="4279900">
                  <a:moveTo>
                    <a:pt x="0" y="171196"/>
                  </a:moveTo>
                  <a:cubicBezTo>
                    <a:pt x="0" y="76708"/>
                    <a:pt x="76708" y="0"/>
                    <a:pt x="171196" y="0"/>
                  </a:cubicBezTo>
                  <a:lnTo>
                    <a:pt x="4108704" y="0"/>
                  </a:lnTo>
                  <a:cubicBezTo>
                    <a:pt x="4203192" y="0"/>
                    <a:pt x="4279900" y="76708"/>
                    <a:pt x="4279900" y="171196"/>
                  </a:cubicBezTo>
                  <a:lnTo>
                    <a:pt x="4279900" y="6002782"/>
                  </a:lnTo>
                  <a:cubicBezTo>
                    <a:pt x="4279900" y="6097270"/>
                    <a:pt x="4203192" y="6173978"/>
                    <a:pt x="4108704" y="6173978"/>
                  </a:cubicBezTo>
                  <a:lnTo>
                    <a:pt x="171196" y="6173978"/>
                  </a:lnTo>
                  <a:cubicBezTo>
                    <a:pt x="76708" y="6173978"/>
                    <a:pt x="0" y="6097397"/>
                    <a:pt x="0" y="6002782"/>
                  </a:cubicBezTo>
                  <a:close/>
                </a:path>
              </a:pathLst>
            </a:custGeom>
            <a:solidFill>
              <a:srgbClr val="262F42"/>
            </a:solidFill>
          </p:spPr>
        </p:sp>
      </p:grpSp>
      <p:grpSp>
        <p:nvGrpSpPr>
          <p:cNvPr name="Group 94" id="94"/>
          <p:cNvGrpSpPr/>
          <p:nvPr/>
        </p:nvGrpSpPr>
        <p:grpSpPr>
          <a:xfrm rot="0">
            <a:off x="4329141" y="3357677"/>
            <a:ext cx="54864" cy="329184"/>
            <a:chOff x="0" y="0"/>
            <a:chExt cx="73152" cy="438912"/>
          </a:xfrm>
        </p:grpSpPr>
        <p:sp>
          <p:nvSpPr>
            <p:cNvPr name="Freeform 95" id="95"/>
            <p:cNvSpPr/>
            <p:nvPr/>
          </p:nvSpPr>
          <p:spPr>
            <a:xfrm flipH="false" flipV="false" rot="0">
              <a:off x="0" y="0"/>
              <a:ext cx="73152" cy="438912"/>
            </a:xfrm>
            <a:custGeom>
              <a:avLst/>
              <a:gdLst/>
              <a:ahLst/>
              <a:cxnLst/>
              <a:rect r="r" b="b" t="t" l="l"/>
              <a:pathLst>
                <a:path h="438912" w="73152">
                  <a:moveTo>
                    <a:pt x="0" y="0"/>
                  </a:moveTo>
                  <a:lnTo>
                    <a:pt x="73152" y="0"/>
                  </a:lnTo>
                  <a:lnTo>
                    <a:pt x="73152" y="438912"/>
                  </a:lnTo>
                  <a:lnTo>
                    <a:pt x="0" y="438912"/>
                  </a:lnTo>
                  <a:close/>
                </a:path>
              </a:pathLst>
            </a:custGeom>
            <a:solidFill>
              <a:srgbClr val="F08A5D"/>
            </a:solidFill>
          </p:spPr>
        </p:sp>
      </p:grpSp>
      <p:grpSp>
        <p:nvGrpSpPr>
          <p:cNvPr name="Group 96" id="96"/>
          <p:cNvGrpSpPr/>
          <p:nvPr/>
        </p:nvGrpSpPr>
        <p:grpSpPr>
          <a:xfrm rot="0">
            <a:off x="4482760" y="3324758"/>
            <a:ext cx="2661275" cy="395021"/>
            <a:chOff x="0" y="0"/>
            <a:chExt cx="3548367" cy="526694"/>
          </a:xfrm>
        </p:grpSpPr>
        <p:sp>
          <p:nvSpPr>
            <p:cNvPr name="Freeform 97" id="97"/>
            <p:cNvSpPr/>
            <p:nvPr/>
          </p:nvSpPr>
          <p:spPr>
            <a:xfrm flipH="false" flipV="false" rot="0">
              <a:off x="0" y="0"/>
              <a:ext cx="3548368" cy="526694"/>
            </a:xfrm>
            <a:custGeom>
              <a:avLst/>
              <a:gdLst/>
              <a:ahLst/>
              <a:cxnLst/>
              <a:rect r="r" b="b" t="t" l="l"/>
              <a:pathLst>
                <a:path h="526694" w="3548368">
                  <a:moveTo>
                    <a:pt x="0" y="0"/>
                  </a:moveTo>
                  <a:lnTo>
                    <a:pt x="3548368" y="0"/>
                  </a:lnTo>
                  <a:lnTo>
                    <a:pt x="3548368" y="526694"/>
                  </a:lnTo>
                  <a:lnTo>
                    <a:pt x="0" y="526694"/>
                  </a:lnTo>
                  <a:close/>
                </a:path>
              </a:pathLst>
            </a:custGeom>
            <a:blipFill>
              <a:blip r:embed="rId5">
                <a:alphaModFix amt="0"/>
              </a:blip>
              <a:stretch>
                <a:fillRect l="0" t="-81271" r="0" b="-81271"/>
              </a:stretch>
            </a:blipFill>
          </p:spPr>
        </p:sp>
        <p:sp>
          <p:nvSpPr>
            <p:cNvPr name="TextBox 98" id="98"/>
            <p:cNvSpPr txBox="true"/>
            <p:nvPr/>
          </p:nvSpPr>
          <p:spPr>
            <a:xfrm>
              <a:off x="0" y="-19050"/>
              <a:ext cx="3548367" cy="545744"/>
            </a:xfrm>
            <a:prstGeom prst="rect">
              <a:avLst/>
            </a:prstGeom>
          </p:spPr>
          <p:txBody>
            <a:bodyPr anchor="ctr" rtlCol="false" tIns="0" lIns="0" bIns="0" rIns="0"/>
            <a:lstStyle/>
            <a:p>
              <a:pPr algn="l">
                <a:lnSpc>
                  <a:spcPts val="2304"/>
                </a:lnSpc>
              </a:pPr>
              <a:r>
                <a:rPr lang="en-US" sz="1920" b="true">
                  <a:solidFill>
                    <a:srgbClr val="F3F1EA"/>
                  </a:solidFill>
                  <a:latin typeface="Arial Bold"/>
                  <a:ea typeface="Arial Bold"/>
                  <a:cs typeface="Arial Bold"/>
                  <a:sym typeface="Arial Bold"/>
                </a:rPr>
                <a:t>Income</a:t>
              </a:r>
            </a:p>
          </p:txBody>
        </p:sp>
      </p:grpSp>
      <p:grpSp>
        <p:nvGrpSpPr>
          <p:cNvPr name="Group 99" id="99"/>
          <p:cNvGrpSpPr/>
          <p:nvPr/>
        </p:nvGrpSpPr>
        <p:grpSpPr>
          <a:xfrm rot="0">
            <a:off x="6222321" y="3357677"/>
            <a:ext cx="877824" cy="329184"/>
            <a:chOff x="0" y="0"/>
            <a:chExt cx="1170432" cy="438912"/>
          </a:xfrm>
        </p:grpSpPr>
        <p:sp>
          <p:nvSpPr>
            <p:cNvPr name="Freeform 100" id="100"/>
            <p:cNvSpPr/>
            <p:nvPr/>
          </p:nvSpPr>
          <p:spPr>
            <a:xfrm flipH="false" flipV="false" rot="0">
              <a:off x="0" y="0"/>
              <a:ext cx="1170432" cy="438912"/>
            </a:xfrm>
            <a:custGeom>
              <a:avLst/>
              <a:gdLst/>
              <a:ahLst/>
              <a:cxnLst/>
              <a:rect r="r" b="b" t="t" l="l"/>
              <a:pathLst>
                <a:path h="438912" w="1170432">
                  <a:moveTo>
                    <a:pt x="0" y="0"/>
                  </a:moveTo>
                  <a:lnTo>
                    <a:pt x="1170432" y="0"/>
                  </a:lnTo>
                  <a:lnTo>
                    <a:pt x="1170432" y="438912"/>
                  </a:lnTo>
                  <a:lnTo>
                    <a:pt x="0" y="438912"/>
                  </a:lnTo>
                  <a:close/>
                </a:path>
              </a:pathLst>
            </a:custGeom>
            <a:blipFill>
              <a:blip r:embed="rId5">
                <a:alphaModFix amt="0"/>
              </a:blip>
              <a:stretch>
                <a:fillRect l="0" t="-1960" r="0" b="-1960"/>
              </a:stretch>
            </a:blipFill>
          </p:spPr>
        </p:sp>
        <p:sp>
          <p:nvSpPr>
            <p:cNvPr name="TextBox 101" id="101"/>
            <p:cNvSpPr txBox="true"/>
            <p:nvPr/>
          </p:nvSpPr>
          <p:spPr>
            <a:xfrm>
              <a:off x="0" y="-19050"/>
              <a:ext cx="1170432" cy="457962"/>
            </a:xfrm>
            <a:prstGeom prst="rect">
              <a:avLst/>
            </a:prstGeom>
          </p:spPr>
          <p:txBody>
            <a:bodyPr anchor="ctr" rtlCol="false" tIns="0" lIns="0" bIns="0" rIns="0"/>
            <a:lstStyle/>
            <a:p>
              <a:pPr algn="r">
                <a:lnSpc>
                  <a:spcPts val="1439"/>
                </a:lnSpc>
              </a:pPr>
              <a:r>
                <a:rPr lang="en-US" sz="1200">
                  <a:solidFill>
                    <a:srgbClr val="9AA1B0"/>
                  </a:solidFill>
                  <a:latin typeface="Arial"/>
                  <a:ea typeface="Arial"/>
                  <a:cs typeface="Arial"/>
                  <a:sym typeface="Arial"/>
                </a:rPr>
                <a:t>4 factors</a:t>
              </a:r>
            </a:p>
          </p:txBody>
        </p:sp>
      </p:grpSp>
      <p:sp>
        <p:nvSpPr>
          <p:cNvPr name="TextBox 102" id="102"/>
          <p:cNvSpPr txBox="true"/>
          <p:nvPr/>
        </p:nvSpPr>
        <p:spPr>
          <a:xfrm rot="0">
            <a:off x="4329141" y="3909212"/>
            <a:ext cx="2771003" cy="219075"/>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Nominal </a:t>
            </a:r>
            <a:r>
              <a:rPr lang="en-US" sz="1320">
                <a:solidFill>
                  <a:srgbClr val="C4C8D2"/>
                </a:solidFill>
                <a:latin typeface="Arial"/>
                <a:ea typeface="Arial"/>
                <a:cs typeface="Arial"/>
                <a:sym typeface="Arial"/>
              </a:rPr>
              <a:t>Median income per member</a:t>
            </a:r>
          </a:p>
        </p:txBody>
      </p:sp>
      <p:grpSp>
        <p:nvGrpSpPr>
          <p:cNvPr name="Group 103" id="103"/>
          <p:cNvGrpSpPr/>
          <p:nvPr/>
        </p:nvGrpSpPr>
        <p:grpSpPr>
          <a:xfrm rot="0">
            <a:off x="4329141" y="4323283"/>
            <a:ext cx="2167499" cy="21946"/>
            <a:chOff x="0" y="0"/>
            <a:chExt cx="2889999" cy="29261"/>
          </a:xfrm>
        </p:grpSpPr>
        <p:sp>
          <p:nvSpPr>
            <p:cNvPr name="Freeform 104" id="10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05" id="105"/>
          <p:cNvGrpSpPr/>
          <p:nvPr/>
        </p:nvGrpSpPr>
        <p:grpSpPr>
          <a:xfrm rot="0">
            <a:off x="5405209" y="4202582"/>
            <a:ext cx="15364" cy="263347"/>
            <a:chOff x="0" y="0"/>
            <a:chExt cx="20485" cy="351130"/>
          </a:xfrm>
        </p:grpSpPr>
        <p:sp>
          <p:nvSpPr>
            <p:cNvPr name="Freeform 106" id="10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07" id="107"/>
          <p:cNvGrpSpPr/>
          <p:nvPr/>
        </p:nvGrpSpPr>
        <p:grpSpPr>
          <a:xfrm rot="0">
            <a:off x="4459195" y="4246474"/>
            <a:ext cx="953700" cy="175565"/>
            <a:chOff x="0" y="0"/>
            <a:chExt cx="1271600" cy="234086"/>
          </a:xfrm>
        </p:grpSpPr>
        <p:sp>
          <p:nvSpPr>
            <p:cNvPr name="Freeform 108" id="108"/>
            <p:cNvSpPr/>
            <p:nvPr/>
          </p:nvSpPr>
          <p:spPr>
            <a:xfrm flipH="false" flipV="false" rot="0">
              <a:off x="0" y="0"/>
              <a:ext cx="1271651" cy="234061"/>
            </a:xfrm>
            <a:custGeom>
              <a:avLst/>
              <a:gdLst/>
              <a:ahLst/>
              <a:cxnLst/>
              <a:rect r="r" b="b" t="t" l="l"/>
              <a:pathLst>
                <a:path h="234061" w="1271651">
                  <a:moveTo>
                    <a:pt x="0" y="0"/>
                  </a:moveTo>
                  <a:lnTo>
                    <a:pt x="1271651" y="0"/>
                  </a:lnTo>
                  <a:lnTo>
                    <a:pt x="1271651" y="234061"/>
                  </a:lnTo>
                  <a:lnTo>
                    <a:pt x="0" y="234061"/>
                  </a:lnTo>
                  <a:close/>
                </a:path>
              </a:pathLst>
            </a:custGeom>
            <a:solidFill>
              <a:srgbClr val="F08A5D"/>
            </a:solidFill>
          </p:spPr>
        </p:sp>
      </p:grpSp>
      <p:grpSp>
        <p:nvGrpSpPr>
          <p:cNvPr name="Group 109" id="109"/>
          <p:cNvGrpSpPr/>
          <p:nvPr/>
        </p:nvGrpSpPr>
        <p:grpSpPr>
          <a:xfrm rot="0">
            <a:off x="6584423" y="4169664"/>
            <a:ext cx="680314" cy="329184"/>
            <a:chOff x="0" y="0"/>
            <a:chExt cx="907085" cy="438912"/>
          </a:xfrm>
        </p:grpSpPr>
        <p:sp>
          <p:nvSpPr>
            <p:cNvPr name="Freeform 110" id="11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11" id="11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−0.88</a:t>
              </a:r>
            </a:p>
          </p:txBody>
        </p:sp>
      </p:grpSp>
      <p:sp>
        <p:nvSpPr>
          <p:cNvPr name="TextBox 112" id="112"/>
          <p:cNvSpPr txBox="true"/>
          <p:nvPr/>
        </p:nvSpPr>
        <p:spPr>
          <a:xfrm rot="0">
            <a:off x="4329141" y="4655363"/>
            <a:ext cx="2771003" cy="219075"/>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Real Median </a:t>
            </a:r>
            <a:r>
              <a:rPr lang="en-US" sz="1320">
                <a:solidFill>
                  <a:srgbClr val="C4C8D2"/>
                </a:solidFill>
                <a:latin typeface="Arial"/>
                <a:ea typeface="Arial"/>
                <a:cs typeface="Arial"/>
                <a:sym typeface="Arial"/>
              </a:rPr>
              <a:t>income per member</a:t>
            </a:r>
          </a:p>
        </p:txBody>
      </p:sp>
      <p:grpSp>
        <p:nvGrpSpPr>
          <p:cNvPr name="Group 113" id="113"/>
          <p:cNvGrpSpPr/>
          <p:nvPr/>
        </p:nvGrpSpPr>
        <p:grpSpPr>
          <a:xfrm rot="0">
            <a:off x="4329141" y="5069434"/>
            <a:ext cx="2167499" cy="21946"/>
            <a:chOff x="0" y="0"/>
            <a:chExt cx="2889999" cy="29261"/>
          </a:xfrm>
        </p:grpSpPr>
        <p:sp>
          <p:nvSpPr>
            <p:cNvPr name="Freeform 114" id="11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15" id="115"/>
          <p:cNvGrpSpPr/>
          <p:nvPr/>
        </p:nvGrpSpPr>
        <p:grpSpPr>
          <a:xfrm rot="0">
            <a:off x="5405209" y="4948733"/>
            <a:ext cx="15364" cy="263347"/>
            <a:chOff x="0" y="0"/>
            <a:chExt cx="20485" cy="351130"/>
          </a:xfrm>
        </p:grpSpPr>
        <p:sp>
          <p:nvSpPr>
            <p:cNvPr name="Freeform 116" id="11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17" id="117"/>
          <p:cNvGrpSpPr/>
          <p:nvPr/>
        </p:nvGrpSpPr>
        <p:grpSpPr>
          <a:xfrm rot="0">
            <a:off x="4480865" y="4992624"/>
            <a:ext cx="932021" cy="175565"/>
            <a:chOff x="0" y="0"/>
            <a:chExt cx="1242695" cy="234086"/>
          </a:xfrm>
        </p:grpSpPr>
        <p:sp>
          <p:nvSpPr>
            <p:cNvPr name="Freeform 118" id="118"/>
            <p:cNvSpPr/>
            <p:nvPr/>
          </p:nvSpPr>
          <p:spPr>
            <a:xfrm flipH="false" flipV="false" rot="0">
              <a:off x="0" y="0"/>
              <a:ext cx="1242695" cy="234061"/>
            </a:xfrm>
            <a:custGeom>
              <a:avLst/>
              <a:gdLst/>
              <a:ahLst/>
              <a:cxnLst/>
              <a:rect r="r" b="b" t="t" l="l"/>
              <a:pathLst>
                <a:path h="234061" w="1242695">
                  <a:moveTo>
                    <a:pt x="0" y="0"/>
                  </a:moveTo>
                  <a:lnTo>
                    <a:pt x="1242695" y="0"/>
                  </a:lnTo>
                  <a:lnTo>
                    <a:pt x="1242695" y="234061"/>
                  </a:lnTo>
                  <a:lnTo>
                    <a:pt x="0" y="234061"/>
                  </a:lnTo>
                  <a:close/>
                </a:path>
              </a:pathLst>
            </a:custGeom>
            <a:solidFill>
              <a:srgbClr val="F08A5D"/>
            </a:solidFill>
          </p:spPr>
        </p:sp>
      </p:grpSp>
      <p:grpSp>
        <p:nvGrpSpPr>
          <p:cNvPr name="Group 119" id="119"/>
          <p:cNvGrpSpPr/>
          <p:nvPr/>
        </p:nvGrpSpPr>
        <p:grpSpPr>
          <a:xfrm rot="0">
            <a:off x="6584423" y="4915814"/>
            <a:ext cx="680314" cy="329184"/>
            <a:chOff x="0" y="0"/>
            <a:chExt cx="907085" cy="438912"/>
          </a:xfrm>
        </p:grpSpPr>
        <p:sp>
          <p:nvSpPr>
            <p:cNvPr name="Freeform 120" id="12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21" id="12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−0.83</a:t>
              </a:r>
            </a:p>
          </p:txBody>
        </p:sp>
      </p:grpSp>
      <p:sp>
        <p:nvSpPr>
          <p:cNvPr name="TextBox 122" id="122"/>
          <p:cNvSpPr txBox="true"/>
          <p:nvPr/>
        </p:nvSpPr>
        <p:spPr>
          <a:xfrm rot="0">
            <a:off x="4329141" y="540151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Gini, before taxes &amp; transfers</a:t>
            </a:r>
          </a:p>
        </p:txBody>
      </p:sp>
      <p:grpSp>
        <p:nvGrpSpPr>
          <p:cNvPr name="Group 123" id="123"/>
          <p:cNvGrpSpPr/>
          <p:nvPr/>
        </p:nvGrpSpPr>
        <p:grpSpPr>
          <a:xfrm rot="0">
            <a:off x="4329141" y="5815584"/>
            <a:ext cx="2167499" cy="21946"/>
            <a:chOff x="0" y="0"/>
            <a:chExt cx="2889999" cy="29261"/>
          </a:xfrm>
        </p:grpSpPr>
        <p:sp>
          <p:nvSpPr>
            <p:cNvPr name="Freeform 124" id="12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25" id="125"/>
          <p:cNvGrpSpPr/>
          <p:nvPr/>
        </p:nvGrpSpPr>
        <p:grpSpPr>
          <a:xfrm rot="0">
            <a:off x="5405209" y="5694883"/>
            <a:ext cx="15364" cy="263347"/>
            <a:chOff x="0" y="0"/>
            <a:chExt cx="20485" cy="351130"/>
          </a:xfrm>
        </p:grpSpPr>
        <p:sp>
          <p:nvSpPr>
            <p:cNvPr name="Freeform 126" id="12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sp>
        <p:nvSpPr>
          <p:cNvPr name="TextBox 127" id="127"/>
          <p:cNvSpPr txBox="true"/>
          <p:nvPr/>
        </p:nvSpPr>
        <p:spPr>
          <a:xfrm rot="0">
            <a:off x="4329141" y="6147664"/>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Gini, after taxes &amp; transfers</a:t>
            </a:r>
          </a:p>
        </p:txBody>
      </p:sp>
      <p:grpSp>
        <p:nvGrpSpPr>
          <p:cNvPr name="Group 128" id="128"/>
          <p:cNvGrpSpPr/>
          <p:nvPr/>
        </p:nvGrpSpPr>
        <p:grpSpPr>
          <a:xfrm rot="0">
            <a:off x="4329141" y="6561734"/>
            <a:ext cx="2167499" cy="21946"/>
            <a:chOff x="0" y="0"/>
            <a:chExt cx="2889999" cy="29261"/>
          </a:xfrm>
        </p:grpSpPr>
        <p:sp>
          <p:nvSpPr>
            <p:cNvPr name="Freeform 129" id="129"/>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30" id="130"/>
          <p:cNvGrpSpPr/>
          <p:nvPr/>
        </p:nvGrpSpPr>
        <p:grpSpPr>
          <a:xfrm rot="0">
            <a:off x="5405209" y="6441034"/>
            <a:ext cx="15364" cy="263347"/>
            <a:chOff x="0" y="0"/>
            <a:chExt cx="20485" cy="351130"/>
          </a:xfrm>
        </p:grpSpPr>
        <p:sp>
          <p:nvSpPr>
            <p:cNvPr name="Freeform 131" id="131"/>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32" id="132"/>
          <p:cNvGrpSpPr/>
          <p:nvPr/>
        </p:nvGrpSpPr>
        <p:grpSpPr>
          <a:xfrm rot="0">
            <a:off x="7539057" y="3138221"/>
            <a:ext cx="3209915" cy="4630522"/>
            <a:chOff x="0" y="0"/>
            <a:chExt cx="4279887" cy="6174029"/>
          </a:xfrm>
        </p:grpSpPr>
        <p:sp>
          <p:nvSpPr>
            <p:cNvPr name="Freeform 133" id="133"/>
            <p:cNvSpPr/>
            <p:nvPr/>
          </p:nvSpPr>
          <p:spPr>
            <a:xfrm flipH="false" flipV="false" rot="0">
              <a:off x="0" y="0"/>
              <a:ext cx="4279900" cy="6173978"/>
            </a:xfrm>
            <a:custGeom>
              <a:avLst/>
              <a:gdLst/>
              <a:ahLst/>
              <a:cxnLst/>
              <a:rect r="r" b="b" t="t" l="l"/>
              <a:pathLst>
                <a:path h="6173978" w="4279900">
                  <a:moveTo>
                    <a:pt x="0" y="171196"/>
                  </a:moveTo>
                  <a:cubicBezTo>
                    <a:pt x="0" y="76708"/>
                    <a:pt x="76708" y="0"/>
                    <a:pt x="171196" y="0"/>
                  </a:cubicBezTo>
                  <a:lnTo>
                    <a:pt x="4108704" y="0"/>
                  </a:lnTo>
                  <a:cubicBezTo>
                    <a:pt x="4203192" y="0"/>
                    <a:pt x="4279900" y="76708"/>
                    <a:pt x="4279900" y="171196"/>
                  </a:cubicBezTo>
                  <a:lnTo>
                    <a:pt x="4279900" y="6002782"/>
                  </a:lnTo>
                  <a:cubicBezTo>
                    <a:pt x="4279900" y="6097270"/>
                    <a:pt x="4203192" y="6173978"/>
                    <a:pt x="4108704" y="6173978"/>
                  </a:cubicBezTo>
                  <a:lnTo>
                    <a:pt x="171196" y="6173978"/>
                  </a:lnTo>
                  <a:cubicBezTo>
                    <a:pt x="76708" y="6173978"/>
                    <a:pt x="0" y="6097397"/>
                    <a:pt x="0" y="6002782"/>
                  </a:cubicBezTo>
                  <a:close/>
                </a:path>
              </a:pathLst>
            </a:custGeom>
            <a:solidFill>
              <a:srgbClr val="262F42"/>
            </a:solidFill>
          </p:spPr>
        </p:sp>
      </p:grpSp>
      <p:grpSp>
        <p:nvGrpSpPr>
          <p:cNvPr name="Group 134" id="134"/>
          <p:cNvGrpSpPr/>
          <p:nvPr/>
        </p:nvGrpSpPr>
        <p:grpSpPr>
          <a:xfrm rot="0">
            <a:off x="7758513" y="3357677"/>
            <a:ext cx="54864" cy="329184"/>
            <a:chOff x="0" y="0"/>
            <a:chExt cx="73152" cy="438912"/>
          </a:xfrm>
        </p:grpSpPr>
        <p:sp>
          <p:nvSpPr>
            <p:cNvPr name="Freeform 135" id="135"/>
            <p:cNvSpPr/>
            <p:nvPr/>
          </p:nvSpPr>
          <p:spPr>
            <a:xfrm flipH="false" flipV="false" rot="0">
              <a:off x="0" y="0"/>
              <a:ext cx="73152" cy="438912"/>
            </a:xfrm>
            <a:custGeom>
              <a:avLst/>
              <a:gdLst/>
              <a:ahLst/>
              <a:cxnLst/>
              <a:rect r="r" b="b" t="t" l="l"/>
              <a:pathLst>
                <a:path h="438912" w="73152">
                  <a:moveTo>
                    <a:pt x="0" y="0"/>
                  </a:moveTo>
                  <a:lnTo>
                    <a:pt x="73152" y="0"/>
                  </a:lnTo>
                  <a:lnTo>
                    <a:pt x="73152" y="438912"/>
                  </a:lnTo>
                  <a:lnTo>
                    <a:pt x="0" y="438912"/>
                  </a:lnTo>
                  <a:close/>
                </a:path>
              </a:pathLst>
            </a:custGeom>
            <a:solidFill>
              <a:srgbClr val="F08A5D"/>
            </a:solidFill>
          </p:spPr>
        </p:sp>
      </p:grpSp>
      <p:grpSp>
        <p:nvGrpSpPr>
          <p:cNvPr name="Group 136" id="136"/>
          <p:cNvGrpSpPr/>
          <p:nvPr/>
        </p:nvGrpSpPr>
        <p:grpSpPr>
          <a:xfrm rot="0">
            <a:off x="7912132" y="3324758"/>
            <a:ext cx="2661275" cy="395021"/>
            <a:chOff x="0" y="0"/>
            <a:chExt cx="3548367" cy="526694"/>
          </a:xfrm>
        </p:grpSpPr>
        <p:sp>
          <p:nvSpPr>
            <p:cNvPr name="Freeform 137" id="137"/>
            <p:cNvSpPr/>
            <p:nvPr/>
          </p:nvSpPr>
          <p:spPr>
            <a:xfrm flipH="false" flipV="false" rot="0">
              <a:off x="0" y="0"/>
              <a:ext cx="3548368" cy="526694"/>
            </a:xfrm>
            <a:custGeom>
              <a:avLst/>
              <a:gdLst/>
              <a:ahLst/>
              <a:cxnLst/>
              <a:rect r="r" b="b" t="t" l="l"/>
              <a:pathLst>
                <a:path h="526694" w="3548368">
                  <a:moveTo>
                    <a:pt x="0" y="0"/>
                  </a:moveTo>
                  <a:lnTo>
                    <a:pt x="3548368" y="0"/>
                  </a:lnTo>
                  <a:lnTo>
                    <a:pt x="3548368" y="526694"/>
                  </a:lnTo>
                  <a:lnTo>
                    <a:pt x="0" y="526694"/>
                  </a:lnTo>
                  <a:close/>
                </a:path>
              </a:pathLst>
            </a:custGeom>
            <a:blipFill>
              <a:blip r:embed="rId5">
                <a:alphaModFix amt="0"/>
              </a:blip>
              <a:stretch>
                <a:fillRect l="0" t="-81271" r="0" b="-81271"/>
              </a:stretch>
            </a:blipFill>
          </p:spPr>
        </p:sp>
        <p:sp>
          <p:nvSpPr>
            <p:cNvPr name="TextBox 138" id="138"/>
            <p:cNvSpPr txBox="true"/>
            <p:nvPr/>
          </p:nvSpPr>
          <p:spPr>
            <a:xfrm>
              <a:off x="0" y="-19050"/>
              <a:ext cx="3548367" cy="545744"/>
            </a:xfrm>
            <a:prstGeom prst="rect">
              <a:avLst/>
            </a:prstGeom>
          </p:spPr>
          <p:txBody>
            <a:bodyPr anchor="ctr" rtlCol="false" tIns="0" lIns="0" bIns="0" rIns="0"/>
            <a:lstStyle/>
            <a:p>
              <a:pPr algn="l">
                <a:lnSpc>
                  <a:spcPts val="2304"/>
                </a:lnSpc>
              </a:pPr>
              <a:r>
                <a:rPr lang="en-US" sz="1920" b="true">
                  <a:solidFill>
                    <a:srgbClr val="F3F1EA"/>
                  </a:solidFill>
                  <a:latin typeface="Arial Bold"/>
                  <a:ea typeface="Arial Bold"/>
                  <a:cs typeface="Arial Bold"/>
                  <a:sym typeface="Arial Bold"/>
                </a:rPr>
                <a:t>Housing</a:t>
              </a:r>
            </a:p>
          </p:txBody>
        </p:sp>
      </p:grpSp>
      <p:grpSp>
        <p:nvGrpSpPr>
          <p:cNvPr name="Group 139" id="139"/>
          <p:cNvGrpSpPr/>
          <p:nvPr/>
        </p:nvGrpSpPr>
        <p:grpSpPr>
          <a:xfrm rot="0">
            <a:off x="9651692" y="3357677"/>
            <a:ext cx="877824" cy="329184"/>
            <a:chOff x="0" y="0"/>
            <a:chExt cx="1170432" cy="438912"/>
          </a:xfrm>
        </p:grpSpPr>
        <p:sp>
          <p:nvSpPr>
            <p:cNvPr name="Freeform 140" id="140"/>
            <p:cNvSpPr/>
            <p:nvPr/>
          </p:nvSpPr>
          <p:spPr>
            <a:xfrm flipH="false" flipV="false" rot="0">
              <a:off x="0" y="0"/>
              <a:ext cx="1170432" cy="438912"/>
            </a:xfrm>
            <a:custGeom>
              <a:avLst/>
              <a:gdLst/>
              <a:ahLst/>
              <a:cxnLst/>
              <a:rect r="r" b="b" t="t" l="l"/>
              <a:pathLst>
                <a:path h="438912" w="1170432">
                  <a:moveTo>
                    <a:pt x="0" y="0"/>
                  </a:moveTo>
                  <a:lnTo>
                    <a:pt x="1170432" y="0"/>
                  </a:lnTo>
                  <a:lnTo>
                    <a:pt x="1170432" y="438912"/>
                  </a:lnTo>
                  <a:lnTo>
                    <a:pt x="0" y="438912"/>
                  </a:lnTo>
                  <a:close/>
                </a:path>
              </a:pathLst>
            </a:custGeom>
            <a:blipFill>
              <a:blip r:embed="rId5">
                <a:alphaModFix amt="0"/>
              </a:blip>
              <a:stretch>
                <a:fillRect l="0" t="-1960" r="0" b="-1960"/>
              </a:stretch>
            </a:blipFill>
          </p:spPr>
        </p:sp>
        <p:sp>
          <p:nvSpPr>
            <p:cNvPr name="TextBox 141" id="141"/>
            <p:cNvSpPr txBox="true"/>
            <p:nvPr/>
          </p:nvSpPr>
          <p:spPr>
            <a:xfrm>
              <a:off x="0" y="-19050"/>
              <a:ext cx="1170432" cy="457962"/>
            </a:xfrm>
            <a:prstGeom prst="rect">
              <a:avLst/>
            </a:prstGeom>
          </p:spPr>
          <p:txBody>
            <a:bodyPr anchor="ctr" rtlCol="false" tIns="0" lIns="0" bIns="0" rIns="0"/>
            <a:lstStyle/>
            <a:p>
              <a:pPr algn="r">
                <a:lnSpc>
                  <a:spcPts val="1439"/>
                </a:lnSpc>
              </a:pPr>
              <a:r>
                <a:rPr lang="en-US" sz="1200">
                  <a:solidFill>
                    <a:srgbClr val="9AA1B0"/>
                  </a:solidFill>
                  <a:latin typeface="Arial"/>
                  <a:ea typeface="Arial"/>
                  <a:cs typeface="Arial"/>
                  <a:sym typeface="Arial"/>
                </a:rPr>
                <a:t>3 factors</a:t>
              </a:r>
            </a:p>
          </p:txBody>
        </p:sp>
      </p:grpSp>
      <p:sp>
        <p:nvSpPr>
          <p:cNvPr name="TextBox 142" id="142"/>
          <p:cNvSpPr txBox="true"/>
          <p:nvPr/>
        </p:nvSpPr>
        <p:spPr>
          <a:xfrm rot="0">
            <a:off x="7758513" y="3909212"/>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HDB resale prices</a:t>
            </a:r>
          </a:p>
        </p:txBody>
      </p:sp>
      <p:grpSp>
        <p:nvGrpSpPr>
          <p:cNvPr name="Group 143" id="143"/>
          <p:cNvGrpSpPr/>
          <p:nvPr/>
        </p:nvGrpSpPr>
        <p:grpSpPr>
          <a:xfrm rot="0">
            <a:off x="7758513" y="4323283"/>
            <a:ext cx="2167499" cy="21946"/>
            <a:chOff x="0" y="0"/>
            <a:chExt cx="2889999" cy="29261"/>
          </a:xfrm>
        </p:grpSpPr>
        <p:sp>
          <p:nvSpPr>
            <p:cNvPr name="Freeform 144" id="14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45" id="145"/>
          <p:cNvGrpSpPr/>
          <p:nvPr/>
        </p:nvGrpSpPr>
        <p:grpSpPr>
          <a:xfrm rot="0">
            <a:off x="8834580" y="4202582"/>
            <a:ext cx="15364" cy="263347"/>
            <a:chOff x="0" y="0"/>
            <a:chExt cx="20485" cy="351130"/>
          </a:xfrm>
        </p:grpSpPr>
        <p:sp>
          <p:nvSpPr>
            <p:cNvPr name="Freeform 146" id="14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47" id="147"/>
          <p:cNvGrpSpPr/>
          <p:nvPr/>
        </p:nvGrpSpPr>
        <p:grpSpPr>
          <a:xfrm rot="0">
            <a:off x="7942755" y="4246474"/>
            <a:ext cx="899512" cy="175565"/>
            <a:chOff x="0" y="0"/>
            <a:chExt cx="1199350" cy="234086"/>
          </a:xfrm>
        </p:grpSpPr>
        <p:sp>
          <p:nvSpPr>
            <p:cNvPr name="Freeform 148" id="148"/>
            <p:cNvSpPr/>
            <p:nvPr/>
          </p:nvSpPr>
          <p:spPr>
            <a:xfrm flipH="false" flipV="false" rot="0">
              <a:off x="0" y="0"/>
              <a:ext cx="1199388" cy="234061"/>
            </a:xfrm>
            <a:custGeom>
              <a:avLst/>
              <a:gdLst/>
              <a:ahLst/>
              <a:cxnLst/>
              <a:rect r="r" b="b" t="t" l="l"/>
              <a:pathLst>
                <a:path h="234061" w="1199388">
                  <a:moveTo>
                    <a:pt x="0" y="0"/>
                  </a:moveTo>
                  <a:lnTo>
                    <a:pt x="1199388" y="0"/>
                  </a:lnTo>
                  <a:lnTo>
                    <a:pt x="1199388" y="234061"/>
                  </a:lnTo>
                  <a:lnTo>
                    <a:pt x="0" y="234061"/>
                  </a:lnTo>
                  <a:close/>
                </a:path>
              </a:pathLst>
            </a:custGeom>
            <a:solidFill>
              <a:srgbClr val="F08A5D"/>
            </a:solidFill>
          </p:spPr>
        </p:sp>
      </p:grpSp>
      <p:grpSp>
        <p:nvGrpSpPr>
          <p:cNvPr name="Group 149" id="149"/>
          <p:cNvGrpSpPr/>
          <p:nvPr/>
        </p:nvGrpSpPr>
        <p:grpSpPr>
          <a:xfrm rot="0">
            <a:off x="10013794" y="4169664"/>
            <a:ext cx="680314" cy="329184"/>
            <a:chOff x="0" y="0"/>
            <a:chExt cx="907085" cy="438912"/>
          </a:xfrm>
        </p:grpSpPr>
        <p:sp>
          <p:nvSpPr>
            <p:cNvPr name="Freeform 150" id="15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51" id="15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−0.83</a:t>
              </a:r>
            </a:p>
          </p:txBody>
        </p:sp>
      </p:grpSp>
      <p:sp>
        <p:nvSpPr>
          <p:cNvPr name="TextBox 152" id="152"/>
          <p:cNvSpPr txBox="true"/>
          <p:nvPr/>
        </p:nvSpPr>
        <p:spPr>
          <a:xfrm rot="0">
            <a:off x="7758513" y="465536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Private non-landed prices</a:t>
            </a:r>
          </a:p>
        </p:txBody>
      </p:sp>
      <p:grpSp>
        <p:nvGrpSpPr>
          <p:cNvPr name="Group 153" id="153"/>
          <p:cNvGrpSpPr/>
          <p:nvPr/>
        </p:nvGrpSpPr>
        <p:grpSpPr>
          <a:xfrm rot="0">
            <a:off x="7758513" y="5069434"/>
            <a:ext cx="2167499" cy="21946"/>
            <a:chOff x="0" y="0"/>
            <a:chExt cx="2889999" cy="29261"/>
          </a:xfrm>
        </p:grpSpPr>
        <p:sp>
          <p:nvSpPr>
            <p:cNvPr name="Freeform 154" id="15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55" id="155"/>
          <p:cNvGrpSpPr/>
          <p:nvPr/>
        </p:nvGrpSpPr>
        <p:grpSpPr>
          <a:xfrm rot="0">
            <a:off x="8834580" y="4948733"/>
            <a:ext cx="15364" cy="263347"/>
            <a:chOff x="0" y="0"/>
            <a:chExt cx="20485" cy="351130"/>
          </a:xfrm>
        </p:grpSpPr>
        <p:sp>
          <p:nvSpPr>
            <p:cNvPr name="Freeform 156" id="15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57" id="157"/>
          <p:cNvGrpSpPr/>
          <p:nvPr/>
        </p:nvGrpSpPr>
        <p:grpSpPr>
          <a:xfrm rot="0">
            <a:off x="7866888" y="4992624"/>
            <a:ext cx="975379" cy="175565"/>
            <a:chOff x="0" y="0"/>
            <a:chExt cx="1300505" cy="234086"/>
          </a:xfrm>
        </p:grpSpPr>
        <p:sp>
          <p:nvSpPr>
            <p:cNvPr name="Freeform 158" id="158"/>
            <p:cNvSpPr/>
            <p:nvPr/>
          </p:nvSpPr>
          <p:spPr>
            <a:xfrm flipH="false" flipV="false" rot="0">
              <a:off x="0" y="0"/>
              <a:ext cx="1300480" cy="234061"/>
            </a:xfrm>
            <a:custGeom>
              <a:avLst/>
              <a:gdLst/>
              <a:ahLst/>
              <a:cxnLst/>
              <a:rect r="r" b="b" t="t" l="l"/>
              <a:pathLst>
                <a:path h="234061" w="1300480">
                  <a:moveTo>
                    <a:pt x="0" y="0"/>
                  </a:moveTo>
                  <a:lnTo>
                    <a:pt x="1300480" y="0"/>
                  </a:lnTo>
                  <a:lnTo>
                    <a:pt x="1300480" y="234061"/>
                  </a:lnTo>
                  <a:lnTo>
                    <a:pt x="0" y="234061"/>
                  </a:lnTo>
                  <a:close/>
                </a:path>
              </a:pathLst>
            </a:custGeom>
            <a:solidFill>
              <a:srgbClr val="F08A5D"/>
            </a:solidFill>
          </p:spPr>
        </p:sp>
      </p:grpSp>
      <p:grpSp>
        <p:nvGrpSpPr>
          <p:cNvPr name="Group 159" id="159"/>
          <p:cNvGrpSpPr/>
          <p:nvPr/>
        </p:nvGrpSpPr>
        <p:grpSpPr>
          <a:xfrm rot="0">
            <a:off x="10013794" y="4915814"/>
            <a:ext cx="680314" cy="329184"/>
            <a:chOff x="0" y="0"/>
            <a:chExt cx="907085" cy="438912"/>
          </a:xfrm>
        </p:grpSpPr>
        <p:sp>
          <p:nvSpPr>
            <p:cNvPr name="Freeform 160" id="16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61" id="16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−0.90</a:t>
              </a:r>
            </a:p>
          </p:txBody>
        </p:sp>
      </p:grpSp>
      <p:sp>
        <p:nvSpPr>
          <p:cNvPr name="TextBox 162" id="162"/>
          <p:cNvSpPr txBox="true"/>
          <p:nvPr/>
        </p:nvSpPr>
        <p:spPr>
          <a:xfrm rot="0">
            <a:off x="7758513" y="540151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Private landed prices</a:t>
            </a:r>
          </a:p>
        </p:txBody>
      </p:sp>
      <p:grpSp>
        <p:nvGrpSpPr>
          <p:cNvPr name="Group 163" id="163"/>
          <p:cNvGrpSpPr/>
          <p:nvPr/>
        </p:nvGrpSpPr>
        <p:grpSpPr>
          <a:xfrm rot="0">
            <a:off x="7758513" y="5815584"/>
            <a:ext cx="2167499" cy="21946"/>
            <a:chOff x="0" y="0"/>
            <a:chExt cx="2889999" cy="29261"/>
          </a:xfrm>
        </p:grpSpPr>
        <p:sp>
          <p:nvSpPr>
            <p:cNvPr name="Freeform 164" id="16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65" id="165"/>
          <p:cNvGrpSpPr/>
          <p:nvPr/>
        </p:nvGrpSpPr>
        <p:grpSpPr>
          <a:xfrm rot="0">
            <a:off x="8834580" y="5694883"/>
            <a:ext cx="15364" cy="263347"/>
            <a:chOff x="0" y="0"/>
            <a:chExt cx="20485" cy="351130"/>
          </a:xfrm>
        </p:grpSpPr>
        <p:sp>
          <p:nvSpPr>
            <p:cNvPr name="Freeform 166" id="16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67" id="167"/>
          <p:cNvGrpSpPr/>
          <p:nvPr/>
        </p:nvGrpSpPr>
        <p:grpSpPr>
          <a:xfrm rot="0">
            <a:off x="7942755" y="5738774"/>
            <a:ext cx="899512" cy="175565"/>
            <a:chOff x="0" y="0"/>
            <a:chExt cx="1199350" cy="234086"/>
          </a:xfrm>
        </p:grpSpPr>
        <p:sp>
          <p:nvSpPr>
            <p:cNvPr name="Freeform 168" id="168"/>
            <p:cNvSpPr/>
            <p:nvPr/>
          </p:nvSpPr>
          <p:spPr>
            <a:xfrm flipH="false" flipV="false" rot="0">
              <a:off x="0" y="0"/>
              <a:ext cx="1199388" cy="234061"/>
            </a:xfrm>
            <a:custGeom>
              <a:avLst/>
              <a:gdLst/>
              <a:ahLst/>
              <a:cxnLst/>
              <a:rect r="r" b="b" t="t" l="l"/>
              <a:pathLst>
                <a:path h="234061" w="1199388">
                  <a:moveTo>
                    <a:pt x="0" y="0"/>
                  </a:moveTo>
                  <a:lnTo>
                    <a:pt x="1199388" y="0"/>
                  </a:lnTo>
                  <a:lnTo>
                    <a:pt x="1199388" y="234061"/>
                  </a:lnTo>
                  <a:lnTo>
                    <a:pt x="0" y="234061"/>
                  </a:lnTo>
                  <a:close/>
                </a:path>
              </a:pathLst>
            </a:custGeom>
            <a:solidFill>
              <a:srgbClr val="F08A5D"/>
            </a:solidFill>
          </p:spPr>
        </p:sp>
      </p:grpSp>
      <p:grpSp>
        <p:nvGrpSpPr>
          <p:cNvPr name="Group 169" id="169"/>
          <p:cNvGrpSpPr/>
          <p:nvPr/>
        </p:nvGrpSpPr>
        <p:grpSpPr>
          <a:xfrm rot="0">
            <a:off x="10013794" y="5661965"/>
            <a:ext cx="680314" cy="329184"/>
            <a:chOff x="0" y="0"/>
            <a:chExt cx="907085" cy="438912"/>
          </a:xfrm>
        </p:grpSpPr>
        <p:sp>
          <p:nvSpPr>
            <p:cNvPr name="Freeform 170" id="17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71" id="17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−0.83</a:t>
              </a:r>
            </a:p>
          </p:txBody>
        </p:sp>
      </p:grpSp>
      <p:grpSp>
        <p:nvGrpSpPr>
          <p:cNvPr name="Group 172" id="172"/>
          <p:cNvGrpSpPr/>
          <p:nvPr/>
        </p:nvGrpSpPr>
        <p:grpSpPr>
          <a:xfrm rot="0">
            <a:off x="10968428" y="3138221"/>
            <a:ext cx="3209915" cy="4630522"/>
            <a:chOff x="0" y="0"/>
            <a:chExt cx="4279887" cy="6174029"/>
          </a:xfrm>
        </p:grpSpPr>
        <p:sp>
          <p:nvSpPr>
            <p:cNvPr name="Freeform 173" id="173"/>
            <p:cNvSpPr/>
            <p:nvPr/>
          </p:nvSpPr>
          <p:spPr>
            <a:xfrm flipH="false" flipV="false" rot="0">
              <a:off x="0" y="0"/>
              <a:ext cx="4279900" cy="6173978"/>
            </a:xfrm>
            <a:custGeom>
              <a:avLst/>
              <a:gdLst/>
              <a:ahLst/>
              <a:cxnLst/>
              <a:rect r="r" b="b" t="t" l="l"/>
              <a:pathLst>
                <a:path h="6173978" w="4279900">
                  <a:moveTo>
                    <a:pt x="0" y="171196"/>
                  </a:moveTo>
                  <a:cubicBezTo>
                    <a:pt x="0" y="76708"/>
                    <a:pt x="76708" y="0"/>
                    <a:pt x="171196" y="0"/>
                  </a:cubicBezTo>
                  <a:lnTo>
                    <a:pt x="4108704" y="0"/>
                  </a:lnTo>
                  <a:cubicBezTo>
                    <a:pt x="4203192" y="0"/>
                    <a:pt x="4279900" y="76708"/>
                    <a:pt x="4279900" y="171196"/>
                  </a:cubicBezTo>
                  <a:lnTo>
                    <a:pt x="4279900" y="6002782"/>
                  </a:lnTo>
                  <a:cubicBezTo>
                    <a:pt x="4279900" y="6097270"/>
                    <a:pt x="4203192" y="6173978"/>
                    <a:pt x="4108704" y="6173978"/>
                  </a:cubicBezTo>
                  <a:lnTo>
                    <a:pt x="171196" y="6173978"/>
                  </a:lnTo>
                  <a:cubicBezTo>
                    <a:pt x="76708" y="6173978"/>
                    <a:pt x="0" y="6097397"/>
                    <a:pt x="0" y="6002782"/>
                  </a:cubicBezTo>
                  <a:close/>
                </a:path>
              </a:pathLst>
            </a:custGeom>
            <a:solidFill>
              <a:srgbClr val="262F42"/>
            </a:solidFill>
          </p:spPr>
        </p:sp>
      </p:grpSp>
      <p:grpSp>
        <p:nvGrpSpPr>
          <p:cNvPr name="Group 174" id="174"/>
          <p:cNvGrpSpPr/>
          <p:nvPr/>
        </p:nvGrpSpPr>
        <p:grpSpPr>
          <a:xfrm rot="0">
            <a:off x="11187884" y="3357677"/>
            <a:ext cx="54864" cy="329184"/>
            <a:chOff x="0" y="0"/>
            <a:chExt cx="73152" cy="438912"/>
          </a:xfrm>
        </p:grpSpPr>
        <p:sp>
          <p:nvSpPr>
            <p:cNvPr name="Freeform 175" id="175"/>
            <p:cNvSpPr/>
            <p:nvPr/>
          </p:nvSpPr>
          <p:spPr>
            <a:xfrm flipH="false" flipV="false" rot="0">
              <a:off x="0" y="0"/>
              <a:ext cx="73152" cy="438912"/>
            </a:xfrm>
            <a:custGeom>
              <a:avLst/>
              <a:gdLst/>
              <a:ahLst/>
              <a:cxnLst/>
              <a:rect r="r" b="b" t="t" l="l"/>
              <a:pathLst>
                <a:path h="438912" w="73152">
                  <a:moveTo>
                    <a:pt x="0" y="0"/>
                  </a:moveTo>
                  <a:lnTo>
                    <a:pt x="73152" y="0"/>
                  </a:lnTo>
                  <a:lnTo>
                    <a:pt x="73152" y="438912"/>
                  </a:lnTo>
                  <a:lnTo>
                    <a:pt x="0" y="438912"/>
                  </a:lnTo>
                  <a:close/>
                </a:path>
              </a:pathLst>
            </a:custGeom>
            <a:solidFill>
              <a:srgbClr val="F08A5D"/>
            </a:solidFill>
          </p:spPr>
        </p:sp>
      </p:grpSp>
      <p:grpSp>
        <p:nvGrpSpPr>
          <p:cNvPr name="Group 176" id="176"/>
          <p:cNvGrpSpPr/>
          <p:nvPr/>
        </p:nvGrpSpPr>
        <p:grpSpPr>
          <a:xfrm rot="0">
            <a:off x="11341503" y="3324758"/>
            <a:ext cx="2661275" cy="395021"/>
            <a:chOff x="0" y="0"/>
            <a:chExt cx="3548367" cy="526694"/>
          </a:xfrm>
        </p:grpSpPr>
        <p:sp>
          <p:nvSpPr>
            <p:cNvPr name="Freeform 177" id="177"/>
            <p:cNvSpPr/>
            <p:nvPr/>
          </p:nvSpPr>
          <p:spPr>
            <a:xfrm flipH="false" flipV="false" rot="0">
              <a:off x="0" y="0"/>
              <a:ext cx="3548368" cy="526694"/>
            </a:xfrm>
            <a:custGeom>
              <a:avLst/>
              <a:gdLst/>
              <a:ahLst/>
              <a:cxnLst/>
              <a:rect r="r" b="b" t="t" l="l"/>
              <a:pathLst>
                <a:path h="526694" w="3548368">
                  <a:moveTo>
                    <a:pt x="0" y="0"/>
                  </a:moveTo>
                  <a:lnTo>
                    <a:pt x="3548368" y="0"/>
                  </a:lnTo>
                  <a:lnTo>
                    <a:pt x="3548368" y="526694"/>
                  </a:lnTo>
                  <a:lnTo>
                    <a:pt x="0" y="526694"/>
                  </a:lnTo>
                  <a:close/>
                </a:path>
              </a:pathLst>
            </a:custGeom>
            <a:blipFill>
              <a:blip r:embed="rId5">
                <a:alphaModFix amt="0"/>
              </a:blip>
              <a:stretch>
                <a:fillRect l="0" t="-81271" r="0" b="-81271"/>
              </a:stretch>
            </a:blipFill>
          </p:spPr>
        </p:sp>
        <p:sp>
          <p:nvSpPr>
            <p:cNvPr name="TextBox 178" id="178"/>
            <p:cNvSpPr txBox="true"/>
            <p:nvPr/>
          </p:nvSpPr>
          <p:spPr>
            <a:xfrm>
              <a:off x="0" y="-19050"/>
              <a:ext cx="3548367" cy="545744"/>
            </a:xfrm>
            <a:prstGeom prst="rect">
              <a:avLst/>
            </a:prstGeom>
          </p:spPr>
          <p:txBody>
            <a:bodyPr anchor="ctr" rtlCol="false" tIns="0" lIns="0" bIns="0" rIns="0"/>
            <a:lstStyle/>
            <a:p>
              <a:pPr algn="l">
                <a:lnSpc>
                  <a:spcPts val="2304"/>
                </a:lnSpc>
              </a:pPr>
              <a:r>
                <a:rPr lang="en-US" sz="1920" b="true">
                  <a:solidFill>
                    <a:srgbClr val="F3F1EA"/>
                  </a:solidFill>
                  <a:latin typeface="Arial Bold"/>
                  <a:ea typeface="Arial Bold"/>
                  <a:cs typeface="Arial Bold"/>
                  <a:sym typeface="Arial Bold"/>
                </a:rPr>
                <a:t>Marriage</a:t>
              </a:r>
            </a:p>
          </p:txBody>
        </p:sp>
      </p:grpSp>
      <p:grpSp>
        <p:nvGrpSpPr>
          <p:cNvPr name="Group 179" id="179"/>
          <p:cNvGrpSpPr/>
          <p:nvPr/>
        </p:nvGrpSpPr>
        <p:grpSpPr>
          <a:xfrm rot="0">
            <a:off x="13081073" y="3357677"/>
            <a:ext cx="877824" cy="329184"/>
            <a:chOff x="0" y="0"/>
            <a:chExt cx="1170432" cy="438912"/>
          </a:xfrm>
        </p:grpSpPr>
        <p:sp>
          <p:nvSpPr>
            <p:cNvPr name="Freeform 180" id="180"/>
            <p:cNvSpPr/>
            <p:nvPr/>
          </p:nvSpPr>
          <p:spPr>
            <a:xfrm flipH="false" flipV="false" rot="0">
              <a:off x="0" y="0"/>
              <a:ext cx="1170432" cy="438912"/>
            </a:xfrm>
            <a:custGeom>
              <a:avLst/>
              <a:gdLst/>
              <a:ahLst/>
              <a:cxnLst/>
              <a:rect r="r" b="b" t="t" l="l"/>
              <a:pathLst>
                <a:path h="438912" w="1170432">
                  <a:moveTo>
                    <a:pt x="0" y="0"/>
                  </a:moveTo>
                  <a:lnTo>
                    <a:pt x="1170432" y="0"/>
                  </a:lnTo>
                  <a:lnTo>
                    <a:pt x="1170432" y="438912"/>
                  </a:lnTo>
                  <a:lnTo>
                    <a:pt x="0" y="438912"/>
                  </a:lnTo>
                  <a:close/>
                </a:path>
              </a:pathLst>
            </a:custGeom>
            <a:blipFill>
              <a:blip r:embed="rId5">
                <a:alphaModFix amt="0"/>
              </a:blip>
              <a:stretch>
                <a:fillRect l="0" t="-1960" r="0" b="-1960"/>
              </a:stretch>
            </a:blipFill>
          </p:spPr>
        </p:sp>
        <p:sp>
          <p:nvSpPr>
            <p:cNvPr name="TextBox 181" id="181"/>
            <p:cNvSpPr txBox="true"/>
            <p:nvPr/>
          </p:nvSpPr>
          <p:spPr>
            <a:xfrm>
              <a:off x="0" y="-19050"/>
              <a:ext cx="1170432" cy="457962"/>
            </a:xfrm>
            <a:prstGeom prst="rect">
              <a:avLst/>
            </a:prstGeom>
          </p:spPr>
          <p:txBody>
            <a:bodyPr anchor="ctr" rtlCol="false" tIns="0" lIns="0" bIns="0" rIns="0"/>
            <a:lstStyle/>
            <a:p>
              <a:pPr algn="r">
                <a:lnSpc>
                  <a:spcPts val="1439"/>
                </a:lnSpc>
              </a:pPr>
              <a:r>
                <a:rPr lang="en-US" sz="1200">
                  <a:solidFill>
                    <a:srgbClr val="9AA1B0"/>
                  </a:solidFill>
                  <a:latin typeface="Arial"/>
                  <a:ea typeface="Arial"/>
                  <a:cs typeface="Arial"/>
                  <a:sym typeface="Arial"/>
                </a:rPr>
                <a:t>5 factors</a:t>
              </a:r>
            </a:p>
          </p:txBody>
        </p:sp>
      </p:grpSp>
      <p:sp>
        <p:nvSpPr>
          <p:cNvPr name="TextBox 182" id="182"/>
          <p:cNvSpPr txBox="true"/>
          <p:nvPr/>
        </p:nvSpPr>
        <p:spPr>
          <a:xfrm rot="0">
            <a:off x="11187884" y="3909212"/>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Marriage rate, women 20–24</a:t>
            </a:r>
          </a:p>
        </p:txBody>
      </p:sp>
      <p:grpSp>
        <p:nvGrpSpPr>
          <p:cNvPr name="Group 183" id="183"/>
          <p:cNvGrpSpPr/>
          <p:nvPr/>
        </p:nvGrpSpPr>
        <p:grpSpPr>
          <a:xfrm rot="0">
            <a:off x="11187884" y="4323283"/>
            <a:ext cx="2167499" cy="21946"/>
            <a:chOff x="0" y="0"/>
            <a:chExt cx="2889999" cy="29261"/>
          </a:xfrm>
        </p:grpSpPr>
        <p:sp>
          <p:nvSpPr>
            <p:cNvPr name="Freeform 184" id="18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85" id="185"/>
          <p:cNvGrpSpPr/>
          <p:nvPr/>
        </p:nvGrpSpPr>
        <p:grpSpPr>
          <a:xfrm rot="0">
            <a:off x="12263961" y="4202582"/>
            <a:ext cx="15364" cy="263347"/>
            <a:chOff x="0" y="0"/>
            <a:chExt cx="20485" cy="351130"/>
          </a:xfrm>
        </p:grpSpPr>
        <p:sp>
          <p:nvSpPr>
            <p:cNvPr name="Freeform 186" id="18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87" id="187"/>
          <p:cNvGrpSpPr/>
          <p:nvPr/>
        </p:nvGrpSpPr>
        <p:grpSpPr>
          <a:xfrm rot="0">
            <a:off x="12271639" y="4246474"/>
            <a:ext cx="964540" cy="175565"/>
            <a:chOff x="0" y="0"/>
            <a:chExt cx="1286053" cy="234086"/>
          </a:xfrm>
        </p:grpSpPr>
        <p:sp>
          <p:nvSpPr>
            <p:cNvPr name="Freeform 188" id="188"/>
            <p:cNvSpPr/>
            <p:nvPr/>
          </p:nvSpPr>
          <p:spPr>
            <a:xfrm flipH="false" flipV="false" rot="0">
              <a:off x="0" y="0"/>
              <a:ext cx="1286002" cy="234061"/>
            </a:xfrm>
            <a:custGeom>
              <a:avLst/>
              <a:gdLst/>
              <a:ahLst/>
              <a:cxnLst/>
              <a:rect r="r" b="b" t="t" l="l"/>
              <a:pathLst>
                <a:path h="234061" w="1286002">
                  <a:moveTo>
                    <a:pt x="0" y="0"/>
                  </a:moveTo>
                  <a:lnTo>
                    <a:pt x="1286002" y="0"/>
                  </a:lnTo>
                  <a:lnTo>
                    <a:pt x="1286002" y="234061"/>
                  </a:lnTo>
                  <a:lnTo>
                    <a:pt x="0" y="234061"/>
                  </a:lnTo>
                  <a:close/>
                </a:path>
              </a:pathLst>
            </a:custGeom>
            <a:solidFill>
              <a:srgbClr val="5FC4B0"/>
            </a:solidFill>
          </p:spPr>
        </p:sp>
      </p:grpSp>
      <p:grpSp>
        <p:nvGrpSpPr>
          <p:cNvPr name="Group 189" id="189"/>
          <p:cNvGrpSpPr/>
          <p:nvPr/>
        </p:nvGrpSpPr>
        <p:grpSpPr>
          <a:xfrm rot="0">
            <a:off x="13443175" y="4169664"/>
            <a:ext cx="680314" cy="329184"/>
            <a:chOff x="0" y="0"/>
            <a:chExt cx="907085" cy="438912"/>
          </a:xfrm>
        </p:grpSpPr>
        <p:sp>
          <p:nvSpPr>
            <p:cNvPr name="Freeform 190" id="19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191" id="19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5FC4B0"/>
                  </a:solidFill>
                  <a:latin typeface="Arial Bold"/>
                  <a:ea typeface="Arial Bold"/>
                  <a:cs typeface="Arial Bold"/>
                  <a:sym typeface="Arial Bold"/>
                </a:rPr>
                <a:t>+0.89</a:t>
              </a:r>
            </a:p>
          </p:txBody>
        </p:sp>
      </p:grpSp>
      <p:sp>
        <p:nvSpPr>
          <p:cNvPr name="TextBox 192" id="192"/>
          <p:cNvSpPr txBox="true"/>
          <p:nvPr/>
        </p:nvSpPr>
        <p:spPr>
          <a:xfrm rot="0">
            <a:off x="11187884" y="465536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Marriage rate, women 25–29</a:t>
            </a:r>
          </a:p>
        </p:txBody>
      </p:sp>
      <p:grpSp>
        <p:nvGrpSpPr>
          <p:cNvPr name="Group 193" id="193"/>
          <p:cNvGrpSpPr/>
          <p:nvPr/>
        </p:nvGrpSpPr>
        <p:grpSpPr>
          <a:xfrm rot="0">
            <a:off x="11187884" y="5069434"/>
            <a:ext cx="2167499" cy="21946"/>
            <a:chOff x="0" y="0"/>
            <a:chExt cx="2889999" cy="29261"/>
          </a:xfrm>
        </p:grpSpPr>
        <p:sp>
          <p:nvSpPr>
            <p:cNvPr name="Freeform 194" id="19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195" id="195"/>
          <p:cNvGrpSpPr/>
          <p:nvPr/>
        </p:nvGrpSpPr>
        <p:grpSpPr>
          <a:xfrm rot="0">
            <a:off x="12263961" y="4948733"/>
            <a:ext cx="15364" cy="263347"/>
            <a:chOff x="0" y="0"/>
            <a:chExt cx="20485" cy="351130"/>
          </a:xfrm>
        </p:grpSpPr>
        <p:sp>
          <p:nvSpPr>
            <p:cNvPr name="Freeform 196" id="19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197" id="197"/>
          <p:cNvGrpSpPr/>
          <p:nvPr/>
        </p:nvGrpSpPr>
        <p:grpSpPr>
          <a:xfrm rot="0">
            <a:off x="12271639" y="4992624"/>
            <a:ext cx="801976" cy="175565"/>
            <a:chOff x="0" y="0"/>
            <a:chExt cx="1069302" cy="234086"/>
          </a:xfrm>
        </p:grpSpPr>
        <p:sp>
          <p:nvSpPr>
            <p:cNvPr name="Freeform 198" id="198"/>
            <p:cNvSpPr/>
            <p:nvPr/>
          </p:nvSpPr>
          <p:spPr>
            <a:xfrm flipH="false" flipV="false" rot="0">
              <a:off x="0" y="0"/>
              <a:ext cx="1069340" cy="234061"/>
            </a:xfrm>
            <a:custGeom>
              <a:avLst/>
              <a:gdLst/>
              <a:ahLst/>
              <a:cxnLst/>
              <a:rect r="r" b="b" t="t" l="l"/>
              <a:pathLst>
                <a:path h="234061" w="1069340">
                  <a:moveTo>
                    <a:pt x="0" y="0"/>
                  </a:moveTo>
                  <a:lnTo>
                    <a:pt x="1069340" y="0"/>
                  </a:lnTo>
                  <a:lnTo>
                    <a:pt x="1069340" y="234061"/>
                  </a:lnTo>
                  <a:lnTo>
                    <a:pt x="0" y="234061"/>
                  </a:lnTo>
                  <a:close/>
                </a:path>
              </a:pathLst>
            </a:custGeom>
            <a:solidFill>
              <a:srgbClr val="5FC4B0"/>
            </a:solidFill>
          </p:spPr>
        </p:sp>
      </p:grpSp>
      <p:grpSp>
        <p:nvGrpSpPr>
          <p:cNvPr name="Group 199" id="199"/>
          <p:cNvGrpSpPr/>
          <p:nvPr/>
        </p:nvGrpSpPr>
        <p:grpSpPr>
          <a:xfrm rot="0">
            <a:off x="13443175" y="4915814"/>
            <a:ext cx="680314" cy="329184"/>
            <a:chOff x="0" y="0"/>
            <a:chExt cx="907085" cy="438912"/>
          </a:xfrm>
        </p:grpSpPr>
        <p:sp>
          <p:nvSpPr>
            <p:cNvPr name="Freeform 200" id="20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01" id="20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5FC4B0"/>
                  </a:solidFill>
                  <a:latin typeface="Arial Bold"/>
                  <a:ea typeface="Arial Bold"/>
                  <a:cs typeface="Arial Bold"/>
                  <a:sym typeface="Arial Bold"/>
                </a:rPr>
                <a:t>+0.74</a:t>
              </a:r>
            </a:p>
          </p:txBody>
        </p:sp>
      </p:grpSp>
      <p:sp>
        <p:nvSpPr>
          <p:cNvPr name="TextBox 202" id="202"/>
          <p:cNvSpPr txBox="true"/>
          <p:nvPr/>
        </p:nvSpPr>
        <p:spPr>
          <a:xfrm rot="0">
            <a:off x="11187884" y="540151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Marriage rate, women 30–34</a:t>
            </a:r>
          </a:p>
        </p:txBody>
      </p:sp>
      <p:grpSp>
        <p:nvGrpSpPr>
          <p:cNvPr name="Group 203" id="203"/>
          <p:cNvGrpSpPr/>
          <p:nvPr/>
        </p:nvGrpSpPr>
        <p:grpSpPr>
          <a:xfrm rot="0">
            <a:off x="11187884" y="5815584"/>
            <a:ext cx="2167499" cy="21946"/>
            <a:chOff x="0" y="0"/>
            <a:chExt cx="2889999" cy="29261"/>
          </a:xfrm>
        </p:grpSpPr>
        <p:sp>
          <p:nvSpPr>
            <p:cNvPr name="Freeform 204" id="20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05" id="205"/>
          <p:cNvGrpSpPr/>
          <p:nvPr/>
        </p:nvGrpSpPr>
        <p:grpSpPr>
          <a:xfrm rot="0">
            <a:off x="12263961" y="5694883"/>
            <a:ext cx="15364" cy="263347"/>
            <a:chOff x="0" y="0"/>
            <a:chExt cx="20485" cy="351130"/>
          </a:xfrm>
        </p:grpSpPr>
        <p:sp>
          <p:nvSpPr>
            <p:cNvPr name="Freeform 206" id="20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07" id="207"/>
          <p:cNvGrpSpPr/>
          <p:nvPr/>
        </p:nvGrpSpPr>
        <p:grpSpPr>
          <a:xfrm rot="0">
            <a:off x="12249693" y="5738774"/>
            <a:ext cx="21946" cy="175565"/>
            <a:chOff x="0" y="0"/>
            <a:chExt cx="29261" cy="234086"/>
          </a:xfrm>
        </p:grpSpPr>
        <p:sp>
          <p:nvSpPr>
            <p:cNvPr name="Freeform 208" id="208"/>
            <p:cNvSpPr/>
            <p:nvPr/>
          </p:nvSpPr>
          <p:spPr>
            <a:xfrm flipH="false" flipV="false" rot="0">
              <a:off x="0" y="0"/>
              <a:ext cx="29210" cy="234061"/>
            </a:xfrm>
            <a:custGeom>
              <a:avLst/>
              <a:gdLst/>
              <a:ahLst/>
              <a:cxnLst/>
              <a:rect r="r" b="b" t="t" l="l"/>
              <a:pathLst>
                <a:path h="234061" w="29210">
                  <a:moveTo>
                    <a:pt x="0" y="0"/>
                  </a:moveTo>
                  <a:lnTo>
                    <a:pt x="29210" y="0"/>
                  </a:lnTo>
                  <a:lnTo>
                    <a:pt x="29210" y="234061"/>
                  </a:lnTo>
                  <a:lnTo>
                    <a:pt x="0" y="234061"/>
                  </a:lnTo>
                  <a:close/>
                </a:path>
              </a:pathLst>
            </a:custGeom>
            <a:solidFill>
              <a:srgbClr val="5B6478"/>
            </a:solidFill>
          </p:spPr>
        </p:sp>
      </p:grpSp>
      <p:grpSp>
        <p:nvGrpSpPr>
          <p:cNvPr name="Group 209" id="209"/>
          <p:cNvGrpSpPr/>
          <p:nvPr/>
        </p:nvGrpSpPr>
        <p:grpSpPr>
          <a:xfrm rot="0">
            <a:off x="13443175" y="5661965"/>
            <a:ext cx="680314" cy="329184"/>
            <a:chOff x="0" y="0"/>
            <a:chExt cx="907085" cy="438912"/>
          </a:xfrm>
        </p:grpSpPr>
        <p:sp>
          <p:nvSpPr>
            <p:cNvPr name="Freeform 210" id="21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11" id="211"/>
            <p:cNvSpPr txBox="true"/>
            <p:nvPr/>
          </p:nvSpPr>
          <p:spPr>
            <a:xfrm>
              <a:off x="0" y="-9525"/>
              <a:ext cx="907085" cy="448437"/>
            </a:xfrm>
            <a:prstGeom prst="rect">
              <a:avLst/>
            </a:prstGeom>
          </p:spPr>
          <p:txBody>
            <a:bodyPr anchor="ctr" rtlCol="false" tIns="0" lIns="0" bIns="0" rIns="0"/>
            <a:lstStyle/>
            <a:p>
              <a:pPr algn="r">
                <a:lnSpc>
                  <a:spcPts val="1872"/>
                </a:lnSpc>
              </a:pPr>
              <a:r>
                <a:rPr lang="en-US" sz="1560">
                  <a:solidFill>
                    <a:srgbClr val="9AA1B0"/>
                  </a:solidFill>
                  <a:latin typeface="Arial"/>
                  <a:ea typeface="Arial"/>
                  <a:cs typeface="Arial"/>
                  <a:sym typeface="Arial"/>
                </a:rPr>
                <a:t>−0.01</a:t>
              </a:r>
            </a:p>
          </p:txBody>
        </p:sp>
      </p:grpSp>
      <p:sp>
        <p:nvSpPr>
          <p:cNvPr name="TextBox 212" id="212"/>
          <p:cNvSpPr txBox="true"/>
          <p:nvPr/>
        </p:nvSpPr>
        <p:spPr>
          <a:xfrm rot="0">
            <a:off x="11187884" y="6147664"/>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Later-marriage shift index</a:t>
            </a:r>
          </a:p>
        </p:txBody>
      </p:sp>
      <p:grpSp>
        <p:nvGrpSpPr>
          <p:cNvPr name="Group 213" id="213"/>
          <p:cNvGrpSpPr/>
          <p:nvPr/>
        </p:nvGrpSpPr>
        <p:grpSpPr>
          <a:xfrm rot="0">
            <a:off x="11187884" y="6561734"/>
            <a:ext cx="2167499" cy="21946"/>
            <a:chOff x="0" y="0"/>
            <a:chExt cx="2889999" cy="29261"/>
          </a:xfrm>
        </p:grpSpPr>
        <p:sp>
          <p:nvSpPr>
            <p:cNvPr name="Freeform 214" id="21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15" id="215"/>
          <p:cNvGrpSpPr/>
          <p:nvPr/>
        </p:nvGrpSpPr>
        <p:grpSpPr>
          <a:xfrm rot="0">
            <a:off x="12263961" y="6441034"/>
            <a:ext cx="15364" cy="263347"/>
            <a:chOff x="0" y="0"/>
            <a:chExt cx="20485" cy="351130"/>
          </a:xfrm>
        </p:grpSpPr>
        <p:sp>
          <p:nvSpPr>
            <p:cNvPr name="Freeform 216" id="21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17" id="217"/>
          <p:cNvGrpSpPr/>
          <p:nvPr/>
        </p:nvGrpSpPr>
        <p:grpSpPr>
          <a:xfrm rot="0">
            <a:off x="11458823" y="6484925"/>
            <a:ext cx="812816" cy="175565"/>
            <a:chOff x="0" y="0"/>
            <a:chExt cx="1083754" cy="234086"/>
          </a:xfrm>
        </p:grpSpPr>
        <p:sp>
          <p:nvSpPr>
            <p:cNvPr name="Freeform 218" id="218"/>
            <p:cNvSpPr/>
            <p:nvPr/>
          </p:nvSpPr>
          <p:spPr>
            <a:xfrm flipH="false" flipV="false" rot="0">
              <a:off x="0" y="0"/>
              <a:ext cx="1083691" cy="234061"/>
            </a:xfrm>
            <a:custGeom>
              <a:avLst/>
              <a:gdLst/>
              <a:ahLst/>
              <a:cxnLst/>
              <a:rect r="r" b="b" t="t" l="l"/>
              <a:pathLst>
                <a:path h="234061" w="1083691">
                  <a:moveTo>
                    <a:pt x="0" y="0"/>
                  </a:moveTo>
                  <a:lnTo>
                    <a:pt x="1083691" y="0"/>
                  </a:lnTo>
                  <a:lnTo>
                    <a:pt x="1083691" y="234061"/>
                  </a:lnTo>
                  <a:lnTo>
                    <a:pt x="0" y="234061"/>
                  </a:lnTo>
                  <a:close/>
                </a:path>
              </a:pathLst>
            </a:custGeom>
            <a:solidFill>
              <a:srgbClr val="F08A5D"/>
            </a:solidFill>
          </p:spPr>
        </p:sp>
      </p:grpSp>
      <p:grpSp>
        <p:nvGrpSpPr>
          <p:cNvPr name="Group 219" id="219"/>
          <p:cNvGrpSpPr/>
          <p:nvPr/>
        </p:nvGrpSpPr>
        <p:grpSpPr>
          <a:xfrm rot="0">
            <a:off x="13443175" y="6408115"/>
            <a:ext cx="680314" cy="329184"/>
            <a:chOff x="0" y="0"/>
            <a:chExt cx="907085" cy="438912"/>
          </a:xfrm>
        </p:grpSpPr>
        <p:sp>
          <p:nvSpPr>
            <p:cNvPr name="Freeform 220" id="22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21" id="22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−0.75</a:t>
              </a:r>
            </a:p>
          </p:txBody>
        </p:sp>
      </p:grpSp>
      <p:sp>
        <p:nvSpPr>
          <p:cNvPr name="TextBox 222" id="222"/>
          <p:cNvSpPr txBox="true"/>
          <p:nvPr/>
        </p:nvSpPr>
        <p:spPr>
          <a:xfrm rot="0">
            <a:off x="11187884" y="6893814"/>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Median age at first birth</a:t>
            </a:r>
          </a:p>
        </p:txBody>
      </p:sp>
      <p:grpSp>
        <p:nvGrpSpPr>
          <p:cNvPr name="Group 223" id="223"/>
          <p:cNvGrpSpPr/>
          <p:nvPr/>
        </p:nvGrpSpPr>
        <p:grpSpPr>
          <a:xfrm rot="0">
            <a:off x="11187884" y="7307885"/>
            <a:ext cx="2167499" cy="21946"/>
            <a:chOff x="0" y="0"/>
            <a:chExt cx="2889999" cy="29261"/>
          </a:xfrm>
        </p:grpSpPr>
        <p:sp>
          <p:nvSpPr>
            <p:cNvPr name="Freeform 224" id="22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25" id="225"/>
          <p:cNvGrpSpPr/>
          <p:nvPr/>
        </p:nvGrpSpPr>
        <p:grpSpPr>
          <a:xfrm rot="0">
            <a:off x="12263961" y="7187184"/>
            <a:ext cx="15364" cy="263347"/>
            <a:chOff x="0" y="0"/>
            <a:chExt cx="20485" cy="351130"/>
          </a:xfrm>
        </p:grpSpPr>
        <p:sp>
          <p:nvSpPr>
            <p:cNvPr name="Freeform 226" id="22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27" id="227"/>
          <p:cNvGrpSpPr/>
          <p:nvPr/>
        </p:nvGrpSpPr>
        <p:grpSpPr>
          <a:xfrm rot="0">
            <a:off x="11317938" y="7231075"/>
            <a:ext cx="953700" cy="175565"/>
            <a:chOff x="0" y="0"/>
            <a:chExt cx="1271600" cy="234086"/>
          </a:xfrm>
        </p:grpSpPr>
        <p:sp>
          <p:nvSpPr>
            <p:cNvPr name="Freeform 228" id="228"/>
            <p:cNvSpPr/>
            <p:nvPr/>
          </p:nvSpPr>
          <p:spPr>
            <a:xfrm flipH="false" flipV="false" rot="0">
              <a:off x="0" y="0"/>
              <a:ext cx="1271651" cy="234061"/>
            </a:xfrm>
            <a:custGeom>
              <a:avLst/>
              <a:gdLst/>
              <a:ahLst/>
              <a:cxnLst/>
              <a:rect r="r" b="b" t="t" l="l"/>
              <a:pathLst>
                <a:path h="234061" w="1271651">
                  <a:moveTo>
                    <a:pt x="0" y="0"/>
                  </a:moveTo>
                  <a:lnTo>
                    <a:pt x="1271651" y="0"/>
                  </a:lnTo>
                  <a:lnTo>
                    <a:pt x="1271651" y="234061"/>
                  </a:lnTo>
                  <a:lnTo>
                    <a:pt x="0" y="234061"/>
                  </a:lnTo>
                  <a:close/>
                </a:path>
              </a:pathLst>
            </a:custGeom>
            <a:solidFill>
              <a:srgbClr val="F08A5D"/>
            </a:solidFill>
          </p:spPr>
        </p:sp>
      </p:grpSp>
      <p:grpSp>
        <p:nvGrpSpPr>
          <p:cNvPr name="Group 229" id="229"/>
          <p:cNvGrpSpPr/>
          <p:nvPr/>
        </p:nvGrpSpPr>
        <p:grpSpPr>
          <a:xfrm rot="0">
            <a:off x="13443175" y="7154266"/>
            <a:ext cx="680314" cy="329184"/>
            <a:chOff x="0" y="0"/>
            <a:chExt cx="907085" cy="438912"/>
          </a:xfrm>
        </p:grpSpPr>
        <p:sp>
          <p:nvSpPr>
            <p:cNvPr name="Freeform 230" id="23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31" id="23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−0.88</a:t>
              </a:r>
            </a:p>
          </p:txBody>
        </p:sp>
      </p:grpSp>
      <p:grpSp>
        <p:nvGrpSpPr>
          <p:cNvPr name="Group 232" id="232"/>
          <p:cNvGrpSpPr/>
          <p:nvPr/>
        </p:nvGrpSpPr>
        <p:grpSpPr>
          <a:xfrm rot="0">
            <a:off x="14397809" y="3138221"/>
            <a:ext cx="3209915" cy="4630522"/>
            <a:chOff x="0" y="0"/>
            <a:chExt cx="4279887" cy="6174029"/>
          </a:xfrm>
        </p:grpSpPr>
        <p:sp>
          <p:nvSpPr>
            <p:cNvPr name="Freeform 233" id="233"/>
            <p:cNvSpPr/>
            <p:nvPr/>
          </p:nvSpPr>
          <p:spPr>
            <a:xfrm flipH="false" flipV="false" rot="0">
              <a:off x="0" y="0"/>
              <a:ext cx="4279900" cy="6173978"/>
            </a:xfrm>
            <a:custGeom>
              <a:avLst/>
              <a:gdLst/>
              <a:ahLst/>
              <a:cxnLst/>
              <a:rect r="r" b="b" t="t" l="l"/>
              <a:pathLst>
                <a:path h="6173978" w="4279900">
                  <a:moveTo>
                    <a:pt x="0" y="171196"/>
                  </a:moveTo>
                  <a:cubicBezTo>
                    <a:pt x="0" y="76708"/>
                    <a:pt x="76708" y="0"/>
                    <a:pt x="171196" y="0"/>
                  </a:cubicBezTo>
                  <a:lnTo>
                    <a:pt x="4108704" y="0"/>
                  </a:lnTo>
                  <a:cubicBezTo>
                    <a:pt x="4203192" y="0"/>
                    <a:pt x="4279900" y="76708"/>
                    <a:pt x="4279900" y="171196"/>
                  </a:cubicBezTo>
                  <a:lnTo>
                    <a:pt x="4279900" y="6002782"/>
                  </a:lnTo>
                  <a:cubicBezTo>
                    <a:pt x="4279900" y="6097270"/>
                    <a:pt x="4203192" y="6173978"/>
                    <a:pt x="4108704" y="6173978"/>
                  </a:cubicBezTo>
                  <a:lnTo>
                    <a:pt x="171196" y="6173978"/>
                  </a:lnTo>
                  <a:cubicBezTo>
                    <a:pt x="76708" y="6173978"/>
                    <a:pt x="0" y="6097397"/>
                    <a:pt x="0" y="6002782"/>
                  </a:cubicBezTo>
                  <a:close/>
                </a:path>
              </a:pathLst>
            </a:custGeom>
            <a:solidFill>
              <a:srgbClr val="262F42"/>
            </a:solidFill>
          </p:spPr>
        </p:sp>
      </p:grpSp>
      <p:grpSp>
        <p:nvGrpSpPr>
          <p:cNvPr name="Group 234" id="234"/>
          <p:cNvGrpSpPr/>
          <p:nvPr/>
        </p:nvGrpSpPr>
        <p:grpSpPr>
          <a:xfrm rot="0">
            <a:off x="14617265" y="3357677"/>
            <a:ext cx="54864" cy="329184"/>
            <a:chOff x="0" y="0"/>
            <a:chExt cx="73152" cy="438912"/>
          </a:xfrm>
        </p:grpSpPr>
        <p:sp>
          <p:nvSpPr>
            <p:cNvPr name="Freeform 235" id="235"/>
            <p:cNvSpPr/>
            <p:nvPr/>
          </p:nvSpPr>
          <p:spPr>
            <a:xfrm flipH="false" flipV="false" rot="0">
              <a:off x="0" y="0"/>
              <a:ext cx="73152" cy="438912"/>
            </a:xfrm>
            <a:custGeom>
              <a:avLst/>
              <a:gdLst/>
              <a:ahLst/>
              <a:cxnLst/>
              <a:rect r="r" b="b" t="t" l="l"/>
              <a:pathLst>
                <a:path h="438912" w="73152">
                  <a:moveTo>
                    <a:pt x="0" y="0"/>
                  </a:moveTo>
                  <a:lnTo>
                    <a:pt x="73152" y="0"/>
                  </a:lnTo>
                  <a:lnTo>
                    <a:pt x="73152" y="438912"/>
                  </a:lnTo>
                  <a:lnTo>
                    <a:pt x="0" y="438912"/>
                  </a:lnTo>
                  <a:close/>
                </a:path>
              </a:pathLst>
            </a:custGeom>
            <a:solidFill>
              <a:srgbClr val="F08A5D"/>
            </a:solidFill>
          </p:spPr>
        </p:sp>
      </p:grpSp>
      <p:grpSp>
        <p:nvGrpSpPr>
          <p:cNvPr name="Group 236" id="236"/>
          <p:cNvGrpSpPr/>
          <p:nvPr/>
        </p:nvGrpSpPr>
        <p:grpSpPr>
          <a:xfrm rot="0">
            <a:off x="14770884" y="3324758"/>
            <a:ext cx="2661275" cy="395021"/>
            <a:chOff x="0" y="0"/>
            <a:chExt cx="3548367" cy="526694"/>
          </a:xfrm>
        </p:grpSpPr>
        <p:sp>
          <p:nvSpPr>
            <p:cNvPr name="Freeform 237" id="237"/>
            <p:cNvSpPr/>
            <p:nvPr/>
          </p:nvSpPr>
          <p:spPr>
            <a:xfrm flipH="false" flipV="false" rot="0">
              <a:off x="0" y="0"/>
              <a:ext cx="3548368" cy="526694"/>
            </a:xfrm>
            <a:custGeom>
              <a:avLst/>
              <a:gdLst/>
              <a:ahLst/>
              <a:cxnLst/>
              <a:rect r="r" b="b" t="t" l="l"/>
              <a:pathLst>
                <a:path h="526694" w="3548368">
                  <a:moveTo>
                    <a:pt x="0" y="0"/>
                  </a:moveTo>
                  <a:lnTo>
                    <a:pt x="3548368" y="0"/>
                  </a:lnTo>
                  <a:lnTo>
                    <a:pt x="3548368" y="526694"/>
                  </a:lnTo>
                  <a:lnTo>
                    <a:pt x="0" y="526694"/>
                  </a:lnTo>
                  <a:close/>
                </a:path>
              </a:pathLst>
            </a:custGeom>
            <a:blipFill>
              <a:blip r:embed="rId5">
                <a:alphaModFix amt="0"/>
              </a:blip>
              <a:stretch>
                <a:fillRect l="0" t="-81271" r="0" b="-81271"/>
              </a:stretch>
            </a:blipFill>
          </p:spPr>
        </p:sp>
        <p:sp>
          <p:nvSpPr>
            <p:cNvPr name="TextBox 238" id="238"/>
            <p:cNvSpPr txBox="true"/>
            <p:nvPr/>
          </p:nvSpPr>
          <p:spPr>
            <a:xfrm>
              <a:off x="0" y="-19050"/>
              <a:ext cx="3548367" cy="545744"/>
            </a:xfrm>
            <a:prstGeom prst="rect">
              <a:avLst/>
            </a:prstGeom>
          </p:spPr>
          <p:txBody>
            <a:bodyPr anchor="ctr" rtlCol="false" tIns="0" lIns="0" bIns="0" rIns="0"/>
            <a:lstStyle/>
            <a:p>
              <a:pPr algn="l">
                <a:lnSpc>
                  <a:spcPts val="2304"/>
                </a:lnSpc>
              </a:pPr>
              <a:r>
                <a:rPr lang="en-US" sz="1920" b="true">
                  <a:solidFill>
                    <a:srgbClr val="F3F1EA"/>
                  </a:solidFill>
                  <a:latin typeface="Arial Bold"/>
                  <a:ea typeface="Arial Bold"/>
                  <a:cs typeface="Arial Bold"/>
                  <a:sym typeface="Arial Bold"/>
                </a:rPr>
                <a:t>Education</a:t>
              </a:r>
            </a:p>
          </p:txBody>
        </p:sp>
      </p:grpSp>
      <p:grpSp>
        <p:nvGrpSpPr>
          <p:cNvPr name="Group 239" id="239"/>
          <p:cNvGrpSpPr/>
          <p:nvPr/>
        </p:nvGrpSpPr>
        <p:grpSpPr>
          <a:xfrm rot="0">
            <a:off x="16510445" y="3357677"/>
            <a:ext cx="877824" cy="329184"/>
            <a:chOff x="0" y="0"/>
            <a:chExt cx="1170432" cy="438912"/>
          </a:xfrm>
        </p:grpSpPr>
        <p:sp>
          <p:nvSpPr>
            <p:cNvPr name="Freeform 240" id="240"/>
            <p:cNvSpPr/>
            <p:nvPr/>
          </p:nvSpPr>
          <p:spPr>
            <a:xfrm flipH="false" flipV="false" rot="0">
              <a:off x="0" y="0"/>
              <a:ext cx="1170432" cy="438912"/>
            </a:xfrm>
            <a:custGeom>
              <a:avLst/>
              <a:gdLst/>
              <a:ahLst/>
              <a:cxnLst/>
              <a:rect r="r" b="b" t="t" l="l"/>
              <a:pathLst>
                <a:path h="438912" w="1170432">
                  <a:moveTo>
                    <a:pt x="0" y="0"/>
                  </a:moveTo>
                  <a:lnTo>
                    <a:pt x="1170432" y="0"/>
                  </a:lnTo>
                  <a:lnTo>
                    <a:pt x="1170432" y="438912"/>
                  </a:lnTo>
                  <a:lnTo>
                    <a:pt x="0" y="438912"/>
                  </a:lnTo>
                  <a:close/>
                </a:path>
              </a:pathLst>
            </a:custGeom>
            <a:blipFill>
              <a:blip r:embed="rId5">
                <a:alphaModFix amt="0"/>
              </a:blip>
              <a:stretch>
                <a:fillRect l="0" t="-1960" r="0" b="-1960"/>
              </a:stretch>
            </a:blipFill>
          </p:spPr>
        </p:sp>
        <p:sp>
          <p:nvSpPr>
            <p:cNvPr name="TextBox 241" id="241"/>
            <p:cNvSpPr txBox="true"/>
            <p:nvPr/>
          </p:nvSpPr>
          <p:spPr>
            <a:xfrm>
              <a:off x="0" y="-19050"/>
              <a:ext cx="1170432" cy="457962"/>
            </a:xfrm>
            <a:prstGeom prst="rect">
              <a:avLst/>
            </a:prstGeom>
          </p:spPr>
          <p:txBody>
            <a:bodyPr anchor="ctr" rtlCol="false" tIns="0" lIns="0" bIns="0" rIns="0"/>
            <a:lstStyle/>
            <a:p>
              <a:pPr algn="r">
                <a:lnSpc>
                  <a:spcPts val="1439"/>
                </a:lnSpc>
              </a:pPr>
              <a:r>
                <a:rPr lang="en-US" sz="1200">
                  <a:solidFill>
                    <a:srgbClr val="9AA1B0"/>
                  </a:solidFill>
                  <a:latin typeface="Arial"/>
                  <a:ea typeface="Arial"/>
                  <a:cs typeface="Arial"/>
                  <a:sym typeface="Arial"/>
                </a:rPr>
                <a:t>3 factors</a:t>
              </a:r>
            </a:p>
          </p:txBody>
        </p:sp>
      </p:grpSp>
      <p:sp>
        <p:nvSpPr>
          <p:cNvPr name="TextBox 242" id="242"/>
          <p:cNvSpPr txBox="true"/>
          <p:nvPr/>
        </p:nvSpPr>
        <p:spPr>
          <a:xfrm rot="0">
            <a:off x="14617265" y="3909212"/>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Tuition &amp; course prices</a:t>
            </a:r>
          </a:p>
        </p:txBody>
      </p:sp>
      <p:grpSp>
        <p:nvGrpSpPr>
          <p:cNvPr name="Group 243" id="243"/>
          <p:cNvGrpSpPr/>
          <p:nvPr/>
        </p:nvGrpSpPr>
        <p:grpSpPr>
          <a:xfrm rot="0">
            <a:off x="14617265" y="4323283"/>
            <a:ext cx="2167499" cy="21946"/>
            <a:chOff x="0" y="0"/>
            <a:chExt cx="2889999" cy="29261"/>
          </a:xfrm>
        </p:grpSpPr>
        <p:sp>
          <p:nvSpPr>
            <p:cNvPr name="Freeform 244" id="24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45" id="245"/>
          <p:cNvGrpSpPr/>
          <p:nvPr/>
        </p:nvGrpSpPr>
        <p:grpSpPr>
          <a:xfrm rot="0">
            <a:off x="15693333" y="4202582"/>
            <a:ext cx="15364" cy="263347"/>
            <a:chOff x="0" y="0"/>
            <a:chExt cx="20485" cy="351130"/>
          </a:xfrm>
        </p:grpSpPr>
        <p:sp>
          <p:nvSpPr>
            <p:cNvPr name="Freeform 246" id="24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47" id="247"/>
          <p:cNvGrpSpPr/>
          <p:nvPr/>
        </p:nvGrpSpPr>
        <p:grpSpPr>
          <a:xfrm rot="0">
            <a:off x="14736470" y="4246474"/>
            <a:ext cx="964540" cy="175565"/>
            <a:chOff x="0" y="0"/>
            <a:chExt cx="1286053" cy="234086"/>
          </a:xfrm>
        </p:grpSpPr>
        <p:sp>
          <p:nvSpPr>
            <p:cNvPr name="Freeform 248" id="248"/>
            <p:cNvSpPr/>
            <p:nvPr/>
          </p:nvSpPr>
          <p:spPr>
            <a:xfrm flipH="false" flipV="false" rot="0">
              <a:off x="0" y="0"/>
              <a:ext cx="1286002" cy="234061"/>
            </a:xfrm>
            <a:custGeom>
              <a:avLst/>
              <a:gdLst/>
              <a:ahLst/>
              <a:cxnLst/>
              <a:rect r="r" b="b" t="t" l="l"/>
              <a:pathLst>
                <a:path h="234061" w="1286002">
                  <a:moveTo>
                    <a:pt x="0" y="0"/>
                  </a:moveTo>
                  <a:lnTo>
                    <a:pt x="1286002" y="0"/>
                  </a:lnTo>
                  <a:lnTo>
                    <a:pt x="1286002" y="234061"/>
                  </a:lnTo>
                  <a:lnTo>
                    <a:pt x="0" y="234061"/>
                  </a:lnTo>
                  <a:close/>
                </a:path>
              </a:pathLst>
            </a:custGeom>
            <a:solidFill>
              <a:srgbClr val="F08A5D"/>
            </a:solidFill>
          </p:spPr>
        </p:sp>
      </p:grpSp>
      <p:grpSp>
        <p:nvGrpSpPr>
          <p:cNvPr name="Group 249" id="249"/>
          <p:cNvGrpSpPr/>
          <p:nvPr/>
        </p:nvGrpSpPr>
        <p:grpSpPr>
          <a:xfrm rot="0">
            <a:off x="16872547" y="4169664"/>
            <a:ext cx="680314" cy="329184"/>
            <a:chOff x="0" y="0"/>
            <a:chExt cx="907085" cy="438912"/>
          </a:xfrm>
        </p:grpSpPr>
        <p:sp>
          <p:nvSpPr>
            <p:cNvPr name="Freeform 250" id="25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51" id="25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−0.89</a:t>
              </a:r>
            </a:p>
          </p:txBody>
        </p:sp>
      </p:grpSp>
      <p:sp>
        <p:nvSpPr>
          <p:cNvPr name="TextBox 252" id="252"/>
          <p:cNvSpPr txBox="true"/>
          <p:nvPr/>
        </p:nvSpPr>
        <p:spPr>
          <a:xfrm rot="0">
            <a:off x="14617265" y="465536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General education prices</a:t>
            </a:r>
          </a:p>
        </p:txBody>
      </p:sp>
      <p:grpSp>
        <p:nvGrpSpPr>
          <p:cNvPr name="Group 253" id="253"/>
          <p:cNvGrpSpPr/>
          <p:nvPr/>
        </p:nvGrpSpPr>
        <p:grpSpPr>
          <a:xfrm rot="0">
            <a:off x="14617265" y="5069434"/>
            <a:ext cx="2167499" cy="21946"/>
            <a:chOff x="0" y="0"/>
            <a:chExt cx="2889999" cy="29261"/>
          </a:xfrm>
        </p:grpSpPr>
        <p:sp>
          <p:nvSpPr>
            <p:cNvPr name="Freeform 254" id="25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55" id="255"/>
          <p:cNvGrpSpPr/>
          <p:nvPr/>
        </p:nvGrpSpPr>
        <p:grpSpPr>
          <a:xfrm rot="0">
            <a:off x="15693333" y="4948733"/>
            <a:ext cx="15364" cy="263347"/>
            <a:chOff x="0" y="0"/>
            <a:chExt cx="20485" cy="351130"/>
          </a:xfrm>
        </p:grpSpPr>
        <p:sp>
          <p:nvSpPr>
            <p:cNvPr name="Freeform 256" id="25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57" id="257"/>
          <p:cNvGrpSpPr/>
          <p:nvPr/>
        </p:nvGrpSpPr>
        <p:grpSpPr>
          <a:xfrm rot="0">
            <a:off x="14931552" y="4992624"/>
            <a:ext cx="769458" cy="175565"/>
            <a:chOff x="0" y="0"/>
            <a:chExt cx="1025944" cy="234086"/>
          </a:xfrm>
        </p:grpSpPr>
        <p:sp>
          <p:nvSpPr>
            <p:cNvPr name="Freeform 258" id="258"/>
            <p:cNvSpPr/>
            <p:nvPr/>
          </p:nvSpPr>
          <p:spPr>
            <a:xfrm flipH="false" flipV="false" rot="0">
              <a:off x="0" y="0"/>
              <a:ext cx="1025906" cy="234061"/>
            </a:xfrm>
            <a:custGeom>
              <a:avLst/>
              <a:gdLst/>
              <a:ahLst/>
              <a:cxnLst/>
              <a:rect r="r" b="b" t="t" l="l"/>
              <a:pathLst>
                <a:path h="234061" w="1025906">
                  <a:moveTo>
                    <a:pt x="0" y="0"/>
                  </a:moveTo>
                  <a:lnTo>
                    <a:pt x="1025906" y="0"/>
                  </a:lnTo>
                  <a:lnTo>
                    <a:pt x="1025906" y="234061"/>
                  </a:lnTo>
                  <a:lnTo>
                    <a:pt x="0" y="234061"/>
                  </a:lnTo>
                  <a:close/>
                </a:path>
              </a:pathLst>
            </a:custGeom>
            <a:solidFill>
              <a:srgbClr val="F08A5D"/>
            </a:solidFill>
          </p:spPr>
        </p:sp>
      </p:grpSp>
      <p:grpSp>
        <p:nvGrpSpPr>
          <p:cNvPr name="Group 259" id="259"/>
          <p:cNvGrpSpPr/>
          <p:nvPr/>
        </p:nvGrpSpPr>
        <p:grpSpPr>
          <a:xfrm rot="0">
            <a:off x="16872547" y="4915814"/>
            <a:ext cx="680314" cy="329184"/>
            <a:chOff x="0" y="0"/>
            <a:chExt cx="907085" cy="438912"/>
          </a:xfrm>
        </p:grpSpPr>
        <p:sp>
          <p:nvSpPr>
            <p:cNvPr name="Freeform 260" id="26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61" id="26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−0.71</a:t>
              </a:r>
            </a:p>
          </p:txBody>
        </p:sp>
      </p:grpSp>
      <p:sp>
        <p:nvSpPr>
          <p:cNvPr name="TextBox 262" id="262"/>
          <p:cNvSpPr txBox="true"/>
          <p:nvPr/>
        </p:nvSpPr>
        <p:spPr>
          <a:xfrm rot="0">
            <a:off x="14617265" y="5401513"/>
            <a:ext cx="2771003" cy="282397"/>
          </a:xfrm>
          <a:prstGeom prst="rect">
            <a:avLst/>
          </a:prstGeom>
        </p:spPr>
        <p:txBody>
          <a:bodyPr anchor="t" rtlCol="false" tIns="0" lIns="0" bIns="0" rIns="0">
            <a:spAutoFit/>
          </a:bodyPr>
          <a:lstStyle/>
          <a:p>
            <a:pPr algn="l">
              <a:lnSpc>
                <a:spcPts val="1584"/>
              </a:lnSpc>
            </a:pPr>
            <a:r>
              <a:rPr lang="en-US" sz="1320">
                <a:solidFill>
                  <a:srgbClr val="C4C8D2"/>
                </a:solidFill>
                <a:latin typeface="Arial"/>
                <a:ea typeface="Arial"/>
                <a:cs typeface="Arial"/>
                <a:sym typeface="Arial"/>
              </a:rPr>
              <a:t>Textbook prices</a:t>
            </a:r>
          </a:p>
        </p:txBody>
      </p:sp>
      <p:grpSp>
        <p:nvGrpSpPr>
          <p:cNvPr name="Group 263" id="263"/>
          <p:cNvGrpSpPr/>
          <p:nvPr/>
        </p:nvGrpSpPr>
        <p:grpSpPr>
          <a:xfrm rot="0">
            <a:off x="14617265" y="5815584"/>
            <a:ext cx="2167499" cy="21946"/>
            <a:chOff x="0" y="0"/>
            <a:chExt cx="2889999" cy="29261"/>
          </a:xfrm>
        </p:grpSpPr>
        <p:sp>
          <p:nvSpPr>
            <p:cNvPr name="Freeform 264" id="264"/>
            <p:cNvSpPr/>
            <p:nvPr/>
          </p:nvSpPr>
          <p:spPr>
            <a:xfrm flipH="false" flipV="false" rot="0">
              <a:off x="0" y="0"/>
              <a:ext cx="2890012" cy="29210"/>
            </a:xfrm>
            <a:custGeom>
              <a:avLst/>
              <a:gdLst/>
              <a:ahLst/>
              <a:cxnLst/>
              <a:rect r="r" b="b" t="t" l="l"/>
              <a:pathLst>
                <a:path h="29210" w="2890012">
                  <a:moveTo>
                    <a:pt x="0" y="0"/>
                  </a:moveTo>
                  <a:lnTo>
                    <a:pt x="2890012" y="0"/>
                  </a:lnTo>
                  <a:lnTo>
                    <a:pt x="2890012" y="29210"/>
                  </a:lnTo>
                  <a:lnTo>
                    <a:pt x="0" y="29210"/>
                  </a:lnTo>
                  <a:close/>
                </a:path>
              </a:pathLst>
            </a:custGeom>
            <a:solidFill>
              <a:srgbClr val="384257"/>
            </a:solidFill>
          </p:spPr>
        </p:sp>
      </p:grpSp>
      <p:grpSp>
        <p:nvGrpSpPr>
          <p:cNvPr name="Group 265" id="265"/>
          <p:cNvGrpSpPr/>
          <p:nvPr/>
        </p:nvGrpSpPr>
        <p:grpSpPr>
          <a:xfrm rot="0">
            <a:off x="15693333" y="5694883"/>
            <a:ext cx="15364" cy="263347"/>
            <a:chOff x="0" y="0"/>
            <a:chExt cx="20485" cy="351130"/>
          </a:xfrm>
        </p:grpSpPr>
        <p:sp>
          <p:nvSpPr>
            <p:cNvPr name="Freeform 266" id="266"/>
            <p:cNvSpPr/>
            <p:nvPr/>
          </p:nvSpPr>
          <p:spPr>
            <a:xfrm flipH="false" flipV="false" rot="0">
              <a:off x="0" y="0"/>
              <a:ext cx="20447" cy="351155"/>
            </a:xfrm>
            <a:custGeom>
              <a:avLst/>
              <a:gdLst/>
              <a:ahLst/>
              <a:cxnLst/>
              <a:rect r="r" b="b" t="t" l="l"/>
              <a:pathLst>
                <a:path h="351155" w="20447">
                  <a:moveTo>
                    <a:pt x="0" y="0"/>
                  </a:moveTo>
                  <a:lnTo>
                    <a:pt x="20447" y="0"/>
                  </a:lnTo>
                  <a:lnTo>
                    <a:pt x="20447" y="351155"/>
                  </a:lnTo>
                  <a:lnTo>
                    <a:pt x="0" y="351155"/>
                  </a:lnTo>
                  <a:close/>
                </a:path>
              </a:pathLst>
            </a:custGeom>
            <a:solidFill>
              <a:srgbClr val="9AA1B0"/>
            </a:solidFill>
          </p:spPr>
        </p:sp>
      </p:grpSp>
      <p:grpSp>
        <p:nvGrpSpPr>
          <p:cNvPr name="Group 267" id="267"/>
          <p:cNvGrpSpPr/>
          <p:nvPr/>
        </p:nvGrpSpPr>
        <p:grpSpPr>
          <a:xfrm rot="0">
            <a:off x="14942391" y="5738774"/>
            <a:ext cx="758628" cy="175565"/>
            <a:chOff x="0" y="0"/>
            <a:chExt cx="1011504" cy="234086"/>
          </a:xfrm>
        </p:grpSpPr>
        <p:sp>
          <p:nvSpPr>
            <p:cNvPr name="Freeform 268" id="268"/>
            <p:cNvSpPr/>
            <p:nvPr/>
          </p:nvSpPr>
          <p:spPr>
            <a:xfrm flipH="false" flipV="false" rot="0">
              <a:off x="0" y="0"/>
              <a:ext cx="1011555" cy="234061"/>
            </a:xfrm>
            <a:custGeom>
              <a:avLst/>
              <a:gdLst/>
              <a:ahLst/>
              <a:cxnLst/>
              <a:rect r="r" b="b" t="t" l="l"/>
              <a:pathLst>
                <a:path h="234061" w="1011555">
                  <a:moveTo>
                    <a:pt x="0" y="0"/>
                  </a:moveTo>
                  <a:lnTo>
                    <a:pt x="1011555" y="0"/>
                  </a:lnTo>
                  <a:lnTo>
                    <a:pt x="1011555" y="234061"/>
                  </a:lnTo>
                  <a:lnTo>
                    <a:pt x="0" y="234061"/>
                  </a:lnTo>
                  <a:close/>
                </a:path>
              </a:pathLst>
            </a:custGeom>
            <a:solidFill>
              <a:srgbClr val="F08A5D"/>
            </a:solidFill>
          </p:spPr>
        </p:sp>
      </p:grpSp>
      <p:grpSp>
        <p:nvGrpSpPr>
          <p:cNvPr name="Group 269" id="269"/>
          <p:cNvGrpSpPr/>
          <p:nvPr/>
        </p:nvGrpSpPr>
        <p:grpSpPr>
          <a:xfrm rot="0">
            <a:off x="16872547" y="5661965"/>
            <a:ext cx="680314" cy="329184"/>
            <a:chOff x="0" y="0"/>
            <a:chExt cx="907085" cy="438912"/>
          </a:xfrm>
        </p:grpSpPr>
        <p:sp>
          <p:nvSpPr>
            <p:cNvPr name="Freeform 270" id="270"/>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71" id="271"/>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F08A5D"/>
                  </a:solidFill>
                  <a:latin typeface="Arial Bold"/>
                  <a:ea typeface="Arial Bold"/>
                  <a:cs typeface="Arial Bold"/>
                  <a:sym typeface="Arial Bold"/>
                </a:rPr>
                <a:t>−0.70</a:t>
              </a:r>
            </a:p>
          </p:txBody>
        </p:sp>
      </p:grpSp>
      <p:grpSp>
        <p:nvGrpSpPr>
          <p:cNvPr name="Group 272" id="272"/>
          <p:cNvGrpSpPr/>
          <p:nvPr/>
        </p:nvGrpSpPr>
        <p:grpSpPr>
          <a:xfrm rot="0">
            <a:off x="680314" y="8097926"/>
            <a:ext cx="5496163" cy="1228954"/>
            <a:chOff x="0" y="0"/>
            <a:chExt cx="7328218" cy="1638605"/>
          </a:xfrm>
        </p:grpSpPr>
        <p:sp>
          <p:nvSpPr>
            <p:cNvPr name="Freeform 273" id="273"/>
            <p:cNvSpPr/>
            <p:nvPr/>
          </p:nvSpPr>
          <p:spPr>
            <a:xfrm flipH="false" flipV="false" rot="0">
              <a:off x="0" y="0"/>
              <a:ext cx="7328154" cy="1638554"/>
            </a:xfrm>
            <a:custGeom>
              <a:avLst/>
              <a:gdLst/>
              <a:ahLst/>
              <a:cxnLst/>
              <a:rect r="r" b="b" t="t" l="l"/>
              <a:pathLst>
                <a:path h="1638554" w="7328154">
                  <a:moveTo>
                    <a:pt x="0" y="131064"/>
                  </a:moveTo>
                  <a:cubicBezTo>
                    <a:pt x="0" y="58674"/>
                    <a:pt x="58674" y="0"/>
                    <a:pt x="131064" y="0"/>
                  </a:cubicBezTo>
                  <a:lnTo>
                    <a:pt x="7197090" y="0"/>
                  </a:lnTo>
                  <a:cubicBezTo>
                    <a:pt x="7269480" y="0"/>
                    <a:pt x="7328154" y="58674"/>
                    <a:pt x="7328154" y="131064"/>
                  </a:cubicBezTo>
                  <a:lnTo>
                    <a:pt x="7328154" y="1507490"/>
                  </a:lnTo>
                  <a:cubicBezTo>
                    <a:pt x="7328154" y="1579880"/>
                    <a:pt x="7269480" y="1638554"/>
                    <a:pt x="7197090" y="1638554"/>
                  </a:cubicBezTo>
                  <a:lnTo>
                    <a:pt x="131064" y="1638554"/>
                  </a:lnTo>
                  <a:cubicBezTo>
                    <a:pt x="58674" y="1638554"/>
                    <a:pt x="0" y="1579880"/>
                    <a:pt x="0" y="1507490"/>
                  </a:cubicBezTo>
                  <a:close/>
                </a:path>
              </a:pathLst>
            </a:custGeom>
            <a:solidFill>
              <a:srgbClr val="262F42"/>
            </a:solidFill>
          </p:spPr>
        </p:sp>
      </p:grpSp>
      <p:sp>
        <p:nvSpPr>
          <p:cNvPr name="TextBox 274" id="274"/>
          <p:cNvSpPr txBox="true"/>
          <p:nvPr/>
        </p:nvSpPr>
        <p:spPr>
          <a:xfrm rot="0">
            <a:off x="943661" y="8265414"/>
            <a:ext cx="5057251" cy="348234"/>
          </a:xfrm>
          <a:prstGeom prst="rect">
            <a:avLst/>
          </a:prstGeom>
        </p:spPr>
        <p:txBody>
          <a:bodyPr anchor="t" rtlCol="false" tIns="0" lIns="0" bIns="0" rIns="0">
            <a:spAutoFit/>
          </a:bodyPr>
          <a:lstStyle/>
          <a:p>
            <a:pPr algn="l">
              <a:lnSpc>
                <a:spcPts val="2088"/>
              </a:lnSpc>
            </a:pPr>
            <a:r>
              <a:rPr lang="en-US" sz="1739" b="true">
                <a:solidFill>
                  <a:srgbClr val="F08A5D"/>
                </a:solidFill>
                <a:latin typeface="Arial Bold"/>
                <a:ea typeface="Arial Bold"/>
                <a:cs typeface="Arial Bold"/>
                <a:sym typeface="Arial Bold"/>
              </a:rPr>
              <a:t>01  </a:t>
            </a:r>
            <a:r>
              <a:rPr lang="en-US" sz="1739" b="true">
                <a:solidFill>
                  <a:srgbClr val="F3F1EA"/>
                </a:solidFill>
                <a:latin typeface="Arial Bold"/>
                <a:ea typeface="Arial Bold"/>
                <a:cs typeface="Arial Bold"/>
                <a:sym typeface="Arial Bold"/>
              </a:rPr>
              <a:t>Rising costs</a:t>
            </a:r>
          </a:p>
        </p:txBody>
      </p:sp>
      <p:sp>
        <p:nvSpPr>
          <p:cNvPr name="TextBox 275" id="275"/>
          <p:cNvSpPr txBox="true"/>
          <p:nvPr/>
        </p:nvSpPr>
        <p:spPr>
          <a:xfrm rot="0">
            <a:off x="943661" y="8682380"/>
            <a:ext cx="5002387" cy="476250"/>
          </a:xfrm>
          <a:prstGeom prst="rect">
            <a:avLst/>
          </a:prstGeom>
        </p:spPr>
        <p:txBody>
          <a:bodyPr anchor="t" rtlCol="false" tIns="0" lIns="0" bIns="0" rIns="0">
            <a:spAutoFit/>
          </a:bodyPr>
          <a:lstStyle/>
          <a:p>
            <a:pPr algn="l">
              <a:lnSpc>
                <a:spcPts val="1800"/>
              </a:lnSpc>
            </a:pPr>
            <a:r>
              <a:rPr lang="en-US" sz="1500">
                <a:solidFill>
                  <a:srgbClr val="C4C8D2"/>
                </a:solidFill>
                <a:latin typeface="Arial"/>
                <a:ea typeface="Arial"/>
                <a:cs typeface="Arial"/>
                <a:sym typeface="Arial"/>
              </a:rPr>
              <a:t>All metrics under </a:t>
            </a:r>
            <a:r>
              <a:rPr lang="en-US" sz="1500">
                <a:solidFill>
                  <a:srgbClr val="C4C8D2"/>
                </a:solidFill>
                <a:latin typeface="Arial"/>
                <a:ea typeface="Arial"/>
                <a:cs typeface="Arial"/>
                <a:sym typeface="Arial"/>
              </a:rPr>
              <a:t>Healthcare, Housing and Education prices move opposite to TFR (r −0.70 to −0.90).</a:t>
            </a:r>
          </a:p>
        </p:txBody>
      </p:sp>
      <p:grpSp>
        <p:nvGrpSpPr>
          <p:cNvPr name="Group 276" id="276"/>
          <p:cNvGrpSpPr/>
          <p:nvPr/>
        </p:nvGrpSpPr>
        <p:grpSpPr>
          <a:xfrm rot="0">
            <a:off x="6395933" y="8097926"/>
            <a:ext cx="5496163" cy="1228954"/>
            <a:chOff x="0" y="0"/>
            <a:chExt cx="7328218" cy="1638605"/>
          </a:xfrm>
        </p:grpSpPr>
        <p:sp>
          <p:nvSpPr>
            <p:cNvPr name="Freeform 277" id="277"/>
            <p:cNvSpPr/>
            <p:nvPr/>
          </p:nvSpPr>
          <p:spPr>
            <a:xfrm flipH="false" flipV="false" rot="0">
              <a:off x="0" y="0"/>
              <a:ext cx="7328154" cy="1638554"/>
            </a:xfrm>
            <a:custGeom>
              <a:avLst/>
              <a:gdLst/>
              <a:ahLst/>
              <a:cxnLst/>
              <a:rect r="r" b="b" t="t" l="l"/>
              <a:pathLst>
                <a:path h="1638554" w="7328154">
                  <a:moveTo>
                    <a:pt x="0" y="131064"/>
                  </a:moveTo>
                  <a:cubicBezTo>
                    <a:pt x="0" y="58674"/>
                    <a:pt x="58674" y="0"/>
                    <a:pt x="131064" y="0"/>
                  </a:cubicBezTo>
                  <a:lnTo>
                    <a:pt x="7197090" y="0"/>
                  </a:lnTo>
                  <a:cubicBezTo>
                    <a:pt x="7269480" y="0"/>
                    <a:pt x="7328154" y="58674"/>
                    <a:pt x="7328154" y="131064"/>
                  </a:cubicBezTo>
                  <a:lnTo>
                    <a:pt x="7328154" y="1507490"/>
                  </a:lnTo>
                  <a:cubicBezTo>
                    <a:pt x="7328154" y="1579880"/>
                    <a:pt x="7269480" y="1638554"/>
                    <a:pt x="7197090" y="1638554"/>
                  </a:cubicBezTo>
                  <a:lnTo>
                    <a:pt x="131064" y="1638554"/>
                  </a:lnTo>
                  <a:cubicBezTo>
                    <a:pt x="58674" y="1638554"/>
                    <a:pt x="0" y="1579880"/>
                    <a:pt x="0" y="1507490"/>
                  </a:cubicBezTo>
                  <a:close/>
                </a:path>
              </a:pathLst>
            </a:custGeom>
            <a:solidFill>
              <a:srgbClr val="262F42"/>
            </a:solidFill>
          </p:spPr>
        </p:sp>
      </p:grpSp>
      <p:sp>
        <p:nvSpPr>
          <p:cNvPr name="TextBox 278" id="278"/>
          <p:cNvSpPr txBox="true"/>
          <p:nvPr/>
        </p:nvSpPr>
        <p:spPr>
          <a:xfrm rot="0">
            <a:off x="6659280" y="8265414"/>
            <a:ext cx="5057251" cy="348234"/>
          </a:xfrm>
          <a:prstGeom prst="rect">
            <a:avLst/>
          </a:prstGeom>
        </p:spPr>
        <p:txBody>
          <a:bodyPr anchor="t" rtlCol="false" tIns="0" lIns="0" bIns="0" rIns="0">
            <a:spAutoFit/>
          </a:bodyPr>
          <a:lstStyle/>
          <a:p>
            <a:pPr algn="l">
              <a:lnSpc>
                <a:spcPts val="2088"/>
              </a:lnSpc>
            </a:pPr>
            <a:r>
              <a:rPr lang="en-US" sz="1739" b="true">
                <a:solidFill>
                  <a:srgbClr val="F08A5D"/>
                </a:solidFill>
                <a:latin typeface="Arial Bold"/>
                <a:ea typeface="Arial Bold"/>
                <a:cs typeface="Arial Bold"/>
                <a:sym typeface="Arial Bold"/>
              </a:rPr>
              <a:t>02  </a:t>
            </a:r>
            <a:r>
              <a:rPr lang="en-US" sz="1739" b="true">
                <a:solidFill>
                  <a:srgbClr val="F3F1EA"/>
                </a:solidFill>
                <a:latin typeface="Arial Bold"/>
                <a:ea typeface="Arial Bold"/>
                <a:cs typeface="Arial Bold"/>
                <a:sym typeface="Arial Bold"/>
              </a:rPr>
              <a:t>Later family formation</a:t>
            </a:r>
          </a:p>
        </p:txBody>
      </p:sp>
      <p:sp>
        <p:nvSpPr>
          <p:cNvPr name="TextBox 279" id="279"/>
          <p:cNvSpPr txBox="true"/>
          <p:nvPr/>
        </p:nvSpPr>
        <p:spPr>
          <a:xfrm rot="0">
            <a:off x="6659280" y="8682380"/>
            <a:ext cx="5002387" cy="476250"/>
          </a:xfrm>
          <a:prstGeom prst="rect">
            <a:avLst/>
          </a:prstGeom>
        </p:spPr>
        <p:txBody>
          <a:bodyPr anchor="t" rtlCol="false" tIns="0" lIns="0" bIns="0" rIns="0">
            <a:spAutoFit/>
          </a:bodyPr>
          <a:lstStyle/>
          <a:p>
            <a:pPr algn="l">
              <a:lnSpc>
                <a:spcPts val="1800"/>
              </a:lnSpc>
            </a:pPr>
            <a:r>
              <a:rPr lang="en-US" sz="1500">
                <a:solidFill>
                  <a:srgbClr val="C4C8D2"/>
                </a:solidFill>
                <a:latin typeface="Arial"/>
                <a:ea typeface="Arial"/>
                <a:cs typeface="Arial"/>
                <a:sym typeface="Arial"/>
              </a:rPr>
              <a:t>Lat</a:t>
            </a:r>
            <a:r>
              <a:rPr lang="en-US" sz="1500">
                <a:solidFill>
                  <a:srgbClr val="C4C8D2"/>
                </a:solidFill>
                <a:latin typeface="Arial"/>
                <a:ea typeface="Arial"/>
                <a:cs typeface="Arial"/>
                <a:sym typeface="Arial"/>
              </a:rPr>
              <a:t>er marriage and later first birth are associated with lower TFR</a:t>
            </a:r>
          </a:p>
        </p:txBody>
      </p:sp>
      <p:grpSp>
        <p:nvGrpSpPr>
          <p:cNvPr name="Group 280" id="280"/>
          <p:cNvGrpSpPr/>
          <p:nvPr/>
        </p:nvGrpSpPr>
        <p:grpSpPr>
          <a:xfrm rot="0">
            <a:off x="12111561" y="8097926"/>
            <a:ext cx="5496163" cy="1228954"/>
            <a:chOff x="0" y="0"/>
            <a:chExt cx="7328218" cy="1638605"/>
          </a:xfrm>
        </p:grpSpPr>
        <p:sp>
          <p:nvSpPr>
            <p:cNvPr name="Freeform 281" id="281"/>
            <p:cNvSpPr/>
            <p:nvPr/>
          </p:nvSpPr>
          <p:spPr>
            <a:xfrm flipH="false" flipV="false" rot="0">
              <a:off x="0" y="0"/>
              <a:ext cx="7328154" cy="1638554"/>
            </a:xfrm>
            <a:custGeom>
              <a:avLst/>
              <a:gdLst/>
              <a:ahLst/>
              <a:cxnLst/>
              <a:rect r="r" b="b" t="t" l="l"/>
              <a:pathLst>
                <a:path h="1638554" w="7328154">
                  <a:moveTo>
                    <a:pt x="0" y="131064"/>
                  </a:moveTo>
                  <a:cubicBezTo>
                    <a:pt x="0" y="58674"/>
                    <a:pt x="58674" y="0"/>
                    <a:pt x="131064" y="0"/>
                  </a:cubicBezTo>
                  <a:lnTo>
                    <a:pt x="7197090" y="0"/>
                  </a:lnTo>
                  <a:cubicBezTo>
                    <a:pt x="7269480" y="0"/>
                    <a:pt x="7328154" y="58674"/>
                    <a:pt x="7328154" y="131064"/>
                  </a:cubicBezTo>
                  <a:lnTo>
                    <a:pt x="7328154" y="1507490"/>
                  </a:lnTo>
                  <a:cubicBezTo>
                    <a:pt x="7328154" y="1579880"/>
                    <a:pt x="7269480" y="1638554"/>
                    <a:pt x="7197090" y="1638554"/>
                  </a:cubicBezTo>
                  <a:lnTo>
                    <a:pt x="131064" y="1638554"/>
                  </a:lnTo>
                  <a:cubicBezTo>
                    <a:pt x="58674" y="1638554"/>
                    <a:pt x="0" y="1579880"/>
                    <a:pt x="0" y="1507490"/>
                  </a:cubicBezTo>
                  <a:close/>
                </a:path>
              </a:pathLst>
            </a:custGeom>
            <a:solidFill>
              <a:srgbClr val="262F42"/>
            </a:solidFill>
          </p:spPr>
        </p:sp>
      </p:grpSp>
      <p:sp>
        <p:nvSpPr>
          <p:cNvPr name="TextBox 282" id="282"/>
          <p:cNvSpPr txBox="true"/>
          <p:nvPr/>
        </p:nvSpPr>
        <p:spPr>
          <a:xfrm rot="0">
            <a:off x="12374909" y="8265414"/>
            <a:ext cx="5057251" cy="348234"/>
          </a:xfrm>
          <a:prstGeom prst="rect">
            <a:avLst/>
          </a:prstGeom>
        </p:spPr>
        <p:txBody>
          <a:bodyPr anchor="t" rtlCol="false" tIns="0" lIns="0" bIns="0" rIns="0">
            <a:spAutoFit/>
          </a:bodyPr>
          <a:lstStyle/>
          <a:p>
            <a:pPr algn="l">
              <a:lnSpc>
                <a:spcPts val="2088"/>
              </a:lnSpc>
            </a:pPr>
            <a:r>
              <a:rPr lang="en-US" sz="1739" b="true">
                <a:solidFill>
                  <a:srgbClr val="F08A5D"/>
                </a:solidFill>
                <a:latin typeface="Arial Bold"/>
                <a:ea typeface="Arial Bold"/>
                <a:cs typeface="Arial Bold"/>
                <a:sym typeface="Arial Bold"/>
              </a:rPr>
              <a:t>03  </a:t>
            </a:r>
            <a:r>
              <a:rPr lang="en-US" sz="1739" b="true">
                <a:solidFill>
                  <a:srgbClr val="F3F1EA"/>
                </a:solidFill>
                <a:latin typeface="Arial Bold"/>
                <a:ea typeface="Arial Bold"/>
                <a:cs typeface="Arial Bold"/>
                <a:sym typeface="Arial Bold"/>
              </a:rPr>
              <a:t>Higher, more equal income</a:t>
            </a:r>
          </a:p>
        </p:txBody>
      </p:sp>
      <p:sp>
        <p:nvSpPr>
          <p:cNvPr name="TextBox 283" id="283"/>
          <p:cNvSpPr txBox="true"/>
          <p:nvPr/>
        </p:nvSpPr>
        <p:spPr>
          <a:xfrm rot="0">
            <a:off x="12374909" y="8682380"/>
            <a:ext cx="5002387" cy="247650"/>
          </a:xfrm>
          <a:prstGeom prst="rect">
            <a:avLst/>
          </a:prstGeom>
        </p:spPr>
        <p:txBody>
          <a:bodyPr anchor="t" rtlCol="false" tIns="0" lIns="0" bIns="0" rIns="0">
            <a:spAutoFit/>
          </a:bodyPr>
          <a:lstStyle/>
          <a:p>
            <a:pPr algn="l">
              <a:lnSpc>
                <a:spcPts val="1800"/>
              </a:lnSpc>
            </a:pPr>
            <a:r>
              <a:rPr lang="en-US" sz="1500">
                <a:solidFill>
                  <a:srgbClr val="C4C8D2"/>
                </a:solidFill>
                <a:latin typeface="Arial"/>
                <a:ea typeface="Arial"/>
                <a:cs typeface="Arial"/>
                <a:sym typeface="Arial"/>
              </a:rPr>
              <a:t>Only inequality demonstrate strong correlaition on TFR </a:t>
            </a:r>
          </a:p>
        </p:txBody>
      </p:sp>
      <p:sp>
        <p:nvSpPr>
          <p:cNvPr name="TextBox 284" id="284"/>
          <p:cNvSpPr txBox="true"/>
          <p:nvPr/>
        </p:nvSpPr>
        <p:spPr>
          <a:xfrm rot="0">
            <a:off x="680314" y="9938766"/>
            <a:ext cx="16927411" cy="238506"/>
          </a:xfrm>
          <a:prstGeom prst="rect">
            <a:avLst/>
          </a:prstGeom>
        </p:spPr>
        <p:txBody>
          <a:bodyPr anchor="t" rtlCol="false" tIns="0" lIns="0" bIns="0" rIns="0">
            <a:spAutoFit/>
          </a:bodyPr>
          <a:lstStyle/>
          <a:p>
            <a:pPr algn="l">
              <a:lnSpc>
                <a:spcPts val="1439"/>
              </a:lnSpc>
            </a:pPr>
            <a:r>
              <a:rPr lang="en-US" sz="1200">
                <a:solidFill>
                  <a:srgbClr val="9AA1B0"/>
                </a:solidFill>
                <a:latin typeface="Arial"/>
                <a:ea typeface="Arial"/>
                <a:cs typeface="Arial"/>
                <a:sym typeface="Arial"/>
              </a:rPr>
              <a:t>n = 16 years (government health spending n = 14). Shift index = marriage rate 30–34 ÷ 25–29. Source: SingStat via group dashboard. Correlation is not causation.</a:t>
            </a:r>
          </a:p>
        </p:txBody>
      </p:sp>
      <p:grpSp>
        <p:nvGrpSpPr>
          <p:cNvPr name="Group 285" id="285"/>
          <p:cNvGrpSpPr/>
          <p:nvPr/>
        </p:nvGrpSpPr>
        <p:grpSpPr>
          <a:xfrm rot="0">
            <a:off x="6661233" y="5694883"/>
            <a:ext cx="680314" cy="329184"/>
            <a:chOff x="0" y="0"/>
            <a:chExt cx="907085" cy="438912"/>
          </a:xfrm>
        </p:grpSpPr>
        <p:sp>
          <p:nvSpPr>
            <p:cNvPr name="Freeform 286" id="286"/>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87" id="287"/>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5FC4B0"/>
                  </a:solidFill>
                  <a:latin typeface="Arial Bold"/>
                  <a:ea typeface="Arial Bold"/>
                  <a:cs typeface="Arial Bold"/>
                  <a:sym typeface="Arial Bold"/>
                </a:rPr>
                <a:t>+0.91</a:t>
              </a:r>
            </a:p>
          </p:txBody>
        </p:sp>
      </p:grpSp>
      <p:grpSp>
        <p:nvGrpSpPr>
          <p:cNvPr name="Group 288" id="288"/>
          <p:cNvGrpSpPr/>
          <p:nvPr/>
        </p:nvGrpSpPr>
        <p:grpSpPr>
          <a:xfrm rot="0">
            <a:off x="6639668" y="6375197"/>
            <a:ext cx="680314" cy="329184"/>
            <a:chOff x="0" y="0"/>
            <a:chExt cx="907085" cy="438912"/>
          </a:xfrm>
        </p:grpSpPr>
        <p:sp>
          <p:nvSpPr>
            <p:cNvPr name="Freeform 289" id="289"/>
            <p:cNvSpPr/>
            <p:nvPr/>
          </p:nvSpPr>
          <p:spPr>
            <a:xfrm flipH="false" flipV="false" rot="0">
              <a:off x="0" y="0"/>
              <a:ext cx="907085" cy="438912"/>
            </a:xfrm>
            <a:custGeom>
              <a:avLst/>
              <a:gdLst/>
              <a:ahLst/>
              <a:cxnLst/>
              <a:rect r="r" b="b" t="t" l="l"/>
              <a:pathLst>
                <a:path h="438912" w="907085">
                  <a:moveTo>
                    <a:pt x="0" y="0"/>
                  </a:moveTo>
                  <a:lnTo>
                    <a:pt x="907085" y="0"/>
                  </a:lnTo>
                  <a:lnTo>
                    <a:pt x="907085" y="438912"/>
                  </a:lnTo>
                  <a:lnTo>
                    <a:pt x="0" y="438912"/>
                  </a:lnTo>
                  <a:close/>
                </a:path>
              </a:pathLst>
            </a:custGeom>
            <a:blipFill>
              <a:blip r:embed="rId5">
                <a:alphaModFix amt="0"/>
              </a:blip>
              <a:stretch>
                <a:fillRect l="-12082" t="0" r="-12082" b="0"/>
              </a:stretch>
            </a:blipFill>
          </p:spPr>
        </p:sp>
        <p:sp>
          <p:nvSpPr>
            <p:cNvPr name="TextBox 290" id="290"/>
            <p:cNvSpPr txBox="true"/>
            <p:nvPr/>
          </p:nvSpPr>
          <p:spPr>
            <a:xfrm>
              <a:off x="0" y="-9525"/>
              <a:ext cx="907085" cy="448437"/>
            </a:xfrm>
            <a:prstGeom prst="rect">
              <a:avLst/>
            </a:prstGeom>
          </p:spPr>
          <p:txBody>
            <a:bodyPr anchor="ctr" rtlCol="false" tIns="0" lIns="0" bIns="0" rIns="0"/>
            <a:lstStyle/>
            <a:p>
              <a:pPr algn="r">
                <a:lnSpc>
                  <a:spcPts val="1872"/>
                </a:lnSpc>
              </a:pPr>
              <a:r>
                <a:rPr lang="en-US" sz="1560" b="true">
                  <a:solidFill>
                    <a:srgbClr val="5FC4B0"/>
                  </a:solidFill>
                  <a:latin typeface="Arial Bold"/>
                  <a:ea typeface="Arial Bold"/>
                  <a:cs typeface="Arial Bold"/>
                  <a:sym typeface="Arial Bold"/>
                </a:rPr>
                <a:t>+0.89</a:t>
              </a:r>
            </a:p>
          </p:txBody>
        </p:sp>
      </p:grpSp>
      <p:grpSp>
        <p:nvGrpSpPr>
          <p:cNvPr name="Group 291" id="291"/>
          <p:cNvGrpSpPr/>
          <p:nvPr/>
        </p:nvGrpSpPr>
        <p:grpSpPr>
          <a:xfrm rot="0">
            <a:off x="5434222" y="5782666"/>
            <a:ext cx="964540" cy="175565"/>
            <a:chOff x="0" y="0"/>
            <a:chExt cx="1286053" cy="234086"/>
          </a:xfrm>
        </p:grpSpPr>
        <p:sp>
          <p:nvSpPr>
            <p:cNvPr name="Freeform 292" id="292"/>
            <p:cNvSpPr/>
            <p:nvPr/>
          </p:nvSpPr>
          <p:spPr>
            <a:xfrm flipH="false" flipV="false" rot="0">
              <a:off x="0" y="0"/>
              <a:ext cx="1286002" cy="234061"/>
            </a:xfrm>
            <a:custGeom>
              <a:avLst/>
              <a:gdLst/>
              <a:ahLst/>
              <a:cxnLst/>
              <a:rect r="r" b="b" t="t" l="l"/>
              <a:pathLst>
                <a:path h="234061" w="1286002">
                  <a:moveTo>
                    <a:pt x="0" y="0"/>
                  </a:moveTo>
                  <a:lnTo>
                    <a:pt x="1286002" y="0"/>
                  </a:lnTo>
                  <a:lnTo>
                    <a:pt x="1286002" y="234061"/>
                  </a:lnTo>
                  <a:lnTo>
                    <a:pt x="0" y="234061"/>
                  </a:lnTo>
                  <a:close/>
                </a:path>
              </a:pathLst>
            </a:custGeom>
            <a:solidFill>
              <a:srgbClr val="5FC4B0"/>
            </a:solidFill>
          </p:spPr>
        </p:sp>
      </p:grpSp>
      <p:grpSp>
        <p:nvGrpSpPr>
          <p:cNvPr name="Group 293" id="293"/>
          <p:cNvGrpSpPr/>
          <p:nvPr/>
        </p:nvGrpSpPr>
        <p:grpSpPr>
          <a:xfrm rot="0">
            <a:off x="5434222" y="6473952"/>
            <a:ext cx="964540" cy="175565"/>
            <a:chOff x="0" y="0"/>
            <a:chExt cx="1286053" cy="234086"/>
          </a:xfrm>
        </p:grpSpPr>
        <p:sp>
          <p:nvSpPr>
            <p:cNvPr name="Freeform 294" id="294"/>
            <p:cNvSpPr/>
            <p:nvPr/>
          </p:nvSpPr>
          <p:spPr>
            <a:xfrm flipH="false" flipV="false" rot="0">
              <a:off x="0" y="0"/>
              <a:ext cx="1286002" cy="234061"/>
            </a:xfrm>
            <a:custGeom>
              <a:avLst/>
              <a:gdLst/>
              <a:ahLst/>
              <a:cxnLst/>
              <a:rect r="r" b="b" t="t" l="l"/>
              <a:pathLst>
                <a:path h="234061" w="1286002">
                  <a:moveTo>
                    <a:pt x="0" y="0"/>
                  </a:moveTo>
                  <a:lnTo>
                    <a:pt x="1286002" y="0"/>
                  </a:lnTo>
                  <a:lnTo>
                    <a:pt x="1286002" y="234061"/>
                  </a:lnTo>
                  <a:lnTo>
                    <a:pt x="0" y="234061"/>
                  </a:lnTo>
                  <a:close/>
                </a:path>
              </a:pathLst>
            </a:custGeom>
            <a:solidFill>
              <a:srgbClr val="5FC4B0"/>
            </a:solidFill>
          </p:spPr>
        </p:sp>
      </p:grpSp>
    </p:spTree>
  </p:cSld>
  <p:clrMapOvr>
    <a:masterClrMapping/>
  </p:clrMapOvr>
</p:sld>
</file>

<file path=ppt/slides/slide25.xml><?xml version="1.0" encoding="utf-8"?>
<p:sld xmlns:p="http://schemas.openxmlformats.org/presentationml/2006/main" xmlns:a="http://schemas.openxmlformats.org/drawingml/2006/main">
  <p:cSld>
    <p:bg>
      <p:bgPr>
        <a:solidFill>
          <a:srgbClr val="1D2433"/>
        </a:solidFill>
      </p:bgPr>
    </p:bg>
    <p:spTree>
      <p:nvGrpSpPr>
        <p:cNvPr id="1" name=""/>
        <p:cNvGrpSpPr/>
        <p:nvPr/>
      </p:nvGrpSpPr>
      <p:grpSpPr>
        <a:xfrm>
          <a:off x="0" y="0"/>
          <a:ext cx="0" cy="0"/>
          <a:chOff x="0" y="0"/>
          <a:chExt cx="0" cy="0"/>
        </a:xfrm>
      </p:grpSpPr>
      <p:sp>
        <p:nvSpPr>
          <p:cNvPr name="TextBox 2" id="2"/>
          <p:cNvSpPr txBox="true"/>
          <p:nvPr/>
        </p:nvSpPr>
        <p:spPr>
          <a:xfrm rot="0">
            <a:off x="1177290" y="4027170"/>
            <a:ext cx="15933420" cy="1057275"/>
          </a:xfrm>
          <a:prstGeom prst="rect">
            <a:avLst/>
          </a:prstGeom>
        </p:spPr>
        <p:txBody>
          <a:bodyPr anchor="t" rtlCol="false" tIns="0" lIns="0" bIns="0" rIns="0">
            <a:spAutoFit/>
          </a:bodyPr>
          <a:lstStyle/>
          <a:p>
            <a:pPr algn="l">
              <a:lnSpc>
                <a:spcPts val="8208"/>
              </a:lnSpc>
            </a:pPr>
            <a:r>
              <a:rPr lang="en-US" sz="6840" b="true">
                <a:solidFill>
                  <a:srgbClr val="F3F1EA"/>
                </a:solidFill>
                <a:latin typeface="Georgia Bold"/>
                <a:ea typeface="Georgia Bold"/>
                <a:cs typeface="Georgia Bold"/>
                <a:sym typeface="Georgia Bold"/>
              </a:rPr>
              <a:t>Dashboard Demo</a:t>
            </a:r>
          </a:p>
        </p:txBody>
      </p:sp>
      <p:sp>
        <p:nvSpPr>
          <p:cNvPr name="TextBox 3" id="3"/>
          <p:cNvSpPr txBox="true"/>
          <p:nvPr/>
        </p:nvSpPr>
        <p:spPr>
          <a:xfrm rot="0">
            <a:off x="1234440" y="9056370"/>
            <a:ext cx="15590520" cy="304800"/>
          </a:xfrm>
          <a:prstGeom prst="rect">
            <a:avLst/>
          </a:prstGeom>
        </p:spPr>
        <p:txBody>
          <a:bodyPr anchor="t" rtlCol="false" tIns="0" lIns="0" bIns="0" rIns="0">
            <a:spAutoFit/>
          </a:bodyPr>
          <a:lstStyle/>
          <a:p>
            <a:pPr algn="l">
              <a:lnSpc>
                <a:spcPts val="2160"/>
              </a:lnSpc>
            </a:pPr>
            <a:r>
              <a:rPr lang="en-US" sz="1800">
                <a:solidFill>
                  <a:srgbClr val="9AA1B0"/>
                </a:solidFill>
                <a:latin typeface="Arial"/>
                <a:ea typeface="Arial"/>
                <a:cs typeface="Arial"/>
                <a:sym typeface="Arial"/>
              </a:rPr>
              <a:t>Presenter: Huang Yixuan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DAHYD_wACD4</dc:identifier>
  <dcterms:modified xsi:type="dcterms:W3CDTF">2011-08-01T06:04:30Z</dcterms:modified>
  <cp:revision>1</cp:revision>
  <dc:title>SB_Group8_Presentation_Deck</dc:title>
</cp:coreProperties>
</file>